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0.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9.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0.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6.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7.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8.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9.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30.xml" ContentType="application/vnd.openxmlformats-officedocument.drawingml.chart+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34b14e832e4e27" /><Relationship Type="http://schemas.openxmlformats.org/officeDocument/2006/relationships/extended-properties" Target="/docProps/app.xml" Id="R385920c7eadc4e25" /><Relationship Type="http://schemas.openxmlformats.org/officeDocument/2006/relationships/officeDocument" Target="/ppt/presentation.xml" Id="R99bde97552214948" /></Relationships>
</file>

<file path=ppt/presentation.xml><?xml version="1.0" encoding="utf-8"?>
<p:presentation xmlns:p="http://schemas.openxmlformats.org/presentationml/2006/main">
  <p:sldMasterIdLst>
    <p:sldMasterId xmlns:r="http://schemas.openxmlformats.org/officeDocument/2006/relationships" id="2147483648" r:id="Rc21dc7a167414295"/>
  </p:sldMasterIdLst>
  <p:notesMasterIdLst>
    <p:notesMasterId xmlns:r="http://schemas.openxmlformats.org/officeDocument/2006/relationships" r:id="Rcd492c383d4e40f9"/>
  </p:notesMasterIdLst>
  <p:sldIdLst>
    <p:sldId xmlns:r="http://schemas.openxmlformats.org/officeDocument/2006/relationships" id="256" r:id="Rdf5a6d5500ee4405"/>
    <p:sldId xmlns:r="http://schemas.openxmlformats.org/officeDocument/2006/relationships" id="257" r:id="R62f2cf9f3df346f3"/>
    <p:sldId xmlns:r="http://schemas.openxmlformats.org/officeDocument/2006/relationships" id="258" r:id="R69ee7a5b7dd64d68"/>
    <p:sldId xmlns:r="http://schemas.openxmlformats.org/officeDocument/2006/relationships" id="259" r:id="R53c8a21017c640f2"/>
    <p:sldId xmlns:r="http://schemas.openxmlformats.org/officeDocument/2006/relationships" id="260" r:id="Rbf20f0ab45cd42bb"/>
    <p:sldId xmlns:r="http://schemas.openxmlformats.org/officeDocument/2006/relationships" id="261" r:id="R78875f7281234890"/>
    <p:sldId xmlns:r="http://schemas.openxmlformats.org/officeDocument/2006/relationships" id="262" r:id="R2a3af044efbb4832"/>
    <p:sldId xmlns:r="http://schemas.openxmlformats.org/officeDocument/2006/relationships" id="263" r:id="R48e10da954b74863"/>
    <p:sldId xmlns:r="http://schemas.openxmlformats.org/officeDocument/2006/relationships" id="264" r:id="R8503afcd0e79447c"/>
    <p:sldId xmlns:r="http://schemas.openxmlformats.org/officeDocument/2006/relationships" id="265" r:id="Rd881186ae62b439c"/>
    <p:sldId xmlns:r="http://schemas.openxmlformats.org/officeDocument/2006/relationships" id="266" r:id="R6f82beaee6a5406d"/>
    <p:sldId xmlns:r="http://schemas.openxmlformats.org/officeDocument/2006/relationships" id="267" r:id="Re9839260ec3f4e1c"/>
    <p:sldId xmlns:r="http://schemas.openxmlformats.org/officeDocument/2006/relationships" id="268" r:id="R6bee90a400cd42da"/>
    <p:sldId xmlns:r="http://schemas.openxmlformats.org/officeDocument/2006/relationships" id="269" r:id="Rb925928f1161479f"/>
    <p:sldId xmlns:r="http://schemas.openxmlformats.org/officeDocument/2006/relationships" id="270" r:id="R39d01c164e014fa9"/>
    <p:sldId xmlns:r="http://schemas.openxmlformats.org/officeDocument/2006/relationships" id="271" r:id="Rea5692f1c5c6419e"/>
    <p:sldId xmlns:r="http://schemas.openxmlformats.org/officeDocument/2006/relationships" id="272" r:id="R5c0d73e661954e91"/>
    <p:sldId xmlns:r="http://schemas.openxmlformats.org/officeDocument/2006/relationships" id="273" r:id="Rc929314f356e41dd"/>
    <p:sldId xmlns:r="http://schemas.openxmlformats.org/officeDocument/2006/relationships" id="274" r:id="Rc629f52e349a454d"/>
    <p:sldId xmlns:r="http://schemas.openxmlformats.org/officeDocument/2006/relationships" id="275" r:id="Rfeba8bd26ca8454f"/>
    <p:sldId xmlns:r="http://schemas.openxmlformats.org/officeDocument/2006/relationships" id="276" r:id="Rb092cc8993b742bd"/>
    <p:sldId xmlns:r="http://schemas.openxmlformats.org/officeDocument/2006/relationships" id="277" r:id="Rad78bdd9a7a74a5c"/>
    <p:sldId xmlns:r="http://schemas.openxmlformats.org/officeDocument/2006/relationships" id="278" r:id="R65dc7e4f3be147e4"/>
    <p:sldId xmlns:r="http://schemas.openxmlformats.org/officeDocument/2006/relationships" id="279" r:id="R88bfeb5ecc3b43cf"/>
    <p:sldId xmlns:r="http://schemas.openxmlformats.org/officeDocument/2006/relationships" id="280" r:id="R7b307b4aa1f641c3"/>
    <p:sldId xmlns:r="http://schemas.openxmlformats.org/officeDocument/2006/relationships" id="281" r:id="Rd30d63d1be0c4614"/>
    <p:sldId xmlns:r="http://schemas.openxmlformats.org/officeDocument/2006/relationships" id="282" r:id="R5aff9f97e79342d1"/>
    <p:sldId xmlns:r="http://schemas.openxmlformats.org/officeDocument/2006/relationships" id="283" r:id="Rcb311b18298e440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33bc3b5981420b" /><Relationship Type="http://schemas.openxmlformats.org/officeDocument/2006/relationships/slideMaster" Target="/ppt/slideMasters/slideMaster1.xml" Id="Rc21dc7a167414295" /><Relationship Type="http://schemas.openxmlformats.org/officeDocument/2006/relationships/notesMaster" Target="/ppt/notesMasters/notesMaster1.xml" Id="Rcd492c383d4e40f9" /><Relationship Type="http://schemas.openxmlformats.org/officeDocument/2006/relationships/presProps" Target="/ppt/presProps.xml" Id="R38685dd47a814c0e" /><Relationship Type="http://schemas.openxmlformats.org/officeDocument/2006/relationships/tableStyles" Target="/ppt/tableStyles.xml" Id="R0b8e8a278db94d34" /><Relationship Type="http://schemas.openxmlformats.org/officeDocument/2006/relationships/slide" Target="/ppt/slides/slide1.xml" Id="Rdf5a6d5500ee4405" /><Relationship Type="http://schemas.openxmlformats.org/officeDocument/2006/relationships/slide" Target="/ppt/slides/slide2.xml" Id="R62f2cf9f3df346f3" /><Relationship Type="http://schemas.openxmlformats.org/officeDocument/2006/relationships/slide" Target="/ppt/slides/slide3.xml" Id="R69ee7a5b7dd64d68" /><Relationship Type="http://schemas.openxmlformats.org/officeDocument/2006/relationships/slide" Target="/ppt/slides/slide4.xml" Id="R53c8a21017c640f2" /><Relationship Type="http://schemas.openxmlformats.org/officeDocument/2006/relationships/slide" Target="/ppt/slides/slide5.xml" Id="Rbf20f0ab45cd42bb" /><Relationship Type="http://schemas.openxmlformats.org/officeDocument/2006/relationships/slide" Target="/ppt/slides/slide6.xml" Id="R78875f7281234890" /><Relationship Type="http://schemas.openxmlformats.org/officeDocument/2006/relationships/slide" Target="/ppt/slides/slide7.xml" Id="R2a3af044efbb4832" /><Relationship Type="http://schemas.openxmlformats.org/officeDocument/2006/relationships/slide" Target="/ppt/slides/slide8.xml" Id="R48e10da954b74863" /><Relationship Type="http://schemas.openxmlformats.org/officeDocument/2006/relationships/slide" Target="/ppt/slides/slide9.xml" Id="R8503afcd0e79447c" /><Relationship Type="http://schemas.openxmlformats.org/officeDocument/2006/relationships/slide" Target="/ppt/slides/slide10.xml" Id="Rd881186ae62b439c" /><Relationship Type="http://schemas.openxmlformats.org/officeDocument/2006/relationships/slide" Target="/ppt/slides/slide11.xml" Id="R6f82beaee6a5406d" /><Relationship Type="http://schemas.openxmlformats.org/officeDocument/2006/relationships/slide" Target="/ppt/slides/slide12.xml" Id="Re9839260ec3f4e1c" /><Relationship Type="http://schemas.openxmlformats.org/officeDocument/2006/relationships/slide" Target="/ppt/slides/slide13.xml" Id="R6bee90a400cd42da" /><Relationship Type="http://schemas.openxmlformats.org/officeDocument/2006/relationships/slide" Target="/ppt/slides/slide14.xml" Id="Rb925928f1161479f" /><Relationship Type="http://schemas.openxmlformats.org/officeDocument/2006/relationships/slide" Target="/ppt/slides/slide15.xml" Id="R39d01c164e014fa9" /><Relationship Type="http://schemas.openxmlformats.org/officeDocument/2006/relationships/slide" Target="/ppt/slides/slide16.xml" Id="Rea5692f1c5c6419e" /><Relationship Type="http://schemas.openxmlformats.org/officeDocument/2006/relationships/slide" Target="/ppt/slides/slide17.xml" Id="R5c0d73e661954e91" /><Relationship Type="http://schemas.openxmlformats.org/officeDocument/2006/relationships/slide" Target="/ppt/slides/slide18.xml" Id="Rc929314f356e41dd" /><Relationship Type="http://schemas.openxmlformats.org/officeDocument/2006/relationships/slide" Target="/ppt/slides/slide19.xml" Id="Rc629f52e349a454d" /><Relationship Type="http://schemas.openxmlformats.org/officeDocument/2006/relationships/slide" Target="/ppt/slides/slide20.xml" Id="Rfeba8bd26ca8454f" /><Relationship Type="http://schemas.openxmlformats.org/officeDocument/2006/relationships/slide" Target="/ppt/slides/slide21.xml" Id="Rb092cc8993b742bd" /><Relationship Type="http://schemas.openxmlformats.org/officeDocument/2006/relationships/slide" Target="/ppt/slides/slide22.xml" Id="Rad78bdd9a7a74a5c" /><Relationship Type="http://schemas.openxmlformats.org/officeDocument/2006/relationships/slide" Target="/ppt/slides/slide23.xml" Id="R65dc7e4f3be147e4" /><Relationship Type="http://schemas.openxmlformats.org/officeDocument/2006/relationships/slide" Target="/ppt/slides/slide24.xml" Id="R88bfeb5ecc3b43cf" /><Relationship Type="http://schemas.openxmlformats.org/officeDocument/2006/relationships/slide" Target="/ppt/slides/slide25.xml" Id="R7b307b4aa1f641c3" /><Relationship Type="http://schemas.openxmlformats.org/officeDocument/2006/relationships/slide" Target="/ppt/slides/slide26.xml" Id="Rd30d63d1be0c4614" /><Relationship Type="http://schemas.openxmlformats.org/officeDocument/2006/relationships/slide" Target="/ppt/slides/slide27.xml" Id="R5aff9f97e79342d1" /><Relationship Type="http://schemas.openxmlformats.org/officeDocument/2006/relationships/slide" Target="/ppt/slides/slide28.xml" Id="Rcb311b18298e44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3d65dcea3c47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48997355e446b5" /><Relationship Type="http://schemas.openxmlformats.org/officeDocument/2006/relationships/notesMaster" Target="/ppt/notesMasters/notesMaster1.xml" Id="R14d7749808cc45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5c6c7a4358495e" /><Relationship Type="http://schemas.openxmlformats.org/officeDocument/2006/relationships/notesMaster" Target="/ppt/notesMasters/notesMaster1.xml" Id="R6d21a248bf6442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a90d0d88094d8c" /><Relationship Type="http://schemas.openxmlformats.org/officeDocument/2006/relationships/notesMaster" Target="/ppt/notesMasters/notesMaster1.xml" Id="Rf22e73169caf47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7fe3083fd54a39" /><Relationship Type="http://schemas.openxmlformats.org/officeDocument/2006/relationships/notesMaster" Target="/ppt/notesMasters/notesMaster1.xml" Id="Rf575bbf2a13845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3fa5702f414f78" /><Relationship Type="http://schemas.openxmlformats.org/officeDocument/2006/relationships/notesMaster" Target="/ppt/notesMasters/notesMaster1.xml" Id="Rb80781be85b54c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f0c62939944db7" /><Relationship Type="http://schemas.openxmlformats.org/officeDocument/2006/relationships/notesMaster" Target="/ppt/notesMasters/notesMaster1.xml" Id="R46c91c942b3540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7badee754a4783" /><Relationship Type="http://schemas.openxmlformats.org/officeDocument/2006/relationships/notesMaster" Target="/ppt/notesMasters/notesMaster1.xml" Id="R781983a73bd445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ffa07ce8e64482" /><Relationship Type="http://schemas.openxmlformats.org/officeDocument/2006/relationships/notesMaster" Target="/ppt/notesMasters/notesMaster1.xml" Id="R1e57b9d6927240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4fd2fe2ff741e7" /><Relationship Type="http://schemas.openxmlformats.org/officeDocument/2006/relationships/notesMaster" Target="/ppt/notesMasters/notesMaster1.xml" Id="R2c714dab31f84c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18f0c5b90640e3" /><Relationship Type="http://schemas.openxmlformats.org/officeDocument/2006/relationships/notesMaster" Target="/ppt/notesMasters/notesMaster1.xml" Id="Rd18a549465c746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b392c0716f46c1" /><Relationship Type="http://schemas.openxmlformats.org/officeDocument/2006/relationships/notesMaster" Target="/ppt/notesMasters/notesMaster1.xml" Id="Rc9d9c70c33aa48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92bfc6548b4d05" /><Relationship Type="http://schemas.openxmlformats.org/officeDocument/2006/relationships/notesMaster" Target="/ppt/notesMasters/notesMaster1.xml" Id="R70fa196e1a684e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193ea272bd4c23" /><Relationship Type="http://schemas.openxmlformats.org/officeDocument/2006/relationships/notesMaster" Target="/ppt/notesMasters/notesMaster1.xml" Id="R34919dfd23c348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74714c8539437d" /><Relationship Type="http://schemas.openxmlformats.org/officeDocument/2006/relationships/notesMaster" Target="/ppt/notesMasters/notesMaster1.xml" Id="R651f1a18281e45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f4c59b283748ea" /><Relationship Type="http://schemas.openxmlformats.org/officeDocument/2006/relationships/notesMaster" Target="/ppt/notesMasters/notesMaster1.xml" Id="R5be596fcf33840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ccd2772600415d" /><Relationship Type="http://schemas.openxmlformats.org/officeDocument/2006/relationships/notesMaster" Target="/ppt/notesMasters/notesMaster1.xml" Id="Re6a86c65546444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2b609ff7cc7427c" /><Relationship Type="http://schemas.openxmlformats.org/officeDocument/2006/relationships/notesMaster" Target="/ppt/notesMasters/notesMaster1.xml" Id="R80a347fcecd841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d4c1f4aa084c76" /><Relationship Type="http://schemas.openxmlformats.org/officeDocument/2006/relationships/notesMaster" Target="/ppt/notesMasters/notesMaster1.xml" Id="R14d4a8a965ca4be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53c063ad114f6e" /><Relationship Type="http://schemas.openxmlformats.org/officeDocument/2006/relationships/notesMaster" Target="/ppt/notesMasters/notesMaster1.xml" Id="R38d8460d75c640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51b10f24464443" /><Relationship Type="http://schemas.openxmlformats.org/officeDocument/2006/relationships/notesMaster" Target="/ppt/notesMasters/notesMaster1.xml" Id="R7fa9f857ea4e49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4632f817624878" /><Relationship Type="http://schemas.openxmlformats.org/officeDocument/2006/relationships/notesMaster" Target="/ppt/notesMasters/notesMaster1.xml" Id="Rebd3612252bf4e5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f818427c0b4dad" /><Relationship Type="http://schemas.openxmlformats.org/officeDocument/2006/relationships/notesMaster" Target="/ppt/notesMasters/notesMaster1.xml" Id="R436e9a7b2b754ed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97ef984ef0459f" /><Relationship Type="http://schemas.openxmlformats.org/officeDocument/2006/relationships/notesMaster" Target="/ppt/notesMasters/notesMaster1.xml" Id="R7e95b38aa7f944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e4c447634c24a76" /><Relationship Type="http://schemas.openxmlformats.org/officeDocument/2006/relationships/notesMaster" Target="/ppt/notesMasters/notesMaster1.xml" Id="R4e81b22ebfc548a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f6ad34982fc4dae" /><Relationship Type="http://schemas.openxmlformats.org/officeDocument/2006/relationships/notesMaster" Target="/ppt/notesMasters/notesMaster1.xml" Id="R3495e420dd18421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290c2a4f9af4518" /><Relationship Type="http://schemas.openxmlformats.org/officeDocument/2006/relationships/notesMaster" Target="/ppt/notesMasters/notesMaster1.xml" Id="R554d8ba0e1d048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9bb514fe9644991" /><Relationship Type="http://schemas.openxmlformats.org/officeDocument/2006/relationships/notesMaster" Target="/ppt/notesMasters/notesMaster1.xml" Id="Rb1a4c0479d5a44b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59ec01199bc4467" /><Relationship Type="http://schemas.openxmlformats.org/officeDocument/2006/relationships/notesMaster" Target="/ppt/notesMasters/notesMaster1.xml" Id="R4fbcb3807fd44b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Investment thesis: rising EV content, Indian 2W/3W traction motors and differential assemblies drive forecast revenue. Margins remain below historical levels. The model assigns INR 660/share to the core and INR 189.75/share to the 49%-owned 4W Denso JV. This is a model valuation, not a newly approved published rating or live price target. Revenue CAGR FY26–30E = (Annual!R67/N67)^(1/4)-1. EPS CAGR FY27–30E = (R126/O126)^(1/3)-1.</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Sources: https://sonacomstar.com/files/documents/investor-presentation-on-q4fy26-earnings-call-document-qlS1bG.pdf, printed p.4, p.6, p.29. https://sonacomstar.com/files/documents/investor-presentation-q1-financial-results-document-ZXfaAX.pdf, printed p.13, p.16, p.34. BEV mix is a share of automotive product revenue, not consolidated revenue. Q1 FY26 BEV revenue was INR 2,106mn and Q1 FY27 INR 4,355mn. User will supply an updated regional EV chart. No replacement regional-growth estimates have been invented. Product progression and customer opportunities are based on supplied IR notes.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Sources: https://sonacomstar.com/files/documents/investor-presentation-on-q4fy26-earnings-call-document-qlS1bG.pdf, printed pp.8–9, p.31. https://sonacomstar.com/files/documents/investor-presentation-q1-financial-results-document-ZXfaAX.pdf, printed p.16 and p.35. Totals include BEV and PHEV programs. At Q1 FY27 there were 69 programs across 36 customers. Lifecycle chart uses FY23–26 from supplied Charts 2.0!K66:N68 and latest Q1 FY27 from company. Regional chart: North America 9 mature/13 future, Europe 3/4, Asia 3/3, India 5/29. All figures are program counts, not equal-weight revenue. Program geography counts sum to 69.</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All segment figures come from the Annual product schedule. Differential assemblies and traction motors together contribute c.55% of the absolute FY26–30E product-schedule increase. Product schedules include a small other/electronics reconciliation difference against consolidated revenue. Consolidated revenue is taken only from row 67. Segment CAGR is calculated from rows 36, 46 and 52. No separate humanoid revenue estimate is added.</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Model source: Annual!N36:R41. IR notes name M&amp;M BEV localization through Valeo, JLR EV programs and Ford’s mass-market EV program, with FY28 mentioned for Ford. Exact timing is indicative and not a public SOP commitment. The notes refer to content increasing from about INR 0.0033–0.0066m on selected programs. This is a program example, not a portfolio ASP. Company global differential-gear share is 8.7% in CY25 (https://sonacomstar.com/files/documents/investor-presentation-q1-financial-results-document-ZXfaAX.pdf, printed p.36), while the model uses a different addressable-market definition. Do not confuse model-market share with company-disclosed share. Image: https://sonacomstar.com/files/documents/investor-presentation-q1-financial-results-document-ZXfaAX.pdf, printed p.37.</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Annual!N46:R47. CAGR = (18211.836/4854.406)^(1/4)-1 = c.39.2%. User IR notes: TVS is the largest traction-motor customer, M&amp;M electric 3W demand is strong, TVS e-3W program is ramping, and Royal Enfield Flying Flea uses an integrated motor-controller. User management notes cite TVS iQube integration. Indicative motor-only content INR12–14k versus c.INR18k integrated, and incremental INR4k for 3W controllers. These are selected-platform examples, not disclosed company-wide ASPs. Growth includes the existing business that Sona will transfer to a 51%-owned JV, not a second incremental business. Image from https://sonacomstar.com/files/documents/investor-presentation-q1-financial-results-document-ZXfaAX.pdf, printed p.39.</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Annual!N48:R49. User notes identify Nio premium vehicles as the lead customer application. Public Q1 FY27 call calls suspension motors the fastest-growing product and China the fastest-growing geography. https://sonacomstar.com/files/documents/earning-call-transcript-for-q1-financial-results-document-EtmXYW.pdf, printed pp.9–10 and p.23. Public materials do not substantiate the user note of one motor per car or the stated system price comparison. Those figures are deliberately excluded. The suspension business remains outside both Denso JV transactions, as management explicitly states on printed p.5. Product visual from https://sonacomstar.com/files/documents/investor-presentation-q1-financial-results-document-ZXfaAX.pdf, printed p.24.</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Annual!N52:R53: INR 6.2bn FY26, INR 8.7bn FY27E, INR 10bn FY28E, INR 10.7bn FY29E, INR 11.5bn FY30E. Model FY26 revenue is an allocated segment estimate, not a separately verified segment filing. Product portfolio from https://sonacomstar.com/railway-business: brakes, couplers, suspension, HVAC, plug doors, electrical panels and vacuum evacuation. IR notes describe increasing AMC outsourcing, including product and labour, as potentially margin supportive. No quantified margin uplift is assumed. https://sonacomstar.com/files/documents/investor-presentation-q1-financial-results-document-ZXfaAX.pdf, printed p.20: railway order book INR12bn, largely executable in 12 months. It is not directly comparable with automotive lifetime program value.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Annual!L96:R96 model margins: FY24 28.3%, FY25 27.3%, FY26 24.3%, FY27E23.9%, FY28E24.5%, FY29E24.9%, FY30E25.0%. Latest company Q1FY27 margin 23.1% includes FX presentation effects and should not be blended with annual model values. Model EPS FY27E13.743, FY30E24.478 =21.2% CAGR. Q1 FY27 call attributes pressure to material inflation, lagged recovery and rising share of low-margin traction motors. Margin sensitivity: 100bp x FY28E revenue = INR694.999mn EBITDA. After25% tax /621.847mn shares =INR0.838/share EPS. Depreciation, funding, minority share and other income held constant. https://sonacomstar.com/files/documents/earning-call-transcript-for-q1-financial-results-document-EtmXYW.pdf, printed pp.9–11.</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p.10 and p.20. Company disclosed three new wins worth INR6bn and total Robotics &amp; Physical AI order book INR8bn. Scope includes advanced robotic subsystem, radar perception stack for a farm AMR and short-range radar for an Indian CV OEM. This is not a humanoid-only order book, nor annual revenue. Four programs/four customers appear in the order-book disclosure. https://sonacomstar.com/files/documents/earning-call-transcript-for-q1-financial-results-document-EtmXYW.pdf, printed pp.7–8 and pp.22–24: most orders expected to begin production within12–15months of July2026, with uncertain product lifecycles. Model Annual!N50:R50 contains sensors/software, but no separate explicit humanoid revenue line. Image from printed p.10. No standalone incremental robotics valuation is added to the model.</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https://sonacomstar.com/files/documents/press-release-sona-comstar-partners-with-denso-corporation-japan-document-r1oK7O.pdf, pp.2–3. 2W/3W JV: Sona51%, Denso49%, Sona control; existing traction motor and controller business transfers to a subsidiary, Denso acquires49% at TEV INR17.5bn.4W/4+ JV: Denso51%, Sona49%, Denso control; high-voltage liquid-cooled inverters, motors and generators for EV and hybrid applications. IP royalty paid to majority owner in respective JV. Accounting is an analyst inference from control: existing business remains consolidated with NCI, while 4WJV is an associate/JV equity-accounted absent other contractual rights. The model currently has zero forecast minority profit and no separate JV profit row; earnings forecasts are therefore before full transaction pro-forma effects. Do not add the existing2W/3W revenue a second time. FY28 operational expectation appears only in private IR notes, not public guidance. Suspension motors stay outside the transaction. This page deliberately avoids a firm SOP date.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Core DCF WACC11%, terminal growth5%, rounded core value660. 4W Denso valuation189.75/share is a discounted FY35E terminal enterprise value attributable49%, not a full equity DCF. It excludes interim JV FCF (calculated but not summed in source model), future net debt, funding, royalties and taxes/capital needs beyond simplified EBITDA/FCF assumptions. India FY35E motor TAM$3947.7mn, JVshare50%, India margin15%, export revenue83%of India at18%margin, EBITDA$590.97mn, multiple10x, discount factor0.43349, USDINR94,621.847mn shares. No live current price or upside percentage is shown because the model price662 is stale (cover dated23Jul2026). Core terminal value represents71.7%of core EV. Main risks: launch delays, mix, JV execution, competition and terminal assumptions. Appendix reference map: A01Q1 scorecard,A02mix,A03programs,A04content/competition,A05financials,A06cash,A07core DCF,A08JVbuild,A09sensitivity,A10rail,A11Novelic,A12robotics,A13risks,A14definitions.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p.13 and p.26; https://sonacomstar.com/investor/board-meetings. Company presentation revenue includes net FX gains. Q1FY26 revenue8509mn, EBITDA2025mn,BEV2106mn, PAT1247mn includingNCI. Q1FY27 revenue13104mn, EBITDA3026mn,BEV4355mn,PAT1805mn includingNCI. Parent-attributable reported profit1785mn differs from PAT includingNCI1805mn. Avoid mixing definitions. Q2FY27 board meeting scheduled26Oct2026, after deck cutoff.</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FY26 geography from Charts2.0!M27:M31 and Q1FY27 from https://sonacomstar.com/files/documents/investor-presentation-q1-financial-results-document-ZXfaAX.pdf, printed p.22. Q1India50%,NorthAmerica26%,Europe15%,Asia9%. FY26India51%,NorthAmerica27%,Europe17%,Asia5%. No definitive current customer concentration percentage is available in user notes; TVS described as largest EV customer. FY26 segment mix from modelCharts2.0!M131:M135:PV49%,CV9%,Nonauto31%,E2W/E3W10%,semis1%. Public geography is the company's reporting geography, not necessarily final retail destination.</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Named program mappings are private-call notes and not independently verified public contracts. Timing in those notes is relative and sometimes conflicts: Ford is described asFY28inIRandQ2onwards inmanagementnotes. No exact SOP is asserted. TVS3WfullsalesQ4onwards is undated, so only ramp-up is shown. RoyalEnfieldFlyingFlea description is integratedmotorcontroller, not guaranteed unit volume. New public Q1programs:NorthAmericanhybridDAINR6.4bn,SOPH2FY29;twohubwheelmotorprogramsINR0.9bn;nonEVPVgearsINR2.1bn,SOPH2FY28;CV/OHVgearsINR0.4bn,SOPH1FY28. https://sonacomstar.com/files/documents/investor-presentation-q1-financial-results-document-ZXfaAX.pdf, printed pp.17–20.</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p.36: global differentialgearshareCY25=8.7%;IndiagearsharesPV55–60%,CV80–90%,tractor75–85% based on CRISILFeb2021. These Indian estimates are dated, not currentmarketshare. Usernotesclaim60%PV,90%CVtractors and10–15%NorthAmerica with uncertaindenominators. Only disclosed definitions are shown. IRcontentexamplesselectedFordprogramUS$35toUS$60–70;2WmotorINR12–14ktoINR18k;3WincrementalcontrollerINR4k. Do not compare across currencies. Competitionlistedbelowislandscape,notexclusive sourcing: Bosch,TataAutoComp,UnoMinda/Inovance,HyundaiMobis,Aisin/BlueNexus,MusashiandOEMin-house production. ExactOEMsupplierrelationshipsfromIRareunverifiedandnotasserted.</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Figures in INR billion except EPS. Forecasts read directly from saved source model. FY26 net income and EPS follow model adjustedPATrow122 and sharecountrow125; they do not match company adjustedPAT definition. Annualrow121 uses unadjustedFY26PAT and therefore differs from displayed adjustedEPSgrowth. Growth in this table is calculated consistently from row126. Model does not yet include profitattributabletoDenso49%inexisting2W3WJV or separatelyequityaccountedprofit from4WJV. Forecasts should be interpreted before full JV proforma effects.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CFO and cashFCF from SummaryFinancialsG21:I23 forFY26–28;FY29–30 use Annual operatingcashflow less capex. FCF shown as CFO–capex, not DCF FCFF. Source FY26 cashFCF is INR1799.7mn, whereas DCFFY26FCFF is -INR1682.07mn because of tax/WC methodology differences. Forecast FY27NWCdaysfall from117.96to87.06, subsequently85.76FY30. CapexFY27–30 fromDCF H13:K13. ModelROE uses equityincludingNCIanddiffersfromcompanytangibleROE. No single universal ROE definition is implied. CoreDCF netcashincludes otherfinancialassets; this requires recoverability assessment, not simply unrestricted cash.</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CoreDCFenterprisevalueINR389977.54mn;PVexplicitFCFFINR110238.16mn;PVterminalINR279739.38mn=71.73%. NetfundsINR17615.89mn;equityINR407593.43mn;shares621.847mn;unroundedvalue655.46;rounded660. WACC11%,g5%. ModelFY27DF0, FY28DF0.9, subsequentdiscountby1.11. Valuationeffectively startsFY28,notallFY26–37despitelabel. DCF uses forecast taxes on PBT (not straightforward unleveredEBITtax) and sourcecapitalmethodology. Presentedfaithfully,not re-underwritten. FuturegrowthFY31–37ranges15–18%, terminalmargin25%. Netfundsinclude cash,investments,bankbalancesandotherfinancialassets. Sourcehistoric#REFcellsC8,C17,C19arenotusedintheforwardvaluation. Existing2WJVcashandminorityeffectsrequireproforma reconciliation.</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IndiaEVOpportunityFY35E:X5PV8.431mn,X7penetration38%,X8BEV3.204mn,X16motors3.684mn(singlemotor85%,dualmotor15%),X18motorsize131.95kW,X19priceUS$8.12/kW,X20ASPUS$1071.47,X22TAMUS$3947.69mn,X23share50%,X24IndiarevUS$1973.84mn,X25exportsUS$1638.29mn=83%ofIndia,X27IndiaEBITDAUS$296.08mn@15%,X28exportEBITDAUS$294.89mn@18%,X30total590.97mn. FY29firstforecastrevenueUS$108.25mn;nofirmpublicSOP. MarketcalcBEVonly,excludeshybridsandCVevenifJVscopeincludesboth. Model assumes ownpricingtechandsupplyshare,notcompanyguidance.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Sensitivity holds FY35TAMUS$3947.6885mn,IndiaEBITDAmargin15%,exportmargin18%,terminalEVEBITDA10x,DF0.43349257,Sona49%,FX94,shares621.847mn constant. Export revenue expressed as share of India revenue. Formula attributableEV/share=TAM*share*(.15+exportRatio*.18)*10*DF*.49*94/621.847. Exports0/30/60/83%andIndia share25/35/50%. Modelcorner50/83%=189.752. This is terminal enterprisevalueattributabletostake,notpostfundingequityvalue. Lower-case valuesillustrativemathematicalsensitivity,notprobability-weightedforecasts. Basecore660plusJVvariantsyieldscombined708to850. No marketprice/upsidecalculation.</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https://sonacomstar.com/railway-business. Cropped product imagery from https://sonacomstar.com/files/documents/investor-presentation-q1-financial-results-document-ZXfaAX.pdf, printed p.40. Newproductstatusdiffersbyplatformandapproval;donotassumeentireportfoliocontributesmaterialrevenuetoday. PrivateIRnotesdescribeAMCcontractscombiningproductandlabouraspotentiallymarginaccretive,butnospecificshareormarginquantified. INR12bnrailwayorderbooklargely12monthspurchaseordersvsauto10yearlifetimeprograms. RevenueFY26–30fromAnnualN52:R52. RailriskincludesIndianRailwaycapex/tenderconcentration,productqualification,executionandreceivablecycles.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https://sonacomstar.com/files/documents/investor-presentation-on-acquisition-of-novelic-document-Wnkycf.pdf, Jan2023acquisitionpresentation:54%ownership announced;mmWaveradartechnology,in-cabinsensingandsoftwarecapabilities. https://cdn.euroncap.com/cars/assets/sd_102_cpd_evaluation_v20_3848e8fe35.pdf, Version2.0July2025:directsensingCPDevaluationpermitssensortypesincludingradar,cameraandWi-Fi. ProtocolsupportsdemandforsensingbutdoesnotmandateSona technology or radar specifically. Avoidclaimthatin-cabinradarisuniversallyrequiredfor5stars. ModelAnnualN50:R50:INR889.892mnFY26toINR823.183mnFY30;nospecificroboticsstepup. Futureorderbookconversionisupsideonlyifprofitabilityandownershipsupportattributableearnings.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 https://sonacomstar.com/files/documents/investor-presentation-q1-financial-results-document-ZXfaAX.pdf, printed p.39 and p.10. Imagesarecompanyillustrations,notphotosofcommercialSona humanoidproducts. ProductsummarymarksAGV/AMRdriveunits,gearboxes,framelessmotors,short-rangeradarandzone-monitoringsensorsasunderdevelopmentwhereasterisksapply. https://sonacomstar.com/files/documents/earning-call-transcript-for-q1-financial-results-document-EtmXYW.pdf,printedpp.12–13:humanoid,AMR,cobotandquadrupedapplicationsshareunderlyingmotor/gear/sensorcapabilities. INR8bnorderbookforentireRobotics&amp;PhysicalAIvertical,notexclusivelyhumanoids. No disclosedhumanoidTAMorunitsused. Commercialconfirmationrequiresplatformqualification,SOP,repeatedordersandunit economics.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FY28EPSsensitivitycalculation:AnnualP67revenue69499.912mn,margins22%,24.5%,26%;D&amp;A3565.064mn,interest266.9535mn,otherincome1300mn,tax25%,shares621.847mn. EPS=(revenue*margin-D&amp;A-interest+otherincome)*.75/shares. NoNCI/JVprofitadjustment. Base17.48275,sensitivities15.387and18.7404. CoreDCFvaluationrisksalsoinclude terminalgrowth,discount rate,capexdeclineandNWCnormalization. Downside triggersarequalitativeanalystjudgment,nottimingguidance.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Sourcehierarchy:publicreportednumbersfromcompanyQ1FY27presentation;forecastsfromsuppliedmodel;namedcustomerlinkagesfromprivateIRnotes. (1)CompanyFY26revenue44751mnincludingFXvsmodeloperations44494.6mn;companyEBITDA11069mnvsmodel10811.66mn,largelyFXpresentationdifference. (2)CompanyFY26adjustedPAT6703mnvsmodeladjustedPAT5782.09mn;notreconciledinuserworkbook,soFY26EPSnotusedforheadlineEPSCAGR. (3)Annualproductsumrow56doesnotexactlyequaloperationsrow67;differencegrowsfrom40mnFY26to82.94mnFY30;productgrowthattributionusesrow56. (4)Automotiveorderbookisdiscountedexpectedremaininglifetimeprogramrevenue,notfirmannualsales;railPOslargely12months;roboticslifecyclesuncertain. (5)Densoexistingtractionbusinessalreadyincore;NCIandproceedseffectnotfullymodelled. (6)JVadd-on=terminalEVonly,notfullfundingequityvaluation. (7)Modelquote662stale,date23Jul2026,noliveupside. Sources:https://sonacomstar.com/files/documents/investor-presentation-q1-financial-results-document-ZXfaAX.pdf</a:t>
            </a:r>
          </a:p>
          <a:p xmlns:a="http://schemas.openxmlformats.org/drawingml/2006/main">
            <a:r>
              <a:t>https://sonacomstar.com/files/documents/earning-call-transcript-for-q1-financial-results-document-EtmXYW.pdf</a:t>
            </a:r>
          </a:p>
          <a:p xmlns:a="http://schemas.openxmlformats.org/drawingml/2006/main">
            <a:r>
              <a:t>https://sonacomstar.com/files/documents/investor-presentation-on-q4fy26-earnings-call-document-qlS1bG.pdf</a:t>
            </a:r>
          </a:p>
          <a:p xmlns:a="http://schemas.openxmlformats.org/drawingml/2006/main">
            <a:r>
              <a:t>https://sonacomstar.com/files/documents/press-release-sona-comstar-partners-with-denso-corporation-japan-document-r1oK7O.pdf</a:t>
            </a:r>
          </a:p>
          <a:p xmlns:a="http://schemas.openxmlformats.org/drawingml/2006/main">
            <a:r>
              <a:t>https://sonacomstar.com/railway-business</a:t>
            </a:r>
          </a:p>
          <a:p xmlns:a="http://schemas.openxmlformats.org/drawingml/2006/main">
            <a:r>
              <a:t>https://sonacomstar.com/files/documents/investor-presentation-on-acquisition-of-novelic-document-Wnkycf.pdf</a:t>
            </a:r>
          </a:p>
          <a:p xmlns:a="http://schemas.openxmlformats.org/drawingml/2006/main">
            <a:r>
              <a:t>https://cdn.euroncap.com/cars/assets/sd_102_cpd_evaluation_v20_3848e8fe35.pdf</a:t>
            </a:r>
          </a:p>
          <a:p xmlns:a="http://schemas.openxmlformats.org/drawingml/2006/main">
            <a:r>
              <a:t>https://sonacomstar.com/investor/board-meetings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Sensitivity holds explicit FCFF I19:R19, FY27E net funds17615.889mn and shares621.847mn constant. Discounting preserves source FY28 factor0.9 and then divides by(1+WACC)each year. PVterminal=FY37FCFF*(1+g)/(WACC-g)*FY37DF. Values are unroundedcoreequityvalue/share, excludingtheDensoadd-on. At11%WACC/5%g=655.46,whichmodelroundsto660. Sensitivity is not a revised forecast and does not adjust cash flow for alternativeeconomicconditions. DCFtax/capex/WCmethodologyretainedfromsource. ThisdoesnotresolvefutureJVminority/cashfundingissues.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 https://sonacomstar.com/files/documents/press-release-sona-comstar-partners-with-denso-corporation-japan-document-r1oK7O.pdf. This is an accounting and economics illustration, not an updated pro-forma earnings forecast. Existing2W3Wtractionbusiness51%Sona-controlled:consolidated100%revenueandEBITDAwith49%posttaxprofittakenasNCI,subjecttofinalagreements/accountingassessment. 4WJV49%Sona:equityaccountedprofitexpected,not100%ofJVrevenue. ModelAnnualP46=INR9705.453mntractionrevenue,P125=621.847mnshares. IllustrativeNCIimpactusesnetprofitmargin5/10/15%onthisline*49%/shares=EPS0.382/0.765/1.147. ActualJVperimeterincludescontrollers,generators/eaxlesandmaydifferfrommodelline. Noaddedbackroyalty,interestonproceeds,transactioncosts,ownershipdateorfundingincorporated. ItcannotbeinterpretedasfullEPSdilution. TransactionTEV17500mnnotcashproceeds;netdebt,taxandtermsmatter. SuspensionmotorsremainoutsideJV.</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11395f2ef54a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3589de1a5842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8e118f060543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1db3236d9d4e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df1677866c47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94a7ce79b542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7E6AAA-FA76-4FCF-8A9B-73F9C486233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AE1986-D911-4BCA-8260-D994EC2CE09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D013BE-ABFC-4EB5-803A-DB51DC48C0F2}"/>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9361C2-111D-4706-8C75-F421D501818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E8FFA4E-8B32-4870-A750-0AAF0CBB9CB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F88258-DA94-493C-B506-5CDD108C0A2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8EBD5C-B1F3-4F0E-A929-E4F14BE65B9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27ED82-4240-40DE-9CF5-2C594692B5AD}"/>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D31014-EBC3-4DAA-B3C2-368DEC375D4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9495E5-7724-4ECE-91CA-486C407E85BE}"/>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7e37de5d7f42df" /><Relationship Type="http://schemas.openxmlformats.org/officeDocument/2006/relationships/slideLayout" Target="/ppt/slideLayouts/slideLayout1.xml" Id="R381cd053f8f54b9c" /><Relationship Type="http://schemas.openxmlformats.org/officeDocument/2006/relationships/slideLayout" Target="/ppt/slideLayouts/slideLayout2.xml" Id="Rd1e91b26d42e4525" /><Relationship Type="http://schemas.openxmlformats.org/officeDocument/2006/relationships/slideLayout" Target="/ppt/slideLayouts/slideLayout3.xml" Id="Rbf79da7bae3f4f0d" /><Relationship Type="http://schemas.openxmlformats.org/officeDocument/2006/relationships/slideLayout" Target="/ppt/slideLayouts/slideLayout4.xml" Id="Rc84b1a33aed241fd" /><Relationship Type="http://schemas.openxmlformats.org/officeDocument/2006/relationships/slideLayout" Target="/ppt/slideLayouts/slideLayout5.xml" Id="R0228cb8ede454356" /><Relationship Type="http://schemas.openxmlformats.org/officeDocument/2006/relationships/slideLayout" Target="/ppt/slideLayouts/slideLayout6.xml" Id="Rd9299b89fd9d46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1cd053f8f54b9c"/>
    <p:sldLayoutId xmlns:r="http://schemas.openxmlformats.org/officeDocument/2006/relationships" id="2147483650" r:id="Rd1e91b26d42e4525"/>
    <p:sldLayoutId xmlns:r="http://schemas.openxmlformats.org/officeDocument/2006/relationships" id="2147483651" r:id="Rbf79da7bae3f4f0d"/>
    <p:sldLayoutId xmlns:r="http://schemas.openxmlformats.org/officeDocument/2006/relationships" id="2147483652" r:id="Rc84b1a33aed241fd"/>
    <p:sldLayoutId xmlns:r="http://schemas.openxmlformats.org/officeDocument/2006/relationships" id="2147483653" r:id="R0228cb8ede454356"/>
    <p:sldLayoutId xmlns:r="http://schemas.openxmlformats.org/officeDocument/2006/relationships" id="2147483654" r:id="Rd9299b89fd9d46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ab2cd24aa641d6" /><Relationship Type="http://schemas.openxmlformats.org/officeDocument/2006/relationships/image" Target="/ppt/media/image.png" Id="Rbc765e0c37da4a8c" /><Relationship Type="http://schemas.openxmlformats.org/officeDocument/2006/relationships/chart" Target="/ppt/slides/charts/chart1.xml" Id="R6d05a02838a44527" /><Relationship Type="http://schemas.openxmlformats.org/officeDocument/2006/relationships/notesSlide" Target="/ppt/notesSlides/notesSlide1.xml" Id="Ref8ba39afba5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53ba8a959f4381" /><Relationship Type="http://schemas.openxmlformats.org/officeDocument/2006/relationships/chart" Target="/ppt/slides/charts/chart2.xml" Id="Ra3c45c4f632d41c7" /><Relationship Type="http://schemas.openxmlformats.org/officeDocument/2006/relationships/notesSlide" Target="/ppt/notesSlides/notesSlide2.xml" Id="R6112016f62fc4b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b5f510ecf641bd" /><Relationship Type="http://schemas.openxmlformats.org/officeDocument/2006/relationships/chart" Target="/ppt/slides/charts/chart3.xml" Id="R322decadc0084018" /><Relationship Type="http://schemas.openxmlformats.org/officeDocument/2006/relationships/chart" Target="/ppt/slides/charts/chart4.xml" Id="R35380128a4b74785" /><Relationship Type="http://schemas.openxmlformats.org/officeDocument/2006/relationships/notesSlide" Target="/ppt/notesSlides/notesSlide3.xml" Id="Re820cbe9921546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62df6bbff446f6" /><Relationship Type="http://schemas.openxmlformats.org/officeDocument/2006/relationships/chart" Target="/ppt/slides/charts/chart5.xml" Id="R907da421812f45f9" /><Relationship Type="http://schemas.openxmlformats.org/officeDocument/2006/relationships/notesSlide" Target="/ppt/notesSlides/notesSlide4.xml" Id="R9fc4b14f3f5d44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276ce79cfd4712" /><Relationship Type="http://schemas.openxmlformats.org/officeDocument/2006/relationships/chart" Target="/ppt/slides/charts/chart6.xml" Id="Ra3187014efb74a38" /><Relationship Type="http://schemas.openxmlformats.org/officeDocument/2006/relationships/image" Target="/ppt/media/image2.png" Id="R5c00652b2b85464c" /><Relationship Type="http://schemas.openxmlformats.org/officeDocument/2006/relationships/notesSlide" Target="/ppt/notesSlides/notesSlide5.xml" Id="Rb44381eaffdb4d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8ae1e928a54895" /><Relationship Type="http://schemas.openxmlformats.org/officeDocument/2006/relationships/chart" Target="/ppt/slides/charts/chart7.xml" Id="R804ca6e6d05c488f" /><Relationship Type="http://schemas.openxmlformats.org/officeDocument/2006/relationships/image" Target="/ppt/media/image3.png" Id="R5308ccbb06974adf" /><Relationship Type="http://schemas.openxmlformats.org/officeDocument/2006/relationships/notesSlide" Target="/ppt/notesSlides/notesSlide6.xml" Id="Ra9cee119f7d943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c387fb0731f490b" /><Relationship Type="http://schemas.openxmlformats.org/officeDocument/2006/relationships/image" Target="/ppt/media/image4.png" Id="R8c6a40ce8a164ad6" /><Relationship Type="http://schemas.openxmlformats.org/officeDocument/2006/relationships/chart" Target="/ppt/slides/charts/chart8.xml" Id="R6f5e187a63904c74" /><Relationship Type="http://schemas.openxmlformats.org/officeDocument/2006/relationships/notesSlide" Target="/ppt/notesSlides/notesSlide7.xml" Id="R8de655b8d17a4f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246b4342bd4a02" /><Relationship Type="http://schemas.openxmlformats.org/officeDocument/2006/relationships/chart" Target="/ppt/slides/charts/chart9.xml" Id="Rf6858fa2634b40fc" /><Relationship Type="http://schemas.openxmlformats.org/officeDocument/2006/relationships/notesSlide" Target="/ppt/notesSlides/notesSlide8.xml" Id="Rc7f6bb839bdd49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9ce0ffdb614c43" /><Relationship Type="http://schemas.openxmlformats.org/officeDocument/2006/relationships/chart" Target="/ppt/slides/charts/chart10.xml" Id="Ra78f2bde14854b8b" /><Relationship Type="http://schemas.openxmlformats.org/officeDocument/2006/relationships/notesSlide" Target="/ppt/notesSlides/notesSlide9.xml" Id="R4c3a3c7372454d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780698781944b1" /><Relationship Type="http://schemas.openxmlformats.org/officeDocument/2006/relationships/chart" Target="/ppt/slides/charts/chart11.xml" Id="Rf820b696e9b2476c" /><Relationship Type="http://schemas.openxmlformats.org/officeDocument/2006/relationships/image" Target="/ppt/media/image5.png" Id="R27922a6ef88d4268" /><Relationship Type="http://schemas.openxmlformats.org/officeDocument/2006/relationships/image" Target="/ppt/media/image6.png" Id="Rbca8654d16af4452" /><Relationship Type="http://schemas.openxmlformats.org/officeDocument/2006/relationships/notesSlide" Target="/ppt/notesSlides/notesSlide10.xml" Id="R0fc6733d057d49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f12dfa92d046fe" /><Relationship Type="http://schemas.openxmlformats.org/officeDocument/2006/relationships/chart" Target="/ppt/slides/charts/chart12.xml" Id="Rd67b67ca3e304912" /><Relationship Type="http://schemas.openxmlformats.org/officeDocument/2006/relationships/notesSlide" Target="/ppt/notesSlides/notesSlide11.xml" Id="Rd4ebec30976c4e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298e665c2b4b28" /><Relationship Type="http://schemas.openxmlformats.org/officeDocument/2006/relationships/chart" Target="/ppt/slides/charts/chart13.xml" Id="R43675372966b449d" /><Relationship Type="http://schemas.openxmlformats.org/officeDocument/2006/relationships/notesSlide" Target="/ppt/notesSlides/notesSlide12.xml" Id="Ra585422dc52247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85a28b775948c2" /><Relationship Type="http://schemas.openxmlformats.org/officeDocument/2006/relationships/chart" Target="/ppt/slides/charts/chart14.xml" Id="R327056678aa64c6c" /><Relationship Type="http://schemas.openxmlformats.org/officeDocument/2006/relationships/notesSlide" Target="/ppt/notesSlides/notesSlide13.xml" Id="Rc71604a2c7ca46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03492f8bdbc4c09" /><Relationship Type="http://schemas.openxmlformats.org/officeDocument/2006/relationships/chart" Target="/ppt/slides/charts/chart15.xml" Id="Rbcd547358fcd4704" /><Relationship Type="http://schemas.openxmlformats.org/officeDocument/2006/relationships/chart" Target="/ppt/slides/charts/chart16.xml" Id="Re8b868634b7641df" /><Relationship Type="http://schemas.openxmlformats.org/officeDocument/2006/relationships/notesSlide" Target="/ppt/notesSlides/notesSlide14.xml" Id="R3cd3e92925df4f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66f9c1691b54e30" /><Relationship Type="http://schemas.openxmlformats.org/officeDocument/2006/relationships/chart" Target="/ppt/slides/charts/chart17.xml" Id="R6f6af00755f944fa" /><Relationship Type="http://schemas.openxmlformats.org/officeDocument/2006/relationships/notesSlide" Target="/ppt/notesSlides/notesSlide15.xml" Id="R11f01ccd950b4a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529359234b46fc" /><Relationship Type="http://schemas.openxmlformats.org/officeDocument/2006/relationships/chart" Target="/ppt/slides/charts/chart18.xml" Id="Rdacdb3f7f61f48be" /><Relationship Type="http://schemas.openxmlformats.org/officeDocument/2006/relationships/notesSlide" Target="/ppt/notesSlides/notesSlide16.xml" Id="R89be5caf448744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c7903b90bf047b7" /><Relationship Type="http://schemas.openxmlformats.org/officeDocument/2006/relationships/chart" Target="/ppt/slides/charts/chart19.xml" Id="Rb0dcbedf664b42af" /><Relationship Type="http://schemas.openxmlformats.org/officeDocument/2006/relationships/notesSlide" Target="/ppt/notesSlides/notesSlide17.xml" Id="R3405b8e5fe9546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aed4664359343b3" /><Relationship Type="http://schemas.openxmlformats.org/officeDocument/2006/relationships/chart" Target="/ppt/slides/charts/chart20.xml" Id="R00a5b6338e0a4ec5" /><Relationship Type="http://schemas.openxmlformats.org/officeDocument/2006/relationships/notesSlide" Target="/ppt/notesSlides/notesSlide18.xml" Id="Rcf3770b321c94d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3da86b400004837" /><Relationship Type="http://schemas.openxmlformats.org/officeDocument/2006/relationships/chart" Target="/ppt/slides/charts/chart21.xml" Id="R0a822dc7d0df49b4" /><Relationship Type="http://schemas.openxmlformats.org/officeDocument/2006/relationships/notesSlide" Target="/ppt/notesSlides/notesSlide19.xml" Id="R9358049f54784f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0c1477742c946f0" /><Relationship Type="http://schemas.openxmlformats.org/officeDocument/2006/relationships/chart" Target="/ppt/slides/charts/chart22.xml" Id="R048173e417f743bd" /><Relationship Type="http://schemas.openxmlformats.org/officeDocument/2006/relationships/notesSlide" Target="/ppt/notesSlides/notesSlide20.xml" Id="R3e3480aa8b4d4b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da64b8f6c0d4059" /><Relationship Type="http://schemas.openxmlformats.org/officeDocument/2006/relationships/chart" Target="/ppt/slides/charts/chart23.xml" Id="R3a4f9ac102dd4b18" /><Relationship Type="http://schemas.openxmlformats.org/officeDocument/2006/relationships/notesSlide" Target="/ppt/notesSlides/notesSlide21.xml" Id="R0b7a727d4503421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e141fe19e484f03" /><Relationship Type="http://schemas.openxmlformats.org/officeDocument/2006/relationships/image" Target="/ppt/media/image7.png" Id="R8dfbc7233fe64316" /><Relationship Type="http://schemas.openxmlformats.org/officeDocument/2006/relationships/chart" Target="/ppt/slides/charts/chart24.xml" Id="R0797b2ffbc49474e" /><Relationship Type="http://schemas.openxmlformats.org/officeDocument/2006/relationships/notesSlide" Target="/ppt/notesSlides/notesSlide22.xml" Id="R01f6756b61f4427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fb44831ea7c4303" /><Relationship Type="http://schemas.openxmlformats.org/officeDocument/2006/relationships/chart" Target="/ppt/slides/charts/chart25.xml" Id="Re498c6edcc5d44de" /><Relationship Type="http://schemas.openxmlformats.org/officeDocument/2006/relationships/notesSlide" Target="/ppt/notesSlides/notesSlide23.xml" Id="Rb4ecc51dcc95457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3e00915c547400a" /><Relationship Type="http://schemas.openxmlformats.org/officeDocument/2006/relationships/image" Target="/ppt/media/image8.png" Id="R633e70c7f2c9452f" /><Relationship Type="http://schemas.openxmlformats.org/officeDocument/2006/relationships/chart" Target="/ppt/slides/charts/chart26.xml" Id="Rc81f10b53a91476f" /><Relationship Type="http://schemas.openxmlformats.org/officeDocument/2006/relationships/notesSlide" Target="/ppt/notesSlides/notesSlide24.xml" Id="R7c3b70c4a0b747a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78dce2e6ea84a01" /><Relationship Type="http://schemas.openxmlformats.org/officeDocument/2006/relationships/chart" Target="/ppt/slides/charts/chart27.xml" Id="R8f579b27c18e4921" /><Relationship Type="http://schemas.openxmlformats.org/officeDocument/2006/relationships/notesSlide" Target="/ppt/notesSlides/notesSlide25.xml" Id="R02e40699e1164e3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df283ad451b4c26" /><Relationship Type="http://schemas.openxmlformats.org/officeDocument/2006/relationships/chart" Target="/ppt/slides/charts/chart28.xml" Id="Rba9afb8219874309" /><Relationship Type="http://schemas.openxmlformats.org/officeDocument/2006/relationships/notesSlide" Target="/ppt/notesSlides/notesSlide26.xml" Id="R094b584299a047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3d14d57560e42bc" /><Relationship Type="http://schemas.openxmlformats.org/officeDocument/2006/relationships/chart" Target="/ppt/slides/charts/chart29.xml" Id="R908575e705e54d28" /><Relationship Type="http://schemas.openxmlformats.org/officeDocument/2006/relationships/notesSlide" Target="/ppt/notesSlides/notesSlide27.xml" Id="R8defc3fbfb294b6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e5bd75e23304d5d" /><Relationship Type="http://schemas.openxmlformats.org/officeDocument/2006/relationships/chart" Target="/ppt/slides/charts/chart30.xml" Id="Ra028d0e5fb2449a4" /><Relationship Type="http://schemas.openxmlformats.org/officeDocument/2006/relationships/notesSlide" Target="/ppt/notesSlides/notesSlide28.xml" Id="R2542c0993e2d42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_rels/chart22.xml.rels><Relationships xmlns="http://schemas.openxmlformats.org/package/2006/relationships"><Relationship Id="rIdChartSnapshot1" Type="http://schemas.openxmlformats.org/officeDocument/2006/relationships/package" Target="../../embeddings/chart-data-snapshot-022.xlsx"/></Relationships>
</file>

<file path=ppt/slides/charts/_rels/chart23.xml.rels><Relationships xmlns="http://schemas.openxmlformats.org/package/2006/relationships"><Relationship Id="rIdChartSnapshot1" Type="http://schemas.openxmlformats.org/officeDocument/2006/relationships/package" Target="../../embeddings/chart-data-snapshot-023.xlsx"/></Relationships>
</file>

<file path=ppt/slides/charts/_rels/chart24.xml.rels><Relationships xmlns="http://schemas.openxmlformats.org/package/2006/relationships"><Relationship Id="rIdChartSnapshot1" Type="http://schemas.openxmlformats.org/officeDocument/2006/relationships/package" Target="../../embeddings/chart-data-snapshot-024.xlsx"/></Relationships>
</file>

<file path=ppt/slides/charts/_rels/chart25.xml.rels><Relationships xmlns="http://schemas.openxmlformats.org/package/2006/relationships"><Relationship Id="rIdChartSnapshot1" Type="http://schemas.openxmlformats.org/officeDocument/2006/relationships/package" Target="../../embeddings/chart-data-snapshot-025.xlsx"/></Relationships>
</file>

<file path=ppt/slides/charts/_rels/chart26.xml.rels><Relationships xmlns="http://schemas.openxmlformats.org/package/2006/relationships"><Relationship Id="rIdChartSnapshot1" Type="http://schemas.openxmlformats.org/officeDocument/2006/relationships/package" Target="../../embeddings/chart-data-snapshot-026.xlsx"/></Relationships>
</file>

<file path=ppt/slides/charts/_rels/chart27.xml.rels><Relationships xmlns="http://schemas.openxmlformats.org/package/2006/relationships"><Relationship Id="rIdChartSnapshot1" Type="http://schemas.openxmlformats.org/officeDocument/2006/relationships/package" Target="../../embeddings/chart-data-snapshot-027.xlsx"/></Relationships>
</file>

<file path=ppt/slides/charts/_rels/chart28.xml.rels><Relationships xmlns="http://schemas.openxmlformats.org/package/2006/relationships"><Relationship Id="rIdChartSnapshot1" Type="http://schemas.openxmlformats.org/officeDocument/2006/relationships/package" Target="../../embeddings/chart-data-snapshot-028.xlsx"/></Relationships>
</file>

<file path=ppt/slides/charts/_rels/chart29.xml.rels><Relationships xmlns="http://schemas.openxmlformats.org/package/2006/relationships"><Relationship Id="rIdChartSnapshot1" Type="http://schemas.openxmlformats.org/officeDocument/2006/relationships/package" Target="../../embeddings/chart-data-snapshot-029.xlsx"/></Relationships>
</file>

<file path=ppt/slides/charts/_rels/chart30.xml.rels><Relationships xmlns="http://schemas.openxmlformats.org/package/2006/relationships"><Relationship Id="rIdChartSnapshot1" Type="http://schemas.openxmlformats.org/officeDocument/2006/relationships/package" Target="../../embeddings/chart-data-snapshot-030.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Revenue outlook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Revenue</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#,##0.0</c:formatCode>
                <c:ptCount val="5"/>
                <c:pt idx="0">
                  <c:v>44.4946</c:v>
                </c:pt>
                <c:pt idx="1">
                  <c:v>57.4544406008</c:v>
                </c:pt>
                <c:pt idx="2">
                  <c:v>69.4999121739</c:v>
                </c:pt>
                <c:pt idx="3">
                  <c:v>79.9996910953</c:v>
                </c:pt>
                <c:pt idx="4">
                  <c:v>92.2591384723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100"/>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BEV share of automotive revenue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BEV mix</c:v>
          </c:tx>
          <c:spPr>
            <a:solidFill xmlns:a="http://schemas.openxmlformats.org/drawingml/2006/main">
              <a:srgbClr val="009DDA"/>
            </a:solidFill>
          </c:spPr>
          <c:invertIfNegative val="0"/>
          <c:cat>
            <c:strRef>
              <c:f>'Chart Data'!$A$2:$A$4</c:f>
              <c:strCache>
                <c:ptCount val="3"/>
                <c:pt idx="0">
                  <c:v>Q1 FY26</c:v>
                </c:pt>
                <c:pt idx="1">
                  <c:v>Q4 FY26</c:v>
                </c:pt>
                <c:pt idx="2">
                  <c:v>Q1 FY27</c:v>
                </c:pt>
              </c:strCache>
            </c:strRef>
          </c:cat>
          <c:val>
            <c:numRef>
              <c:f>'Chart Data'!$B$2:$B$4</c:f>
              <c:numCache>
                <c:formatCode>0%</c:formatCode>
                <c:ptCount val="3"/>
                <c:pt idx="0">
                  <c:v>0.28</c:v>
                </c:pt>
                <c:pt idx="1">
                  <c:v>0.39</c:v>
                </c:pt>
                <c:pt idx="2">
                  <c:v>0.44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b="1">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EV program lifecycle (number)</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Fully ramped</c:v>
          </c:tx>
          <c:spPr>
            <a:solidFill xmlns:a="http://schemas.openxmlformats.org/drawingml/2006/main">
              <a:srgbClr val="9EADB9"/>
            </a:solidFill>
          </c:spPr>
          <c:invertIfNegative val="0"/>
          <c:cat>
            <c:strRef>
              <c:f>'Chart Data'!$A$2:$A$6</c:f>
              <c:strCache>
                <c:ptCount val="5"/>
                <c:pt idx="0">
                  <c:v>FY23</c:v>
                </c:pt>
                <c:pt idx="1">
                  <c:v>FY24</c:v>
                </c:pt>
                <c:pt idx="2">
                  <c:v>FY25</c:v>
                </c:pt>
                <c:pt idx="3">
                  <c:v>FY26</c:v>
                </c:pt>
                <c:pt idx="4">
                  <c:v>Q1 FY27</c:v>
                </c:pt>
              </c:strCache>
            </c:strRef>
          </c:cat>
          <c:val>
            <c:numRef>
              <c:f>'Chart Data'!$B$2:$B$6</c:f>
              <c:numCache>
                <c:formatCode>#,##0</c:formatCode>
                <c:ptCount val="5"/>
                <c:pt idx="0">
                  <c:v>10</c:v>
                </c:pt>
                <c:pt idx="1">
                  <c:v>11</c:v>
                </c:pt>
                <c:pt idx="2">
                  <c:v>15</c:v>
                </c:pt>
                <c:pt idx="3">
                  <c:v>20</c:v>
                </c:pt>
                <c:pt idx="4">
                  <c:v>20</c:v>
                </c:pt>
              </c:numCache>
            </c:numRef>
          </c:val>
        </c:ser>
        <c:ser>
          <c:idx val="1"/>
          <c:order val="1"/>
          <c:tx>
            <c:v>In ramp-up</c:v>
          </c:tx>
          <c:spPr>
            <a:solidFill xmlns:a="http://schemas.openxmlformats.org/drawingml/2006/main">
              <a:srgbClr val="009DDA"/>
            </a:solidFill>
          </c:spPr>
          <c:invertIfNegative val="0"/>
          <c:cat>
            <c:strRef>
              <c:f>'Chart Data'!$C$2:$C$6</c:f>
              <c:strCache>
                <c:ptCount val="5"/>
                <c:pt idx="0">
                  <c:v>FY23</c:v>
                </c:pt>
                <c:pt idx="1">
                  <c:v>FY24</c:v>
                </c:pt>
                <c:pt idx="2">
                  <c:v>FY25</c:v>
                </c:pt>
                <c:pt idx="3">
                  <c:v>FY26</c:v>
                </c:pt>
                <c:pt idx="4">
                  <c:v>Q1 FY27</c:v>
                </c:pt>
              </c:strCache>
            </c:strRef>
          </c:cat>
          <c:val>
            <c:numRef>
              <c:f>'Chart Data'!$D$2:$D$6</c:f>
              <c:numCache>
                <c:formatCode>#,##0</c:formatCode>
                <c:ptCount val="5"/>
                <c:pt idx="0">
                  <c:v>10</c:v>
                </c:pt>
                <c:pt idx="1">
                  <c:v>16</c:v>
                </c:pt>
                <c:pt idx="2">
                  <c:v>16</c:v>
                </c:pt>
                <c:pt idx="3">
                  <c:v>17</c:v>
                </c:pt>
                <c:pt idx="4">
                  <c:v>20</c:v>
                </c:pt>
              </c:numCache>
            </c:numRef>
          </c:val>
        </c:ser>
        <c:ser>
          <c:idx val="2"/>
          <c:order val="2"/>
          <c:tx>
            <c:v>Pre-production</c:v>
          </c:tx>
          <c:spPr>
            <a:solidFill xmlns:a="http://schemas.openxmlformats.org/drawingml/2006/main">
              <a:srgbClr val="173C66"/>
            </a:solidFill>
          </c:spPr>
          <c:invertIfNegative val="0"/>
          <c:cat>
            <c:strRef>
              <c:f>'Chart Data'!$E$2:$E$6</c:f>
              <c:strCache>
                <c:ptCount val="5"/>
                <c:pt idx="0">
                  <c:v>FY23</c:v>
                </c:pt>
                <c:pt idx="1">
                  <c:v>FY24</c:v>
                </c:pt>
                <c:pt idx="2">
                  <c:v>FY25</c:v>
                </c:pt>
                <c:pt idx="3">
                  <c:v>FY26</c:v>
                </c:pt>
                <c:pt idx="4">
                  <c:v>Q1 FY27</c:v>
                </c:pt>
              </c:strCache>
            </c:strRef>
          </c:cat>
          <c:val>
            <c:numRef>
              <c:f>'Chart Data'!$F$2:$F$6</c:f>
              <c:numCache>
                <c:formatCode>#,##0</c:formatCode>
                <c:ptCount val="5"/>
                <c:pt idx="0">
                  <c:v>22</c:v>
                </c:pt>
                <c:pt idx="1">
                  <c:v>27</c:v>
                </c:pt>
                <c:pt idx="2">
                  <c:v>27</c:v>
                </c:pt>
                <c:pt idx="3">
                  <c:v>30</c:v>
                </c:pt>
                <c:pt idx="4">
                  <c:v>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Programs by region, Q1 FY27</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Fully ramped</c:v>
          </c:tx>
          <c:spPr>
            <a:solidFill xmlns:a="http://schemas.openxmlformats.org/drawingml/2006/main">
              <a:srgbClr val="9EADB9"/>
            </a:solidFill>
          </c:spPr>
          <c:invertIfNegative val="0"/>
          <c:cat>
            <c:strRef>
              <c:f>'Chart Data'!$A$2:$A$5</c:f>
              <c:strCache>
                <c:ptCount val="4"/>
                <c:pt idx="0">
                  <c:v>N. America</c:v>
                </c:pt>
                <c:pt idx="1">
                  <c:v>Europe</c:v>
                </c:pt>
                <c:pt idx="2">
                  <c:v>Asia</c:v>
                </c:pt>
                <c:pt idx="3">
                  <c:v>India</c:v>
                </c:pt>
              </c:strCache>
            </c:strRef>
          </c:cat>
          <c:val>
            <c:numRef>
              <c:f>'Chart Data'!$B$2:$B$5</c:f>
              <c:numCache>
                <c:formatCode>#,##0</c:formatCode>
                <c:ptCount val="4"/>
                <c:pt idx="0">
                  <c:v>9</c:v>
                </c:pt>
                <c:pt idx="1">
                  <c:v>3</c:v>
                </c:pt>
                <c:pt idx="2">
                  <c:v>3</c:v>
                </c:pt>
                <c:pt idx="3">
                  <c:v>5</c:v>
                </c:pt>
              </c:numCache>
            </c:numRef>
          </c:val>
        </c:ser>
        <c:ser>
          <c:idx val="1"/>
          <c:order val="1"/>
          <c:tx>
            <c:v>Ramp-up / pre-SOP</c:v>
          </c:tx>
          <c:spPr>
            <a:solidFill xmlns:a="http://schemas.openxmlformats.org/drawingml/2006/main">
              <a:srgbClr val="009DDA"/>
            </a:solidFill>
          </c:spPr>
          <c:invertIfNegative val="0"/>
          <c:cat>
            <c:strRef>
              <c:f>'Chart Data'!$C$2:$C$5</c:f>
              <c:strCache>
                <c:ptCount val="4"/>
                <c:pt idx="0">
                  <c:v>N. America</c:v>
                </c:pt>
                <c:pt idx="1">
                  <c:v>Europe</c:v>
                </c:pt>
                <c:pt idx="2">
                  <c:v>Asia</c:v>
                </c:pt>
                <c:pt idx="3">
                  <c:v>India</c:v>
                </c:pt>
              </c:strCache>
            </c:strRef>
          </c:cat>
          <c:val>
            <c:numRef>
              <c:f>'Chart Data'!$D$2:$D$5</c:f>
              <c:numCache>
                <c:formatCode>#,##0</c:formatCode>
                <c:ptCount val="4"/>
                <c:pt idx="0">
                  <c:v>13</c:v>
                </c:pt>
                <c:pt idx="1">
                  <c:v>4</c:v>
                </c:pt>
                <c:pt idx="2">
                  <c:v>3</c:v>
                </c:pt>
                <c:pt idx="3">
                  <c:v>29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Incremental product revenue, FY26–30E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Increase</c:v>
          </c:tx>
          <c:spPr>
            <a:solidFill xmlns:a="http://schemas.openxmlformats.org/drawingml/2006/main">
              <a:srgbClr val="009DDA"/>
            </a:solidFill>
          </c:spPr>
          <c:invertIfNegative val="0"/>
          <c:dPt>
            <c:idx val="0"/>
            <c:invertIfNegative val="0"/>
            <c:spPr>
              <a:solidFill xmlns:a="http://schemas.openxmlformats.org/drawingml/2006/main">
                <a:srgbClr val="009DDA"/>
              </a:solidFill>
            </c:spPr>
          </c:dPt>
          <c:dPt>
            <c:idx val="1"/>
            <c:invertIfNegative val="0"/>
            <c:spPr>
              <a:solidFill xmlns:a="http://schemas.openxmlformats.org/drawingml/2006/main">
                <a:srgbClr val="009DDA"/>
              </a:solidFill>
            </c:spPr>
          </c:dPt>
          <c:dPt>
            <c:idx val="2"/>
            <c:invertIfNegative val="0"/>
            <c:spPr>
              <a:solidFill xmlns:a="http://schemas.openxmlformats.org/drawingml/2006/main">
                <a:srgbClr val="9EADB9"/>
              </a:solidFill>
            </c:spPr>
          </c:dPt>
          <c:dPt>
            <c:idx val="3"/>
            <c:invertIfNegative val="0"/>
            <c:spPr>
              <a:solidFill xmlns:a="http://schemas.openxmlformats.org/drawingml/2006/main">
                <a:srgbClr val="9EADB9"/>
              </a:solidFill>
            </c:spPr>
          </c:dPt>
          <c:dPt>
            <c:idx val="4"/>
            <c:invertIfNegative val="0"/>
            <c:spPr>
              <a:solidFill xmlns:a="http://schemas.openxmlformats.org/drawingml/2006/main">
                <a:srgbClr val="9EADB9"/>
              </a:solidFill>
            </c:spPr>
          </c:dPt>
          <c:dPt>
            <c:idx val="5"/>
            <c:invertIfNegative val="0"/>
            <c:spPr>
              <a:solidFill xmlns:a="http://schemas.openxmlformats.org/drawingml/2006/main">
                <a:srgbClr val="9EADB9"/>
              </a:solidFill>
            </c:spPr>
          </c:dPt>
          <c:dPt>
            <c:idx val="6"/>
            <c:invertIfNegative val="0"/>
            <c:spPr>
              <a:solidFill xmlns:a="http://schemas.openxmlformats.org/drawingml/2006/main">
                <a:srgbClr val="9EADB9"/>
              </a:solidFill>
            </c:spPr>
          </c:dPt>
          <c:dPt>
            <c:idx val="7"/>
            <c:invertIfNegative val="0"/>
            <c:spPr>
              <a:solidFill xmlns:a="http://schemas.openxmlformats.org/drawingml/2006/main">
                <a:srgbClr val="B54F54"/>
              </a:solidFill>
            </c:spPr>
          </c:dPt>
          <c:dPt>
            <c:idx val="8"/>
            <c:invertIfNegative val="0"/>
            <c:spPr>
              <a:solidFill xmlns:a="http://schemas.openxmlformats.org/drawingml/2006/main">
                <a:srgbClr val="B54F54"/>
              </a:solidFill>
            </c:spPr>
          </c:dPt>
          <c:dPt>
            <c:idx val="9"/>
            <c:invertIfNegative val="0"/>
            <c:spPr>
              <a:solidFill xmlns:a="http://schemas.openxmlformats.org/drawingml/2006/main">
                <a:srgbClr val="9EADB9"/>
              </a:solidFill>
            </c:spPr>
          </c:dPt>
          <c:cat>
            <c:strRef>
              <c:f>'Chart Data'!$A$2:$A$11</c:f>
              <c:strCache>
                <c:ptCount val="10"/>
                <c:pt idx="0">
                  <c:v>Assemblies</c:v>
                </c:pt>
                <c:pt idx="1">
                  <c:v>Traction</c:v>
                </c:pt>
                <c:pt idx="2">
                  <c:v>Gears</c:v>
                </c:pt>
                <c:pt idx="3">
                  <c:v>Rail</c:v>
                </c:pt>
                <c:pt idx="4">
                  <c:v>Hybrid</c:v>
                </c:pt>
                <c:pt idx="5">
                  <c:v>Driveline</c:v>
                </c:pt>
                <c:pt idx="6">
                  <c:v>Suspension</c:v>
                </c:pt>
                <c:pt idx="7">
                  <c:v>ICE start.</c:v>
                </c:pt>
                <c:pt idx="8">
                  <c:v>Sensors</c:v>
                </c:pt>
                <c:pt idx="9">
                  <c:v>Other</c:v>
                </c:pt>
              </c:strCache>
            </c:strRef>
          </c:cat>
          <c:val>
            <c:numRef>
              <c:f>'Chart Data'!$B$2:$B$11</c:f>
              <c:numCache>
                <c:formatCode>#,##0.0</c:formatCode>
                <c:ptCount val="10"/>
                <c:pt idx="0">
                  <c:v>13.0790362321</c:v>
                </c:pt>
                <c:pt idx="1">
                  <c:v>13.3574300787</c:v>
                </c:pt>
                <c:pt idx="2">
                  <c:v>7.93434068247</c:v>
                </c:pt>
                <c:pt idx="3">
                  <c:v>5.25305294352</c:v>
                </c:pt>
                <c:pt idx="4">
                  <c:v>5.03404929115</c:v>
                </c:pt>
                <c:pt idx="5">
                  <c:v>2.64125640909</c:v>
                </c:pt>
                <c:pt idx="6">
                  <c:v>0.46</c:v>
                </c:pt>
                <c:pt idx="7">
                  <c:v>-0.0699785896717</c:v>
                </c:pt>
                <c:pt idx="8">
                  <c:v>-0.0667089476907</c:v>
                </c:pt>
                <c:pt idx="9">
                  <c:v>0.185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425">
                <a:solidFill>
                  <a:srgbClr val="5C6A78"/>
                </a:solidFill>
                <a:latin typeface="Arial"/>
                <a:ea typeface="Arial"/>
                <a:cs typeface="Arial"/>
              </a:defRPr>
            </a:pPr>
          </a:p>
        </c:txPr>
        <c:crossAx val="48672768"/>
      </c:catAx>
      <c:valAx>
        <c:axId val="48672768"/>
        <c:scaling>
          <c:orientation val="minMax"/>
          <c:max val="15"/>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majorUnit val="4"/>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Revenue forecast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Differential assemblies</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#,##0.0</c:formatCode>
                <c:ptCount val="5"/>
                <c:pt idx="0">
                  <c:v>7.564082</c:v>
                </c:pt>
                <c:pt idx="1">
                  <c:v>10.4203261335</c:v>
                </c:pt>
                <c:pt idx="2">
                  <c:v>14.5589201512</c:v>
                </c:pt>
                <c:pt idx="3">
                  <c:v>17.4611099457</c:v>
                </c:pt>
                <c:pt idx="4">
                  <c:v>20.6431182321</c:v>
                </c:pt>
              </c:numCache>
            </c:numRef>
          </c:val>
        </c:ser>
        <c:ser>
          <c:idx val="1"/>
          <c:order val="1"/>
          <c:tx>
            <c:v>Differential gears</c:v>
          </c:tx>
          <c:spPr>
            <a:solidFill xmlns:a="http://schemas.openxmlformats.org/drawingml/2006/main">
              <a:srgbClr val="173C66"/>
            </a:solidFill>
          </c:spPr>
          <c:invertIfNegative val="0"/>
          <c:cat>
            <c:strRef>
              <c:f>'Chart Data'!$C$2:$C$6</c:f>
              <c:strCache>
                <c:ptCount val="5"/>
                <c:pt idx="0">
                  <c:v>FY26</c:v>
                </c:pt>
                <c:pt idx="1">
                  <c:v>FY27E</c:v>
                </c:pt>
                <c:pt idx="2">
                  <c:v>FY28E</c:v>
                </c:pt>
                <c:pt idx="3">
                  <c:v>FY29E</c:v>
                </c:pt>
                <c:pt idx="4">
                  <c:v>FY30E</c:v>
                </c:pt>
              </c:strCache>
            </c:strRef>
          </c:cat>
          <c:val>
            <c:numRef>
              <c:f>'Chart Data'!$D$2:$D$6</c:f>
              <c:numCache>
                <c:formatCode>#,##0.0</c:formatCode>
                <c:ptCount val="5"/>
                <c:pt idx="0">
                  <c:v>9.788812</c:v>
                </c:pt>
                <c:pt idx="1">
                  <c:v>12.4806247466</c:v>
                </c:pt>
                <c:pt idx="2">
                  <c:v>14.1220644992</c:v>
                </c:pt>
                <c:pt idx="3">
                  <c:v>15.8648148805</c:v>
                </c:pt>
                <c:pt idx="4">
                  <c:v>17.7231526825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Traction motor revenue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Traction motors</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#,##0.0</c:formatCode>
                <c:ptCount val="5"/>
                <c:pt idx="0">
                  <c:v>4.854406</c:v>
                </c:pt>
                <c:pt idx="1">
                  <c:v>7.11216859639</c:v>
                </c:pt>
                <c:pt idx="2">
                  <c:v>9.70545293976</c:v>
                </c:pt>
                <c:pt idx="3">
                  <c:v>13.3491738613</c:v>
                </c:pt>
                <c:pt idx="4">
                  <c:v>18.2118360787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Suspension motor revenue (INR m)</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Suspension motors</c:v>
          </c:tx>
          <c:spPr>
            <a:solidFill xmlns:a="http://schemas.openxmlformats.org/drawingml/2006/main">
              <a:srgbClr val="009DDA"/>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40</c:v>
                </c:pt>
                <c:pt idx="1">
                  <c:v>200</c:v>
                </c:pt>
                <c:pt idx="2">
                  <c:v>300</c:v>
                </c:pt>
                <c:pt idx="3">
                  <c:v>400</c:v>
                </c:pt>
                <c:pt idx="4">
                  <c:v>500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Railway revenue forecast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Railways</c:v>
          </c:tx>
          <c:spPr>
            <a:solidFill xmlns:a="http://schemas.openxmlformats.org/drawingml/2006/main">
              <a:srgbClr val="173C66"/>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#,##0.0</c:formatCode>
                <c:ptCount val="5"/>
                <c:pt idx="0">
                  <c:v>6.229244</c:v>
                </c:pt>
                <c:pt idx="1">
                  <c:v>8.7209416</c:v>
                </c:pt>
                <c:pt idx="2">
                  <c:v>10.02908284</c:v>
                </c:pt>
                <c:pt idx="3">
                  <c:v>10.7311186388</c:v>
                </c:pt>
                <c:pt idx="4">
                  <c:v>11.4822969435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Model EBITDA margin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lineChart>
        <c:grouping val="standard"/>
        <c:varyColors val="0"/>
        <c:ser>
          <c:idx val="0"/>
          <c:order val="0"/>
          <c:tx>
            <c:v>Margin</c:v>
          </c:tx>
          <c:spPr>
            <a:ln xmlns:a="http://schemas.openxmlformats.org/drawingml/2006/main" w="33338">
              <a:solidFill>
                <a:srgbClr val="009DDA"/>
              </a:solidFill>
              <a:prstDash val="solid"/>
            </a:ln>
          </c:spPr>
          <c:marker>
            <c:symbol val="circle"/>
            <c:size val="7"/>
            <c:spPr>
              <a:solidFill xmlns:a="http://schemas.openxmlformats.org/drawingml/2006/main">
                <a:srgbClr val="009DDA"/>
              </a:solidFill>
            </c:spPr>
          </c:marker>
          <c:cat>
            <c:strRef>
              <c:f>'Chart Data'!$A$2:$A$8</c:f>
              <c:strCache>
                <c:ptCount val="7"/>
                <c:pt idx="0">
                  <c:v>FY24</c:v>
                </c:pt>
                <c:pt idx="1">
                  <c:v>FY25</c:v>
                </c:pt>
                <c:pt idx="2">
                  <c:v>FY26</c:v>
                </c:pt>
                <c:pt idx="3">
                  <c:v>FY27E</c:v>
                </c:pt>
                <c:pt idx="4">
                  <c:v>FY28E</c:v>
                </c:pt>
                <c:pt idx="5">
                  <c:v>FY29E</c:v>
                </c:pt>
                <c:pt idx="6">
                  <c:v>FY30E</c:v>
                </c:pt>
              </c:strCache>
            </c:strRef>
          </c:cat>
          <c:val>
            <c:numRef>
              <c:f>'Chart Data'!$B$2:$B$8</c:f>
              <c:numCache>
                <c:formatCode>0.0%</c:formatCode>
                <c:ptCount val="7"/>
                <c:pt idx="0">
                  <c:v>0.283249653821</c:v>
                </c:pt>
                <c:pt idx="1">
                  <c:v>0.272631775164</c:v>
                </c:pt>
                <c:pt idx="2">
                  <c:v>0.242988137886</c:v>
                </c:pt>
                <c:pt idx="3">
                  <c:v>0.239</c:v>
                </c:pt>
                <c:pt idx="4">
                  <c:v>0.245</c:v>
                </c:pt>
                <c:pt idx="5">
                  <c:v>0.249</c:v>
                </c:pt>
                <c:pt idx="6">
                  <c:v>0.25</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3"/>
          <c:min val="0.2"/>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majorUnit val="0.02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Robotics &amp; Physical AI order book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Order value</c:v>
          </c:tx>
          <c:spPr>
            <a:solidFill xmlns:a="http://schemas.openxmlformats.org/drawingml/2006/main">
              <a:srgbClr val="009DDA"/>
            </a:solidFill>
          </c:spPr>
          <c:invertIfNegative val="0"/>
          <c:dPt>
            <c:idx val="0"/>
            <c:invertIfNegative val="0"/>
            <c:spPr>
              <a:solidFill xmlns:a="http://schemas.openxmlformats.org/drawingml/2006/main">
                <a:srgbClr val="9EADB9"/>
              </a:solidFill>
            </c:spPr>
          </c:dPt>
          <c:dPt>
            <c:idx val="1"/>
            <c:invertIfNegative val="0"/>
            <c:spPr>
              <a:solidFill xmlns:a="http://schemas.openxmlformats.org/drawingml/2006/main">
                <a:srgbClr val="009DDA"/>
              </a:solidFill>
            </c:spPr>
          </c:dPt>
          <c:dPt>
            <c:idx val="2"/>
            <c:invertIfNegative val="0"/>
            <c:spPr>
              <a:solidFill xmlns:a="http://schemas.openxmlformats.org/drawingml/2006/main">
                <a:srgbClr val="173C66"/>
              </a:solidFill>
            </c:spPr>
          </c:dPt>
          <c:cat>
            <c:strRef>
              <c:f>'Chart Data'!$A$2:$A$4</c:f>
              <c:strCache>
                <c:ptCount val="3"/>
                <c:pt idx="0">
                  <c:v>Prior orders</c:v>
                </c:pt>
                <c:pt idx="1">
                  <c:v>New wins</c:v>
                </c:pt>
                <c:pt idx="2">
                  <c:v>Total</c:v>
                </c:pt>
              </c:strCache>
            </c:strRef>
          </c:cat>
          <c:val>
            <c:numRef>
              <c:f>'Chart Data'!$B$2:$B$4</c:f>
              <c:numCache>
                <c:formatCode>#,##0.0</c:formatCode>
                <c:ptCount val="3"/>
                <c:pt idx="0">
                  <c:v>2</c:v>
                </c:pt>
                <c:pt idx="1">
                  <c:v>6</c:v>
                </c:pt>
                <c:pt idx="2">
                  <c:v>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Ownership of the two JVs</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Sona</c:v>
          </c:tx>
          <c:spPr>
            <a:solidFill xmlns:a="http://schemas.openxmlformats.org/drawingml/2006/main">
              <a:srgbClr val="009DDA"/>
            </a:solidFill>
          </c:spPr>
          <c:invertIfNegative val="0"/>
          <c:cat>
            <c:strRef>
              <c:f>'Chart Data'!$A$2:$A$3</c:f>
              <c:strCache>
                <c:ptCount val="2"/>
                <c:pt idx="0">
                  <c:v>2W / 3W</c:v>
                </c:pt>
                <c:pt idx="1">
                  <c:v>4W / 4+</c:v>
                </c:pt>
              </c:strCache>
            </c:strRef>
          </c:cat>
          <c:val>
            <c:numRef>
              <c:f>'Chart Data'!$B$2:$B$3</c:f>
              <c:numCache>
                <c:formatCode>General</c:formatCode>
                <c:ptCount val="2"/>
                <c:pt idx="0">
                  <c:v>0.51</c:v>
                </c:pt>
                <c:pt idx="1">
                  <c:v>0.49</c:v>
                </c:pt>
              </c:numCache>
            </c:numRef>
          </c:val>
        </c:ser>
        <c:ser>
          <c:idx val="1"/>
          <c:order val="1"/>
          <c:tx>
            <c:v>Denso</c:v>
          </c:tx>
          <c:spPr>
            <a:solidFill xmlns:a="http://schemas.openxmlformats.org/drawingml/2006/main">
              <a:srgbClr val="173C66"/>
            </a:solidFill>
          </c:spPr>
          <c:invertIfNegative val="0"/>
          <c:cat>
            <c:strRef>
              <c:f>'Chart Data'!$C$2:$C$3</c:f>
              <c:strCache>
                <c:ptCount val="2"/>
                <c:pt idx="0">
                  <c:v>2W / 3W</c:v>
                </c:pt>
                <c:pt idx="1">
                  <c:v>4W / 4+</c:v>
                </c:pt>
              </c:strCache>
            </c:strRef>
          </c:cat>
          <c:val>
            <c:numRef>
              <c:f>'Chart Data'!$D$2:$D$3</c:f>
              <c:numCache>
                <c:formatCode>General</c:formatCode>
                <c:ptCount val="2"/>
                <c:pt idx="0">
                  <c:v>0.49</c:v>
                </c:pt>
                <c:pt idx="1">
                  <c:v>0.51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40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4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Value per share (INR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stacked"/>
        <c:varyColors val="0"/>
        <c:ser>
          <c:idx val="0"/>
          <c:order val="0"/>
          <c:tx>
            <c:v>Core DCF</c:v>
          </c:tx>
          <c:spPr>
            <a:solidFill xmlns:a="http://schemas.openxmlformats.org/drawingml/2006/main">
              <a:srgbClr val="173C66"/>
            </a:solidFill>
          </c:spPr>
          <c:invertIfNegative val="0"/>
          <c:cat>
            <c:strRef>
              <c:f>'Chart Data'!$A$2:$A$2</c:f>
              <c:strCache>
                <c:ptCount val="1"/>
                <c:pt idx="0">
                  <c:v>Model valuation</c:v>
                </c:pt>
              </c:strCache>
            </c:strRef>
          </c:cat>
          <c:val>
            <c:numRef>
              <c:f>'Chart Data'!$B$2:$B$2</c:f>
              <c:numCache>
                <c:formatCode>General</c:formatCode>
                <c:ptCount val="1"/>
                <c:pt idx="0">
                  <c:v>660</c:v>
                </c:pt>
              </c:numCache>
            </c:numRef>
          </c:val>
        </c:ser>
        <c:ser>
          <c:idx val="1"/>
          <c:order val="1"/>
          <c:tx>
            <c:v>4W Denso JV</c:v>
          </c:tx>
          <c:spPr>
            <a:solidFill xmlns:a="http://schemas.openxmlformats.org/drawingml/2006/main">
              <a:srgbClr val="009DDA"/>
            </a:solidFill>
          </c:spPr>
          <c:invertIfNegative val="0"/>
          <c:cat>
            <c:strRef>
              <c:f>'Chart Data'!$C$2:$C$2</c:f>
              <c:strCache>
                <c:ptCount val="1"/>
                <c:pt idx="0">
                  <c:v>Model valuation</c:v>
                </c:pt>
              </c:strCache>
            </c:strRef>
          </c:cat>
          <c:val>
            <c:numRef>
              <c:f>'Chart Data'!$D$2:$D$2</c:f>
              <c:numCache>
                <c:formatCode>General</c:formatCode>
                <c:ptCount val="1"/>
                <c:pt idx="0">
                  <c:v>189.752160231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55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8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Q1 revenue and BEV revenue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Revenue incl. FX</c:v>
          </c:tx>
          <c:spPr>
            <a:solidFill xmlns:a="http://schemas.openxmlformats.org/drawingml/2006/main">
              <a:srgbClr val="173C66"/>
            </a:solidFill>
          </c:spPr>
          <c:invertIfNegative val="0"/>
          <c:cat>
            <c:strRef>
              <c:f>'Chart Data'!$A$2:$A$3</c:f>
              <c:strCache>
                <c:ptCount val="2"/>
                <c:pt idx="0">
                  <c:v>Q1 FY26</c:v>
                </c:pt>
                <c:pt idx="1">
                  <c:v>Q1 FY27</c:v>
                </c:pt>
              </c:strCache>
            </c:strRef>
          </c:cat>
          <c:val>
            <c:numRef>
              <c:f>'Chart Data'!$B$2:$B$3</c:f>
              <c:numCache>
                <c:formatCode>#,##0.0</c:formatCode>
                <c:ptCount val="2"/>
                <c:pt idx="0">
                  <c:v>8.509</c:v>
                </c:pt>
                <c:pt idx="1">
                  <c:v>13.104</c:v>
                </c:pt>
              </c:numCache>
            </c:numRef>
          </c:val>
        </c:ser>
        <c:ser>
          <c:idx val="1"/>
          <c:order val="1"/>
          <c:tx>
            <c:v>BEV revenue</c:v>
          </c:tx>
          <c:spPr>
            <a:solidFill xmlns:a="http://schemas.openxmlformats.org/drawingml/2006/main">
              <a:srgbClr val="009DDA"/>
            </a:solidFill>
          </c:spPr>
          <c:invertIfNegative val="0"/>
          <c:cat>
            <c:strRef>
              <c:f>'Chart Data'!$C$2:$C$3</c:f>
              <c:strCache>
                <c:ptCount val="2"/>
                <c:pt idx="0">
                  <c:v>Q1 FY26</c:v>
                </c:pt>
                <c:pt idx="1">
                  <c:v>Q1 FY27</c:v>
                </c:pt>
              </c:strCache>
            </c:strRef>
          </c:cat>
          <c:val>
            <c:numRef>
              <c:f>'Chart Data'!$D$2:$D$3</c:f>
              <c:numCache>
                <c:formatCode>#,##0.0</c:formatCode>
                <c:ptCount val="2"/>
                <c:pt idx="0">
                  <c:v>2.106</c:v>
                </c:pt>
                <c:pt idx="1">
                  <c:v>4.355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Geographical revenue mix</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India</c:v>
          </c:tx>
          <c:spPr>
            <a:solidFill xmlns:a="http://schemas.openxmlformats.org/drawingml/2006/main">
              <a:srgbClr val="009DDA"/>
            </a:solidFill>
          </c:spPr>
          <c:invertIfNegative val="0"/>
          <c:cat>
            <c:strRef>
              <c:f>'Chart Data'!$A$2:$A$3</c:f>
              <c:strCache>
                <c:ptCount val="2"/>
                <c:pt idx="0">
                  <c:v>FY26</c:v>
                </c:pt>
                <c:pt idx="1">
                  <c:v>Q1 FY27</c:v>
                </c:pt>
              </c:strCache>
            </c:strRef>
          </c:cat>
          <c:val>
            <c:numRef>
              <c:f>'Chart Data'!$B$2:$B$3</c:f>
              <c:numCache>
                <c:formatCode>0%</c:formatCode>
                <c:ptCount val="2"/>
                <c:pt idx="0">
                  <c:v>0.51</c:v>
                </c:pt>
                <c:pt idx="1">
                  <c:v>0.5</c:v>
                </c:pt>
              </c:numCache>
            </c:numRef>
          </c:val>
        </c:ser>
        <c:ser>
          <c:idx val="1"/>
          <c:order val="1"/>
          <c:tx>
            <c:v>N. America</c:v>
          </c:tx>
          <c:spPr>
            <a:solidFill xmlns:a="http://schemas.openxmlformats.org/drawingml/2006/main">
              <a:srgbClr val="173C66"/>
            </a:solidFill>
          </c:spPr>
          <c:invertIfNegative val="0"/>
          <c:cat>
            <c:strRef>
              <c:f>'Chart Data'!$C$2:$C$3</c:f>
              <c:strCache>
                <c:ptCount val="2"/>
                <c:pt idx="0">
                  <c:v>FY26</c:v>
                </c:pt>
                <c:pt idx="1">
                  <c:v>Q1 FY27</c:v>
                </c:pt>
              </c:strCache>
            </c:strRef>
          </c:cat>
          <c:val>
            <c:numRef>
              <c:f>'Chart Data'!$D$2:$D$3</c:f>
              <c:numCache>
                <c:formatCode>0%</c:formatCode>
                <c:ptCount val="2"/>
                <c:pt idx="0">
                  <c:v>0.27</c:v>
                </c:pt>
                <c:pt idx="1">
                  <c:v>0.26</c:v>
                </c:pt>
              </c:numCache>
            </c:numRef>
          </c:val>
        </c:ser>
        <c:ser>
          <c:idx val="2"/>
          <c:order val="2"/>
          <c:tx>
            <c:v>Europe</c:v>
          </c:tx>
          <c:spPr>
            <a:solidFill xmlns:a="http://schemas.openxmlformats.org/drawingml/2006/main">
              <a:srgbClr val="9EADB9"/>
            </a:solidFill>
          </c:spPr>
          <c:invertIfNegative val="0"/>
          <c:cat>
            <c:strRef>
              <c:f>'Chart Data'!$E$2:$E$3</c:f>
              <c:strCache>
                <c:ptCount val="2"/>
                <c:pt idx="0">
                  <c:v>FY26</c:v>
                </c:pt>
                <c:pt idx="1">
                  <c:v>Q1 FY27</c:v>
                </c:pt>
              </c:strCache>
            </c:strRef>
          </c:cat>
          <c:val>
            <c:numRef>
              <c:f>'Chart Data'!$F$2:$F$3</c:f>
              <c:numCache>
                <c:formatCode>0%</c:formatCode>
                <c:ptCount val="2"/>
                <c:pt idx="0">
                  <c:v>0.17</c:v>
                </c:pt>
                <c:pt idx="1">
                  <c:v>0.15</c:v>
                </c:pt>
              </c:numCache>
            </c:numRef>
          </c:val>
        </c:ser>
        <c:ser>
          <c:idx val="3"/>
          <c:order val="3"/>
          <c:tx>
            <c:v>Asia ex India</c:v>
          </c:tx>
          <c:spPr>
            <a:solidFill xmlns:a="http://schemas.openxmlformats.org/drawingml/2006/main">
              <a:srgbClr val="17867F"/>
            </a:solidFill>
          </c:spPr>
          <c:invertIfNegative val="0"/>
          <c:cat>
            <c:strRef>
              <c:f>'Chart Data'!$G$2:$G$3</c:f>
              <c:strCache>
                <c:ptCount val="2"/>
                <c:pt idx="0">
                  <c:v>FY26</c:v>
                </c:pt>
                <c:pt idx="1">
                  <c:v>Q1 FY27</c:v>
                </c:pt>
              </c:strCache>
            </c:strRef>
          </c:cat>
          <c:val>
            <c:numRef>
              <c:f>'Chart Data'!$H$2:$H$3</c:f>
              <c:numCache>
                <c:formatCode>0%</c:formatCode>
                <c:ptCount val="2"/>
                <c:pt idx="0">
                  <c:v>0.05</c:v>
                </c:pt>
                <c:pt idx="1">
                  <c:v>0.09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4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FY26 revenue by end market</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Share</c:v>
          </c:tx>
          <c:spPr>
            <a:solidFill xmlns:a="http://schemas.openxmlformats.org/drawingml/2006/main">
              <a:srgbClr val="173C66"/>
            </a:solidFill>
          </c:spPr>
          <c:invertIfNegative val="0"/>
          <c:cat>
            <c:strRef>
              <c:f>'Chart Data'!$A$2:$A$6</c:f>
              <c:strCache>
                <c:ptCount val="5"/>
                <c:pt idx="0">
                  <c:v>PV</c:v>
                </c:pt>
                <c:pt idx="1">
                  <c:v>CV</c:v>
                </c:pt>
                <c:pt idx="2">
                  <c:v>Non-auto</c:v>
                </c:pt>
                <c:pt idx="3">
                  <c:v>E2W / E3W</c:v>
                </c:pt>
                <c:pt idx="4">
                  <c:v>Other</c:v>
                </c:pt>
              </c:strCache>
            </c:strRef>
          </c:cat>
          <c:val>
            <c:numRef>
              <c:f>'Chart Data'!$B$2:$B$6</c:f>
              <c:numCache>
                <c:formatCode>0%</c:formatCode>
                <c:ptCount val="5"/>
                <c:pt idx="0">
                  <c:v>0.49</c:v>
                </c:pt>
                <c:pt idx="1">
                  <c:v>0.09</c:v>
                </c:pt>
                <c:pt idx="2">
                  <c:v>0.31</c:v>
                </c:pt>
                <c:pt idx="3">
                  <c:v>0.1</c:v>
                </c:pt>
                <c:pt idx="4">
                  <c:v>0.01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6"/>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Q1 FY27 announced automotive awards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Lifetime order value</c:v>
          </c:tx>
          <c:spPr>
            <a:solidFill xmlns:a="http://schemas.openxmlformats.org/drawingml/2006/main">
              <a:srgbClr val="009DDA"/>
            </a:solidFill>
          </c:spPr>
          <c:invertIfNegative val="0"/>
          <c:cat>
            <c:strRef>
              <c:f>'Chart Data'!$A$2:$A$5</c:f>
              <c:strCache>
                <c:ptCount val="4"/>
                <c:pt idx="0">
                  <c:v>Hybrid assembly</c:v>
                </c:pt>
                <c:pt idx="1">
                  <c:v>E2W hub motors</c:v>
                </c:pt>
                <c:pt idx="2">
                  <c:v>Non-EV PV gears</c:v>
                </c:pt>
                <c:pt idx="3">
                  <c:v>CV / OHV gears</c:v>
                </c:pt>
              </c:strCache>
            </c:strRef>
          </c:cat>
          <c:val>
            <c:numRef>
              <c:f>'Chart Data'!$B$2:$B$5</c:f>
              <c:numCache>
                <c:formatCode>#,##0.0</c:formatCode>
                <c:ptCount val="4"/>
                <c:pt idx="0">
                  <c:v>6.4</c:v>
                </c:pt>
                <c:pt idx="1">
                  <c:v>0.9</c:v>
                </c:pt>
                <c:pt idx="2">
                  <c:v>2.1</c:v>
                </c:pt>
                <c:pt idx="3">
                  <c:v>0.4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C6A78"/>
                </a:solidFill>
                <a:latin typeface="Arial"/>
                <a:ea typeface="Arial"/>
                <a:cs typeface="Aria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Global differential gear market share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Share</c:v>
          </c:tx>
          <c:spPr>
            <a:solidFill xmlns:a="http://schemas.openxmlformats.org/drawingml/2006/main">
              <a:srgbClr val="009DDA"/>
            </a:solidFill>
          </c:spPr>
          <c:invertIfNegative val="0"/>
          <c:cat>
            <c:strRef>
              <c:f>'Chart Data'!$A$2:$A$8</c:f>
              <c:strCache>
                <c:ptCount val="7"/>
                <c:pt idx="0">
                  <c:v>CY19</c:v>
                </c:pt>
                <c:pt idx="1">
                  <c:v>CY20</c:v>
                </c:pt>
                <c:pt idx="2">
                  <c:v>CY21</c:v>
                </c:pt>
                <c:pt idx="3">
                  <c:v>CY22</c:v>
                </c:pt>
                <c:pt idx="4">
                  <c:v>CY23</c:v>
                </c:pt>
                <c:pt idx="5">
                  <c:v>CY24</c:v>
                </c:pt>
                <c:pt idx="6">
                  <c:v>CY25</c:v>
                </c:pt>
              </c:strCache>
            </c:strRef>
          </c:cat>
          <c:val>
            <c:numRef>
              <c:f>'Chart Data'!$B$2:$B$8</c:f>
              <c:numCache>
                <c:formatCode>0%</c:formatCode>
                <c:ptCount val="7"/>
                <c:pt idx="0">
                  <c:v>0.045</c:v>
                </c:pt>
                <c:pt idx="1">
                  <c:v>0.05</c:v>
                </c:pt>
                <c:pt idx="2">
                  <c:v>0.063</c:v>
                </c:pt>
                <c:pt idx="3">
                  <c:v>0.072</c:v>
                </c:pt>
                <c:pt idx="4">
                  <c:v>0.081</c:v>
                </c:pt>
                <c:pt idx="5">
                  <c:v>0.088</c:v>
                </c:pt>
                <c:pt idx="6">
                  <c:v>0.087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Model EPS (INR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lineChart>
        <c:grouping val="standard"/>
        <c:varyColors val="0"/>
        <c:ser>
          <c:idx val="0"/>
          <c:order val="0"/>
          <c:tx>
            <c:v>EPS</c:v>
          </c:tx>
          <c:spPr>
            <a:ln xmlns:a="http://schemas.openxmlformats.org/drawingml/2006/main" w="33338">
              <a:solidFill>
                <a:srgbClr val="009DDA"/>
              </a:solidFill>
              <a:prstDash val="solid"/>
            </a:ln>
          </c:spPr>
          <c:marker>
            <c:symbol val="circle"/>
            <c:size val="7"/>
            <c:spPr>
              <a:solidFill xmlns:a="http://schemas.openxmlformats.org/drawingml/2006/main">
                <a:srgbClr val="009DDA"/>
              </a:solidFill>
            </c:spPr>
          </c:marker>
          <c:cat>
            <c:strRef>
              <c:f>'Chart Data'!$A$2:$A$6</c:f>
              <c:strCache>
                <c:ptCount val="5"/>
                <c:pt idx="0">
                  <c:v>FY26</c:v>
                </c:pt>
                <c:pt idx="1">
                  <c:v>FY27E</c:v>
                </c:pt>
                <c:pt idx="2">
                  <c:v>FY28E</c:v>
                </c:pt>
                <c:pt idx="3">
                  <c:v>FY29E</c:v>
                </c:pt>
                <c:pt idx="4">
                  <c:v>FY30E</c:v>
                </c:pt>
              </c:strCache>
            </c:strRef>
          </c:cat>
          <c:val>
            <c:numRef>
              <c:f>'Chart Data'!$B$2:$B$6</c:f>
              <c:numCache>
                <c:formatCode>General</c:formatCode>
                <c:ptCount val="5"/>
                <c:pt idx="0">
                  <c:v>9.29825182079</c:v>
                </c:pt>
                <c:pt idx="1">
                  <c:v>13.7430834798</c:v>
                </c:pt>
                <c:pt idx="2">
                  <c:v>17.4827499642</c:v>
                </c:pt>
                <c:pt idx="3">
                  <c:v>20.5935367816</c:v>
                </c:pt>
                <c:pt idx="4">
                  <c:v>24.4781678107</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009DDA"/>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3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Operating cash generation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CFO</c:v>
          </c:tx>
          <c:spPr>
            <a:solidFill xmlns:a="http://schemas.openxmlformats.org/drawingml/2006/main">
              <a:srgbClr val="173C66"/>
            </a:solidFill>
          </c:spPr>
          <c:invertIfNegative val="0"/>
          <c:cat>
            <c:strRef>
              <c:f>'Chart Data'!$A$2:$A$4</c:f>
              <c:strCache>
                <c:ptCount val="3"/>
                <c:pt idx="0">
                  <c:v>FY26</c:v>
                </c:pt>
                <c:pt idx="1">
                  <c:v>FY27E</c:v>
                </c:pt>
                <c:pt idx="2">
                  <c:v>FY28E</c:v>
                </c:pt>
              </c:strCache>
            </c:strRef>
          </c:cat>
          <c:val>
            <c:numRef>
              <c:f>'Chart Data'!$B$2:$B$4</c:f>
              <c:numCache>
                <c:formatCode>#,##0.0</c:formatCode>
                <c:ptCount val="3"/>
                <c:pt idx="0">
                  <c:v>6.59062</c:v>
                </c:pt>
                <c:pt idx="1">
                  <c:v>11.5583223621</c:v>
                </c:pt>
                <c:pt idx="2">
                  <c:v>10.6443168877</c:v>
                </c:pt>
              </c:numCache>
            </c:numRef>
          </c:val>
        </c:ser>
        <c:ser>
          <c:idx val="1"/>
          <c:order val="1"/>
          <c:tx>
            <c:v>CFO less capex</c:v>
          </c:tx>
          <c:spPr>
            <a:solidFill xmlns:a="http://schemas.openxmlformats.org/drawingml/2006/main">
              <a:srgbClr val="009DDA"/>
            </a:solidFill>
          </c:spPr>
          <c:invertIfNegative val="0"/>
          <c:cat>
            <c:strRef>
              <c:f>'Chart Data'!$C$2:$C$4</c:f>
              <c:strCache>
                <c:ptCount val="3"/>
                <c:pt idx="0">
                  <c:v>FY26</c:v>
                </c:pt>
                <c:pt idx="1">
                  <c:v>FY27E</c:v>
                </c:pt>
                <c:pt idx="2">
                  <c:v>FY28E</c:v>
                </c:pt>
              </c:strCache>
            </c:strRef>
          </c:cat>
          <c:val>
            <c:numRef>
              <c:f>'Chart Data'!$D$2:$D$4</c:f>
              <c:numCache>
                <c:formatCode>#,##0.0</c:formatCode>
                <c:ptCount val="3"/>
                <c:pt idx="0">
                  <c:v>1.7997</c:v>
                </c:pt>
                <c:pt idx="1">
                  <c:v>7.55832236214</c:v>
                </c:pt>
                <c:pt idx="2">
                  <c:v>6.44431688769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Core enterprise value composition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stacked"/>
        <c:varyColors val="0"/>
        <c:ser>
          <c:idx val="0"/>
          <c:order val="0"/>
          <c:tx>
            <c:v>Explicit forecast</c:v>
          </c:tx>
          <c:spPr>
            <a:solidFill xmlns:a="http://schemas.openxmlformats.org/drawingml/2006/main">
              <a:srgbClr val="009DDA"/>
            </a:solidFill>
          </c:spPr>
          <c:invertIfNegative val="0"/>
          <c:cat>
            <c:strRef>
              <c:f>'Chart Data'!$A$2:$A$2</c:f>
              <c:strCache>
                <c:ptCount val="1"/>
                <c:pt idx="0">
                  <c:v>Core EV</c:v>
                </c:pt>
              </c:strCache>
            </c:strRef>
          </c:cat>
          <c:val>
            <c:numRef>
              <c:f>'Chart Data'!$B$2:$B$2</c:f>
              <c:numCache>
                <c:formatCode>#,##0.0</c:formatCode>
                <c:ptCount val="1"/>
                <c:pt idx="0">
                  <c:v>110.238155873</c:v>
                </c:pt>
              </c:numCache>
            </c:numRef>
          </c:val>
        </c:ser>
        <c:ser>
          <c:idx val="1"/>
          <c:order val="1"/>
          <c:tx>
            <c:v>Terminal value</c:v>
          </c:tx>
          <c:spPr>
            <a:solidFill xmlns:a="http://schemas.openxmlformats.org/drawingml/2006/main">
              <a:srgbClr val="173C66"/>
            </a:solidFill>
          </c:spPr>
          <c:invertIfNegative val="0"/>
          <c:cat>
            <c:strRef>
              <c:f>'Chart Data'!$C$2:$C$2</c:f>
              <c:strCache>
                <c:ptCount val="1"/>
                <c:pt idx="0">
                  <c:v>Core EV</c:v>
                </c:pt>
              </c:strCache>
            </c:strRef>
          </c:cat>
          <c:val>
            <c:numRef>
              <c:f>'Chart Data'!$D$2:$D$2</c:f>
              <c:numCache>
                <c:formatCode>#,##0.0</c:formatCode>
                <c:ptCount val="1"/>
                <c:pt idx="0">
                  <c:v>279.739379964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325">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4W JV revenue scenario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stacked"/>
        <c:varyColors val="0"/>
        <c:ser>
          <c:idx val="0"/>
          <c:order val="0"/>
          <c:tx>
            <c:v>India</c:v>
          </c:tx>
          <c:spPr>
            <a:solidFill xmlns:a="http://schemas.openxmlformats.org/drawingml/2006/main">
              <a:srgbClr val="009DDA"/>
            </a:solidFill>
          </c:spPr>
          <c:invertIfNegative val="0"/>
          <c:cat>
            <c:strRef>
              <c:f>'Chart Data'!$A$2:$A$8</c:f>
              <c:strCache>
                <c:ptCount val="7"/>
                <c:pt idx="0">
                  <c:v>FY29E</c:v>
                </c:pt>
                <c:pt idx="1">
                  <c:v>FY30E</c:v>
                </c:pt>
                <c:pt idx="2">
                  <c:v>FY31E</c:v>
                </c:pt>
                <c:pt idx="3">
                  <c:v>FY32E</c:v>
                </c:pt>
                <c:pt idx="4">
                  <c:v>FY33E</c:v>
                </c:pt>
                <c:pt idx="5">
                  <c:v>FY34E</c:v>
                </c:pt>
                <c:pt idx="6">
                  <c:v>FY35E</c:v>
                </c:pt>
              </c:strCache>
            </c:strRef>
          </c:cat>
          <c:val>
            <c:numRef>
              <c:f>'Chart Data'!$B$2:$B$8</c:f>
              <c:numCache>
                <c:formatCode>#,##0.0</c:formatCode>
                <c:ptCount val="7"/>
                <c:pt idx="0">
                  <c:v>10.175433358</c:v>
                </c:pt>
                <c:pt idx="1">
                  <c:v>21.9701444788</c:v>
                </c:pt>
                <c:pt idx="2">
                  <c:v>36.471538342</c:v>
                </c:pt>
                <c:pt idx="3">
                  <c:v>54.4901195022</c:v>
                </c:pt>
                <c:pt idx="4">
                  <c:v>78.154262968</c:v>
                </c:pt>
                <c:pt idx="5">
                  <c:v>111.761729281</c:v>
                </c:pt>
                <c:pt idx="6">
                  <c:v>185.541361164</c:v>
                </c:pt>
              </c:numCache>
            </c:numRef>
          </c:val>
        </c:ser>
        <c:ser>
          <c:idx val="1"/>
          <c:order val="1"/>
          <c:tx>
            <c:v>Exports</c:v>
          </c:tx>
          <c:spPr>
            <a:solidFill xmlns:a="http://schemas.openxmlformats.org/drawingml/2006/main">
              <a:srgbClr val="173C66"/>
            </a:solidFill>
          </c:spPr>
          <c:invertIfNegative val="0"/>
          <c:cat>
            <c:strRef>
              <c:f>'Chart Data'!$C$2:$C$8</c:f>
              <c:strCache>
                <c:ptCount val="7"/>
                <c:pt idx="0">
                  <c:v>FY29E</c:v>
                </c:pt>
                <c:pt idx="1">
                  <c:v>FY30E</c:v>
                </c:pt>
                <c:pt idx="2">
                  <c:v>FY31E</c:v>
                </c:pt>
                <c:pt idx="3">
                  <c:v>FY32E</c:v>
                </c:pt>
                <c:pt idx="4">
                  <c:v>FY33E</c:v>
                </c:pt>
                <c:pt idx="5">
                  <c:v>FY34E</c:v>
                </c:pt>
                <c:pt idx="6">
                  <c:v>FY35E</c:v>
                </c:pt>
              </c:strCache>
            </c:strRef>
          </c:cat>
          <c:val>
            <c:numRef>
              <c:f>'Chart Data'!$D$2:$D$8</c:f>
              <c:numCache>
                <c:formatCode>#,##0.0</c:formatCode>
                <c:ptCount val="7"/>
                <c:pt idx="0">
                  <c:v>0</c:v>
                </c:pt>
                <c:pt idx="1">
                  <c:v>0</c:v>
                </c:pt>
                <c:pt idx="2">
                  <c:v>0</c:v>
                </c:pt>
                <c:pt idx="3">
                  <c:v>0</c:v>
                </c:pt>
                <c:pt idx="4">
                  <c:v>23.4462788904</c:v>
                </c:pt>
                <c:pt idx="5">
                  <c:v>67.0570375686</c:v>
                </c:pt>
                <c:pt idx="6">
                  <c:v>153.999329766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inEnd"/>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4W JV value at selected assumptions (INR  / share)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JV value</c:v>
          </c:tx>
          <c:spPr>
            <a:solidFill xmlns:a="http://schemas.openxmlformats.org/drawingml/2006/main">
              <a:srgbClr val="009DDA"/>
            </a:solidFill>
          </c:spPr>
          <c:invertIfNegative val="0"/>
          <c:cat>
            <c:strRef>
              <c:f>'Chart Data'!$A$2:$A$4</c:f>
              <c:strCache>
                <c:ptCount val="3"/>
                <c:pt idx="0">
                  <c:v>25% share / no exports</c:v>
                </c:pt>
                <c:pt idx="1">
                  <c:v>35% share / 30% exports</c:v>
                </c:pt>
                <c:pt idx="2">
                  <c:v>50% share / 83% exports</c:v>
                </c:pt>
              </c:strCache>
            </c:strRef>
          </c:cat>
          <c:val>
            <c:numRef>
              <c:f>'Chart Data'!$B$2:$B$4</c:f>
              <c:numCache>
                <c:formatCode>General</c:formatCode>
                <c:ptCount val="3"/>
                <c:pt idx="0">
                  <c:v>47.5331062703</c:v>
                </c:pt>
                <c:pt idx="1">
                  <c:v>90.5030343386</c:v>
                </c:pt>
                <c:pt idx="2">
                  <c:v>189.752160231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Railway growth forecast</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lineChart>
        <c:grouping val="standard"/>
        <c:varyColors val="0"/>
        <c:ser>
          <c:idx val="0"/>
          <c:order val="0"/>
          <c:tx>
            <c:v>YoY growth</c:v>
          </c:tx>
          <c:spPr>
            <a:ln xmlns:a="http://schemas.openxmlformats.org/drawingml/2006/main" w="33338">
              <a:solidFill>
                <a:srgbClr val="009DDA"/>
              </a:solidFill>
              <a:prstDash val="solid"/>
            </a:ln>
          </c:spPr>
          <c:marker>
            <c:symbol val="circle"/>
            <c:size val="7"/>
            <c:spPr>
              <a:solidFill xmlns:a="http://schemas.openxmlformats.org/drawingml/2006/main">
                <a:srgbClr val="009DDA"/>
              </a:solidFill>
            </c:spPr>
          </c:marker>
          <c:cat>
            <c:strRef>
              <c:f>'Chart Data'!$A$2:$A$5</c:f>
              <c:strCache>
                <c:ptCount val="4"/>
                <c:pt idx="0">
                  <c:v>FY27E</c:v>
                </c:pt>
                <c:pt idx="1">
                  <c:v>FY28E</c:v>
                </c:pt>
                <c:pt idx="2">
                  <c:v>FY29E</c:v>
                </c:pt>
                <c:pt idx="3">
                  <c:v>FY30E</c:v>
                </c:pt>
              </c:strCache>
            </c:strRef>
          </c:cat>
          <c:val>
            <c:numRef>
              <c:f>'Chart Data'!$B$2:$B$5</c:f>
              <c:numCache>
                <c:formatCode>0%</c:formatCode>
                <c:ptCount val="4"/>
                <c:pt idx="0">
                  <c:v>0.4</c:v>
                </c:pt>
                <c:pt idx="1">
                  <c:v>0.15</c:v>
                </c:pt>
                <c:pt idx="2">
                  <c:v>0.07</c:v>
                </c:pt>
                <c:pt idx="3">
                  <c:v>0.07</c:v>
                </c:pt>
              </c:numCache>
            </c:numRef>
          </c:val>
          <c:smooth val="0"/>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009DDA"/>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Sensors / software (INR m)</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col"/>
        <c:grouping val="clustered"/>
        <c:varyColors val="0"/>
        <c:ser>
          <c:idx val="0"/>
          <c:order val="0"/>
          <c:tx>
            <c:v>Sensors / software</c:v>
          </c:tx>
          <c:spPr>
            <a:solidFill xmlns:a="http://schemas.openxmlformats.org/drawingml/2006/main">
              <a:srgbClr val="17867F"/>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889.892</c:v>
                </c:pt>
                <c:pt idx="1">
                  <c:v>947.198383523</c:v>
                </c:pt>
                <c:pt idx="2">
                  <c:v>933.666978045</c:v>
                </c:pt>
                <c:pt idx="3">
                  <c:v>894.764187293</c:v>
                </c:pt>
                <c:pt idx="4">
                  <c:v>823.183052309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Disclosed order book, Q1 FY27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Entire vertical</c:v>
          </c:tx>
          <c:spPr>
            <a:solidFill xmlns:a="http://schemas.openxmlformats.org/drawingml/2006/main">
              <a:srgbClr val="17867F"/>
            </a:solidFill>
          </c:spPr>
          <c:invertIfNegative val="0"/>
          <c:cat>
            <c:strRef>
              <c:f>'Chart Data'!$A$2:$A$2</c:f>
              <c:strCache>
                <c:ptCount val="1"/>
                <c:pt idx="0">
                  <c:v>Robotics &amp; Physical AI</c:v>
                </c:pt>
              </c:strCache>
            </c:strRef>
          </c:cat>
          <c:val>
            <c:numRef>
              <c:f>'Chart Data'!$B$2:$B$2</c:f>
              <c:numCache>
                <c:formatCode>#,##0.0</c:formatCode>
                <c:ptCount val="1"/>
                <c:pt idx="0">
                  <c:v>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3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FY28E EPS sensitivity to EBITDA margin (INR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EPS</c:v>
          </c:tx>
          <c:spPr>
            <a:solidFill xmlns:a="http://schemas.openxmlformats.org/drawingml/2006/main">
              <a:srgbClr val="009DDA"/>
            </a:solidFill>
          </c:spPr>
          <c:invertIfNegative val="0"/>
          <c:cat>
            <c:strRef>
              <c:f>'Chart Data'!$A$2:$A$4</c:f>
              <c:strCache>
                <c:ptCount val="3"/>
                <c:pt idx="0">
                  <c:v>22.0% margin</c:v>
                </c:pt>
                <c:pt idx="1">
                  <c:v>24.5% base margin</c:v>
                </c:pt>
                <c:pt idx="2">
                  <c:v>26.0% margin</c:v>
                </c:pt>
              </c:strCache>
            </c:strRef>
          </c:cat>
          <c:val>
            <c:numRef>
              <c:f>'Chart Data'!$B$2:$B$4</c:f>
              <c:numCache>
                <c:formatCode>General</c:formatCode>
                <c:ptCount val="3"/>
                <c:pt idx="0">
                  <c:v>15.387180872</c:v>
                </c:pt>
                <c:pt idx="1">
                  <c:v>17.4827499642</c:v>
                </c:pt>
                <c:pt idx="2">
                  <c:v>18.7400914195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FY26 revenue basis (INR bn)</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Revenue</c:v>
          </c:tx>
          <c:spPr>
            <a:solidFill xmlns:a="http://schemas.openxmlformats.org/drawingml/2006/main">
              <a:srgbClr val="173C66"/>
            </a:solidFill>
          </c:spPr>
          <c:invertIfNegative val="0"/>
          <c:cat>
            <c:strRef>
              <c:f>'Chart Data'!$A$2:$A$3</c:f>
              <c:strCache>
                <c:ptCount val="2"/>
                <c:pt idx="0">
                  <c:v>Model operations</c:v>
                </c:pt>
                <c:pt idx="1">
                  <c:v>Company incl. FX</c:v>
                </c:pt>
              </c:strCache>
            </c:strRef>
          </c:cat>
          <c:val>
            <c:numRef>
              <c:f>'Chart Data'!$B$2:$B$3</c:f>
              <c:numCache>
                <c:formatCode>#,##0.0</c:formatCode>
                <c:ptCount val="2"/>
                <c:pt idx="0">
                  <c:v>44.4946</c:v>
                </c:pt>
                <c:pt idx="1">
                  <c:v>44.751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5C6A78"/>
                </a:solidFill>
                <a:latin typeface="Arial"/>
                <a:ea typeface="Arial"/>
                <a:cs typeface="Aria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Core value at 5% terminal growth (INR  / share)</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Core equity value</c:v>
          </c:tx>
          <c:spPr>
            <a:solidFill xmlns:a="http://schemas.openxmlformats.org/drawingml/2006/main">
              <a:srgbClr val="173C66"/>
            </a:solidFill>
          </c:spPr>
          <c:invertIfNegative val="0"/>
          <c:cat>
            <c:strRef>
              <c:f>'Chart Data'!$A$2:$A$4</c:f>
              <c:strCache>
                <c:ptCount val="3"/>
                <c:pt idx="0">
                  <c:v>10% WACC</c:v>
                </c:pt>
                <c:pt idx="1">
                  <c:v>11% WACC</c:v>
                </c:pt>
                <c:pt idx="2">
                  <c:v>12% WACC</c:v>
                </c:pt>
              </c:strCache>
            </c:strRef>
          </c:cat>
          <c:val>
            <c:numRef>
              <c:f>'Chart Data'!$B$2:$B$4</c:f>
              <c:numCache>
                <c:formatCode>General</c:formatCode>
                <c:ptCount val="3"/>
                <c:pt idx="0">
                  <c:v>800.09075439</c:v>
                </c:pt>
                <c:pt idx="1">
                  <c:v>655.456125353</c:v>
                </c:pt>
                <c:pt idx="2">
                  <c:v>553.031497956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01D2F"/>
                </a:solidFill>
                <a:latin typeface="Arial"/>
                <a:ea typeface="Arial"/>
                <a:cs typeface="Arial"/>
              </a:rPr>
              <a:t>Illustrative FY28E minority profit per Sona share (INR )</a:t>
            </a:r>
          </a:p>
        </c:rich>
      </c:tx>
      <c:overlay val="0"/>
      <c:txPr>
        <a:bodyPr xmlns:a="http://schemas.openxmlformats.org/drawingml/2006/main" anchorCtr="1"/>
        <a:lstStyle xmlns:a="http://schemas.openxmlformats.org/drawingml/2006/main"/>
        <a:p xmlns:a="http://schemas.openxmlformats.org/drawingml/2006/main">
          <a:pPr>
            <a:defRPr sz="1875" b="1">
              <a:solidFill>
                <a:srgbClr val="101D2F"/>
              </a:solidFill>
              <a:latin typeface="Arial"/>
              <a:ea typeface="Arial"/>
              <a:cs typeface="Arial"/>
            </a:defRPr>
          </a:pPr>
        </a:p>
      </c:txPr>
    </c:title>
    <c:plotArea>
      <c:barChart>
        <c:barDir val="bar"/>
        <c:grouping val="clustered"/>
        <c:varyColors val="0"/>
        <c:ser>
          <c:idx val="0"/>
          <c:order val="0"/>
          <c:tx>
            <c:v>NCI profit per share</c:v>
          </c:tx>
          <c:spPr>
            <a:solidFill xmlns:a="http://schemas.openxmlformats.org/drawingml/2006/main">
              <a:srgbClr val="C18B3F"/>
            </a:solidFill>
          </c:spPr>
          <c:invertIfNegative val="0"/>
          <c:cat>
            <c:strRef>
              <c:f>'Chart Data'!$A$2:$A$4</c:f>
              <c:strCache>
                <c:ptCount val="3"/>
                <c:pt idx="0">
                  <c:v>5% net margin</c:v>
                </c:pt>
                <c:pt idx="1">
                  <c:v>10% net margin</c:v>
                </c:pt>
                <c:pt idx="2">
                  <c:v>15% net margin</c:v>
                </c:pt>
              </c:strCache>
            </c:strRef>
          </c:cat>
          <c:val>
            <c:numRef>
              <c:f>'Chart Data'!$B$2:$B$4</c:f>
              <c:numCache>
                <c:formatCode>General</c:formatCode>
                <c:ptCount val="3"/>
                <c:pt idx="0">
                  <c:v>0.382382799988</c:v>
                </c:pt>
                <c:pt idx="1">
                  <c:v>0.764765599976</c:v>
                </c:pt>
                <c:pt idx="2">
                  <c:v>1.14714839996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a:solidFill>
                    <a:srgbClr val="101D2F"/>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C6A78"/>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C6A78"/>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16652CE1-FCF3-46E8-A6A8-B5B5CC791BDA}"/>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A2B5CC74-CD49-4227-8489-E69A741B359E}"/>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Sona Comstar</a:t>
            </a:r>
          </a:p>
        </p:txBody>
      </p:sp>
      <p:sp>
        <p:nvSpPr>
          <p:cNvPr id="3" name="text-2">
            <a:extLst xmlns:a="http://schemas.openxmlformats.org/drawingml/2006/main">
              <a:ext uri="{FF2B5EF4-FFF2-40B4-BE49-F238E27FC236}">
                <a16:creationId xmlns:a16="http://schemas.microsoft.com/office/drawing/2014/main" id="{76897592-4C6A-42BE-908D-2BFDDF0BD6A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Extending the EV runway</a:t>
            </a:r>
          </a:p>
        </p:txBody>
      </p:sp>
      <p:sp>
        <p:nvSpPr>
          <p:cNvPr id="4" name="">
            <a:extLst xmlns:a="http://schemas.openxmlformats.org/drawingml/2006/main">
              <a:ext uri="{FF2B5EF4-FFF2-40B4-BE49-F238E27FC236}">
                <a16:creationId xmlns:a16="http://schemas.microsoft.com/office/drawing/2014/main" id="{7D467972-34B1-48E3-BC9B-D250F2E66B12}"/>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54515628-522F-4FB5-A3A4-6A425DF89ED9}"/>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earnings model, Annual!N67:R126 and DCF!F34:F36</a:t>
            </a:r>
          </a:p>
        </p:txBody>
      </p:sp>
      <p:sp>
        <p:nvSpPr>
          <p:cNvPr id="6" name="text-5">
            <a:extLst xmlns:a="http://schemas.openxmlformats.org/drawingml/2006/main">
              <a:ext uri="{FF2B5EF4-FFF2-40B4-BE49-F238E27FC236}">
                <a16:creationId xmlns:a16="http://schemas.microsoft.com/office/drawing/2014/main" id="{C41AAA8F-8669-47F2-B59D-640E05853619}"/>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a:t>
            </a:r>
          </a:p>
        </p:txBody>
      </p:sp>
      <p:pic>
        <p:nvPicPr>
          <p:cNvPr id="7" name="">
            <a:extLst xmlns:a="http://schemas.openxmlformats.org/drawingml/2006/main">
              <a:ext uri="{FF2B5EF4-FFF2-40B4-BE49-F238E27FC236}">
                <a16:creationId xmlns:a16="http://schemas.microsoft.com/office/drawing/2014/main" id="{355F7D36-5CEA-4D8E-9D3C-358FDA59AAA2}"/>
              </a:ext>
            </a:extLst>
          </p:cNvPr>
          <p:cNvPicPr>
            <a:picLocks xmlns:a="http://schemas.openxmlformats.org/drawingml/2006/main" noChangeAspect="1"/>
          </p:cNvPicPr>
          <p:nvPr/>
        </p:nvPicPr>
        <p:blipFill>
          <a:blip xmlns:r="http://schemas.openxmlformats.org/officeDocument/2006/relationships" xmlns:a="http://schemas.openxmlformats.org/drawingml/2006/main" r:embed="Rbc765e0c37da4a8c"/>
          <a:stretch xmlns:a="http://schemas.openxmlformats.org/drawingml/2006/main"/>
        </p:blipFill>
        <p:spPr>
          <a:xfrm xmlns:a="http://schemas.openxmlformats.org/drawingml/2006/main">
            <a:off x="12001500" y="279106"/>
            <a:ext cx="2190750" cy="527637"/>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A6C6FEFB-CDEE-4F9D-B903-025530276D0B}"/>
              </a:ext>
            </a:extLst>
          </p:cNvPr>
          <p:cNvSpPr>
            <a:spLocks xmlns:a="http://schemas.openxmlformats.org/drawingml/2006/main" noGrp="1"/>
          </p:cNvSpPr>
          <p:nvPr/>
        </p:nvSpPr>
        <p:spPr>
          <a:xfrm xmlns:a="http://schemas.openxmlformats.org/drawingml/2006/main">
            <a:off x="647700" y="2667000"/>
            <a:ext cx="7334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101D2F"/>
                </a:solidFill>
                <a:latin typeface="Arial"/>
                <a:ea typeface="Arial"/>
                <a:cs typeface="Arial"/>
              </a:defRPr>
            </a:defPPr>
            <a:lvl1pPr algn="l">
              <a:defRPr sz="4125" b="1">
                <a:solidFill>
                  <a:srgbClr val="101D2F"/>
                </a:solidFill>
                <a:latin typeface="Arial"/>
                <a:ea typeface="Arial"/>
                <a:cs typeface="Arial"/>
              </a:defRPr>
            </a:lvl1pPr>
            <a:lvl2pPr algn="l">
              <a:defRPr sz="4125" b="1">
                <a:solidFill>
                  <a:srgbClr val="101D2F"/>
                </a:solidFill>
                <a:latin typeface="Arial"/>
                <a:ea typeface="Arial"/>
                <a:cs typeface="Arial"/>
              </a:defRPr>
            </a:lvl2pPr>
            <a:lvl3pPr algn="l">
              <a:defRPr sz="4125" b="1">
                <a:solidFill>
                  <a:srgbClr val="101D2F"/>
                </a:solidFill>
                <a:latin typeface="Arial"/>
                <a:ea typeface="Arial"/>
                <a:cs typeface="Arial"/>
              </a:defRPr>
            </a:lvl3pPr>
            <a:lvl4pPr algn="l">
              <a:defRPr sz="4125" b="1">
                <a:solidFill>
                  <a:srgbClr val="101D2F"/>
                </a:solidFill>
                <a:latin typeface="Arial"/>
                <a:ea typeface="Arial"/>
                <a:cs typeface="Arial"/>
              </a:defRPr>
            </a:lvl4pPr>
            <a:lvl5pPr algn="l">
              <a:defRPr sz="4125" b="1">
                <a:solidFill>
                  <a:srgbClr val="101D2F"/>
                </a:solidFill>
                <a:latin typeface="Arial"/>
                <a:ea typeface="Arial"/>
                <a:cs typeface="Arial"/>
              </a:defRPr>
            </a:lvl5pPr>
            <a:lvl6pPr algn="l">
              <a:defRPr sz="4125" b="1">
                <a:solidFill>
                  <a:srgbClr val="101D2F"/>
                </a:solidFill>
                <a:latin typeface="Arial"/>
                <a:ea typeface="Arial"/>
                <a:cs typeface="Arial"/>
              </a:defRPr>
            </a:lvl6pPr>
            <a:lvl7pPr algn="l">
              <a:defRPr sz="4125" b="1">
                <a:solidFill>
                  <a:srgbClr val="101D2F"/>
                </a:solidFill>
                <a:latin typeface="Arial"/>
                <a:ea typeface="Arial"/>
                <a:cs typeface="Arial"/>
              </a:defRPr>
            </a:lvl7pPr>
            <a:lvl8pPr algn="l">
              <a:defRPr sz="4125" b="1">
                <a:solidFill>
                  <a:srgbClr val="101D2F"/>
                </a:solidFill>
                <a:latin typeface="Arial"/>
                <a:ea typeface="Arial"/>
                <a:cs typeface="Arial"/>
              </a:defRPr>
            </a:lvl8pPr>
            <a:lvl9pPr algn="l">
              <a:defRPr sz="4125" b="1">
                <a:solidFill>
                  <a:srgbClr val="101D2F"/>
                </a:solidFill>
                <a:latin typeface="Arial"/>
                <a:ea typeface="Arial"/>
                <a:cs typeface="Arial"/>
              </a:defRPr>
            </a:lvl9pPr>
          </a:lstStyle>
          <a:p xmlns:a="http://schemas.openxmlformats.org/drawingml/2006/main">
            <a:pPr algn="l">
              <a:defRPr sz="4125" b="1">
                <a:solidFill>
                  <a:srgbClr val="101D2F"/>
                </a:solidFill>
                <a:latin typeface="Arial"/>
                <a:ea typeface="Arial"/>
                <a:cs typeface="Arial"/>
              </a:defRPr>
            </a:pPr>
            <a:r>
              <a:rPr sz="4125" b="1">
                <a:solidFill>
                  <a:srgbClr val="101D2F"/>
                </a:solidFill>
                <a:latin typeface="Arial"/>
                <a:ea typeface="Arial"/>
                <a:cs typeface="Arial"/>
              </a:rPr>
              <a:t>More EV content.</a:t>
            </a:r>
          </a:p>
          <a:p xmlns:a="http://schemas.openxmlformats.org/drawingml/2006/main">
            <a:pPr algn="l">
              <a:defRPr sz="4125" b="1">
                <a:solidFill>
                  <a:srgbClr val="101D2F"/>
                </a:solidFill>
                <a:latin typeface="Arial"/>
                <a:ea typeface="Arial"/>
                <a:cs typeface="Arial"/>
              </a:defRPr>
            </a:pPr>
            <a:r>
              <a:rPr sz="4125" b="1">
                <a:solidFill>
                  <a:srgbClr val="101D2F"/>
                </a:solidFill>
                <a:latin typeface="Arial"/>
                <a:ea typeface="Arial"/>
                <a:cs typeface="Arial"/>
              </a:rPr>
              <a:t>More programs.</a:t>
            </a:r>
          </a:p>
          <a:p xmlns:a="http://schemas.openxmlformats.org/drawingml/2006/main">
            <a:pPr algn="l">
              <a:defRPr sz="4125" b="1">
                <a:solidFill>
                  <a:srgbClr val="101D2F"/>
                </a:solidFill>
                <a:latin typeface="Arial"/>
                <a:ea typeface="Arial"/>
                <a:cs typeface="Arial"/>
              </a:defRPr>
            </a:pPr>
            <a:r>
              <a:rPr sz="4125" b="1">
                <a:solidFill>
                  <a:srgbClr val="101D2F"/>
                </a:solidFill>
                <a:latin typeface="Arial"/>
                <a:ea typeface="Arial"/>
                <a:cs typeface="Arial"/>
              </a:rPr>
              <a:t>A longer growth runway.</a:t>
            </a:r>
          </a:p>
        </p:txBody>
      </p:sp>
      <p:graphicFrame>
        <p:nvGraphicFramePr>
          <p:cNvPr id="9" name="Chart">
            <a:extLst xmlns:a="http://schemas.openxmlformats.org/drawingml/2006/main">
              <a:ext uri="{FF2B5EF4-FFF2-40B4-BE49-F238E27FC236}">
                <a16:creationId xmlns:a16="http://schemas.microsoft.com/office/drawing/2014/main" id="{B8D481D8-9D96-460F-BB4D-DB467FB64B0B}"/>
              </a:ext>
            </a:extLst>
          </p:cNvPr>
          <p:cNvGraphicFramePr/>
          <p:nvPr/>
        </p:nvGraphicFramePr>
        <p:xfrm>
          <a:off xmlns:a="http://schemas.openxmlformats.org/drawingml/2006/main" x="8572500" y="2552700"/>
          <a:ext xmlns:a="http://schemas.openxmlformats.org/drawingml/2006/main" cx="5953125" cy="3810000"/>
        </p:xfrm>
        <a:graphic xmlns:a="http://schemas.openxmlformats.org/drawingml/2006/main">
          <a:graphicData uri="http://schemas.openxmlformats.org/drawingml/2006/chart">
            <c:chart xmlns:r="http://schemas.openxmlformats.org/officeDocument/2006/relationships" xmlns:c="http://schemas.openxmlformats.org/drawingml/2006/chart" r:id="R6d05a02838a44527"/>
          </a:graphicData>
        </a:graphic>
      </p:graphicFrame>
      <p:sp>
        <p:nvSpPr>
          <p:cNvPr id="10" name="text-7">
            <a:extLst xmlns:a="http://schemas.openxmlformats.org/drawingml/2006/main">
              <a:ext uri="{FF2B5EF4-FFF2-40B4-BE49-F238E27FC236}">
                <a16:creationId xmlns:a16="http://schemas.microsoft.com/office/drawing/2014/main" id="{554F8CF2-806A-422F-9D4F-E40B8E87D008}"/>
              </a:ext>
            </a:extLst>
          </p:cNvPr>
          <p:cNvSpPr>
            <a:spLocks xmlns:a="http://schemas.openxmlformats.org/drawingml/2006/main" noGrp="1"/>
          </p:cNvSpPr>
          <p:nvPr/>
        </p:nvSpPr>
        <p:spPr>
          <a:xfrm xmlns:a="http://schemas.openxmlformats.org/drawingml/2006/main">
            <a:off x="647700" y="5695950"/>
            <a:ext cx="361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20%</a:t>
            </a:r>
          </a:p>
        </p:txBody>
      </p:sp>
      <p:sp>
        <p:nvSpPr>
          <p:cNvPr id="11" name="text-8">
            <a:extLst xmlns:a="http://schemas.openxmlformats.org/drawingml/2006/main">
              <a:ext uri="{FF2B5EF4-FFF2-40B4-BE49-F238E27FC236}">
                <a16:creationId xmlns:a16="http://schemas.microsoft.com/office/drawing/2014/main" id="{EB2324A2-865E-43BB-955D-19C00D852C88}"/>
              </a:ext>
            </a:extLst>
          </p:cNvPr>
          <p:cNvSpPr>
            <a:spLocks xmlns:a="http://schemas.openxmlformats.org/drawingml/2006/main" noGrp="1"/>
          </p:cNvSpPr>
          <p:nvPr/>
        </p:nvSpPr>
        <p:spPr>
          <a:xfrm xmlns:a="http://schemas.openxmlformats.org/drawingml/2006/main">
            <a:off x="647700" y="64103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Revenue CAGR, FY26–30E</a:t>
            </a:r>
          </a:p>
        </p:txBody>
      </p:sp>
      <p:sp>
        <p:nvSpPr>
          <p:cNvPr id="12" name="text-9">
            <a:extLst xmlns:a="http://schemas.openxmlformats.org/drawingml/2006/main">
              <a:ext uri="{FF2B5EF4-FFF2-40B4-BE49-F238E27FC236}">
                <a16:creationId xmlns:a16="http://schemas.microsoft.com/office/drawing/2014/main" id="{8190BE4A-FCC9-4CE1-A2E5-6C03541D4DB4}"/>
              </a:ext>
            </a:extLst>
          </p:cNvPr>
          <p:cNvSpPr>
            <a:spLocks xmlns:a="http://schemas.openxmlformats.org/drawingml/2006/main" noGrp="1"/>
          </p:cNvSpPr>
          <p:nvPr/>
        </p:nvSpPr>
        <p:spPr>
          <a:xfrm xmlns:a="http://schemas.openxmlformats.org/drawingml/2006/main">
            <a:off x="4667250" y="5695950"/>
            <a:ext cx="3714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21%</a:t>
            </a:r>
          </a:p>
        </p:txBody>
      </p:sp>
      <p:sp>
        <p:nvSpPr>
          <p:cNvPr id="13" name="text-10">
            <a:extLst xmlns:a="http://schemas.openxmlformats.org/drawingml/2006/main">
              <a:ext uri="{FF2B5EF4-FFF2-40B4-BE49-F238E27FC236}">
                <a16:creationId xmlns:a16="http://schemas.microsoft.com/office/drawing/2014/main" id="{5FF3E6A2-A248-403D-92DE-D7413E1C0753}"/>
              </a:ext>
            </a:extLst>
          </p:cNvPr>
          <p:cNvSpPr>
            <a:spLocks xmlns:a="http://schemas.openxmlformats.org/drawingml/2006/main" noGrp="1"/>
          </p:cNvSpPr>
          <p:nvPr/>
        </p:nvSpPr>
        <p:spPr>
          <a:xfrm xmlns:a="http://schemas.openxmlformats.org/drawingml/2006/main">
            <a:off x="4667250" y="64103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EPS CAGR, FY27–30E</a:t>
            </a:r>
          </a:p>
        </p:txBody>
      </p:sp>
      <p:sp>
        <p:nvSpPr>
          <p:cNvPr id="14" name="text-11">
            <a:extLst xmlns:a="http://schemas.openxmlformats.org/drawingml/2006/main">
              <a:ext uri="{FF2B5EF4-FFF2-40B4-BE49-F238E27FC236}">
                <a16:creationId xmlns:a16="http://schemas.microsoft.com/office/drawing/2014/main" id="{05E51A2D-A8FC-4959-B433-3E5BF67B4B73}"/>
              </a:ext>
            </a:extLst>
          </p:cNvPr>
          <p:cNvSpPr>
            <a:spLocks xmlns:a="http://schemas.openxmlformats.org/drawingml/2006/main" noGrp="1"/>
          </p:cNvSpPr>
          <p:nvPr/>
        </p:nvSpPr>
        <p:spPr>
          <a:xfrm xmlns:a="http://schemas.openxmlformats.org/drawingml/2006/main">
            <a:off x="8858250" y="6477000"/>
            <a:ext cx="552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INR 850</a:t>
            </a:r>
          </a:p>
        </p:txBody>
      </p:sp>
      <p:sp>
        <p:nvSpPr>
          <p:cNvPr id="15" name="text-12">
            <a:extLst xmlns:a="http://schemas.openxmlformats.org/drawingml/2006/main">
              <a:ext uri="{FF2B5EF4-FFF2-40B4-BE49-F238E27FC236}">
                <a16:creationId xmlns:a16="http://schemas.microsoft.com/office/drawing/2014/main" id="{2A6214C7-180A-47D1-A88F-CE9E838D48ED}"/>
              </a:ext>
            </a:extLst>
          </p:cNvPr>
          <p:cNvSpPr>
            <a:spLocks xmlns:a="http://schemas.openxmlformats.org/drawingml/2006/main" noGrp="1"/>
          </p:cNvSpPr>
          <p:nvPr/>
        </p:nvSpPr>
        <p:spPr>
          <a:xfrm xmlns:a="http://schemas.openxmlformats.org/drawingml/2006/main">
            <a:off x="8858250" y="719137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Model value per share</a:t>
            </a:r>
          </a:p>
        </p:txBody>
      </p:sp>
      <p:sp>
        <p:nvSpPr>
          <p:cNvPr id="16" name="text-13">
            <a:extLst xmlns:a="http://schemas.openxmlformats.org/drawingml/2006/main">
              <a:ext uri="{FF2B5EF4-FFF2-40B4-BE49-F238E27FC236}">
                <a16:creationId xmlns:a16="http://schemas.microsoft.com/office/drawing/2014/main" id="{E0C0693B-E491-4005-92EA-5FF6AC61897D}"/>
              </a:ext>
            </a:extLst>
          </p:cNvPr>
          <p:cNvSpPr>
            <a:spLocks xmlns:a="http://schemas.openxmlformats.org/drawingml/2006/main" noGrp="1"/>
          </p:cNvSpPr>
          <p:nvPr/>
        </p:nvSpPr>
        <p:spPr>
          <a:xfrm xmlns:a="http://schemas.openxmlformats.org/drawingml/2006/main">
            <a:off x="8858250" y="758190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INR 660 core + INR 190 Denso 4W JV</a:t>
            </a:r>
          </a:p>
        </p:txBody>
      </p:sp>
      <p:sp>
        <p:nvSpPr>
          <p:cNvPr id="17" name="text-14">
            <a:extLst xmlns:a="http://schemas.openxmlformats.org/drawingml/2006/main">
              <a:ext uri="{FF2B5EF4-FFF2-40B4-BE49-F238E27FC236}">
                <a16:creationId xmlns:a16="http://schemas.microsoft.com/office/drawing/2014/main" id="{36AC24CE-B0E8-45CA-A219-4E078724A659}"/>
              </a:ext>
            </a:extLst>
          </p:cNvPr>
          <p:cNvSpPr>
            <a:spLocks xmlns:a="http://schemas.openxmlformats.org/drawingml/2006/main" noGrp="1"/>
          </p:cNvSpPr>
          <p:nvPr/>
        </p:nvSpPr>
        <p:spPr>
          <a:xfrm xmlns:a="http://schemas.openxmlformats.org/drawingml/2006/main">
            <a:off x="647700" y="75057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16 October 2026   /   Client discussion</a:t>
            </a:r>
          </a:p>
        </p:txBody>
      </p:sp>
    </p:spTree>
    <p:extLst>
      <p:ext uri="{BB962C8B-B14F-4D97-AF65-F5344CB8AC3E}">
        <p14:creationId xmlns:p14="http://schemas.microsoft.com/office/powerpoint/2010/main" val="523969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71014A80-2833-4199-BE83-17D9E5F662D5}"/>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2BB73EF0-D880-40A6-9F2C-FECBFB3F9C6A}"/>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Electrification is already lifting Sona’s revenue mix</a:t>
            </a:r>
          </a:p>
        </p:txBody>
      </p:sp>
      <p:sp>
        <p:nvSpPr>
          <p:cNvPr id="3" name="text-2">
            <a:extLst xmlns:a="http://schemas.openxmlformats.org/drawingml/2006/main">
              <a:ext uri="{FF2B5EF4-FFF2-40B4-BE49-F238E27FC236}">
                <a16:creationId xmlns:a16="http://schemas.microsoft.com/office/drawing/2014/main" id="{4280C215-878A-4AC2-AE80-5EED9EB1702B}"/>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cyclical recovery supports volumes. Higher content per vehicle extends the opportunity.</a:t>
            </a:r>
          </a:p>
        </p:txBody>
      </p:sp>
      <p:sp>
        <p:nvSpPr>
          <p:cNvPr id="4" name="">
            <a:extLst xmlns:a="http://schemas.openxmlformats.org/drawingml/2006/main">
              <a:ext uri="{FF2B5EF4-FFF2-40B4-BE49-F238E27FC236}">
                <a16:creationId xmlns:a16="http://schemas.microsoft.com/office/drawing/2014/main" id="{F4326158-D1A7-4C82-9080-6CB028396AA1}"/>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72B5704-042E-462B-AC39-7B478A81CB3C}"/>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Q4 FY26 / Q1 FY27 presentations, IR notes</a:t>
            </a:r>
          </a:p>
        </p:txBody>
      </p:sp>
      <p:sp>
        <p:nvSpPr>
          <p:cNvPr id="6" name="text-5">
            <a:extLst xmlns:a="http://schemas.openxmlformats.org/drawingml/2006/main">
              <a:ext uri="{FF2B5EF4-FFF2-40B4-BE49-F238E27FC236}">
                <a16:creationId xmlns:a16="http://schemas.microsoft.com/office/drawing/2014/main" id="{1CB05799-9995-4721-B500-2168FC7242EC}"/>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6612BE00-12A8-4432-945A-E9D30B9859F4}"/>
              </a:ext>
            </a:extLst>
          </p:cNvPr>
          <p:cNvSpPr>
            <a:spLocks xmlns:a="http://schemas.openxmlformats.org/drawingml/2006/main" noGrp="1"/>
          </p:cNvSpPr>
          <p:nvPr/>
        </p:nvSpPr>
        <p:spPr>
          <a:xfrm xmlns:a="http://schemas.openxmlformats.org/drawingml/2006/main">
            <a:off x="647700" y="2686050"/>
            <a:ext cx="7667625" cy="3333750"/>
          </a:xfrm>
          <a:prstGeom xmlns:a="http://schemas.openxmlformats.org/drawingml/2006/main" prst="rect">
            <a:avLst/>
          </a:prstGeom>
          <a:solidFill xmlns:a="http://schemas.openxmlformats.org/drawingml/2006/main">
            <a:srgbClr val="F6F9FB"/>
          </a:solidFill>
          <a:ln xmlns:a="http://schemas.openxmlformats.org/drawingml/2006/main" w="14288">
            <a:solidFill>
              <a:srgbClr val="9EADB9"/>
            </a:solidFill>
            <a:prstDash val="dash"/>
          </a:ln>
        </p:spPr>
      </p:sp>
      <p:sp>
        <p:nvSpPr>
          <p:cNvPr id="8" name="text-7">
            <a:extLst xmlns:a="http://schemas.openxmlformats.org/drawingml/2006/main">
              <a:ext uri="{FF2B5EF4-FFF2-40B4-BE49-F238E27FC236}">
                <a16:creationId xmlns:a16="http://schemas.microsoft.com/office/drawing/2014/main" id="{194BCFD0-8424-4479-A902-AEE9D4368242}"/>
              </a:ext>
            </a:extLst>
          </p:cNvPr>
          <p:cNvSpPr>
            <a:spLocks xmlns:a="http://schemas.openxmlformats.org/drawingml/2006/main" noGrp="1"/>
          </p:cNvSpPr>
          <p:nvPr/>
        </p:nvSpPr>
        <p:spPr>
          <a:xfrm xmlns:a="http://schemas.openxmlformats.org/drawingml/2006/main">
            <a:off x="952500" y="3000375"/>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vl1pPr algn="l">
              <a:defRPr sz="2325" b="1">
                <a:solidFill>
                  <a:srgbClr val="101D2F"/>
                </a:solidFill>
                <a:latin typeface="Arial"/>
                <a:ea typeface="Arial"/>
                <a:cs typeface="Arial"/>
              </a:defRPr>
            </a:lvl1pPr>
            <a:lvl2pPr algn="l">
              <a:defRPr sz="2325" b="1">
                <a:solidFill>
                  <a:srgbClr val="101D2F"/>
                </a:solidFill>
                <a:latin typeface="Arial"/>
                <a:ea typeface="Arial"/>
                <a:cs typeface="Arial"/>
              </a:defRPr>
            </a:lvl2pPr>
            <a:lvl3pPr algn="l">
              <a:defRPr sz="2325" b="1">
                <a:solidFill>
                  <a:srgbClr val="101D2F"/>
                </a:solidFill>
                <a:latin typeface="Arial"/>
                <a:ea typeface="Arial"/>
                <a:cs typeface="Arial"/>
              </a:defRPr>
            </a:lvl3pPr>
            <a:lvl4pPr algn="l">
              <a:defRPr sz="2325" b="1">
                <a:solidFill>
                  <a:srgbClr val="101D2F"/>
                </a:solidFill>
                <a:latin typeface="Arial"/>
                <a:ea typeface="Arial"/>
                <a:cs typeface="Arial"/>
              </a:defRPr>
            </a:lvl4pPr>
            <a:lvl5pPr algn="l">
              <a:defRPr sz="2325" b="1">
                <a:solidFill>
                  <a:srgbClr val="101D2F"/>
                </a:solidFill>
                <a:latin typeface="Arial"/>
                <a:ea typeface="Arial"/>
                <a:cs typeface="Arial"/>
              </a:defRPr>
            </a:lvl5pPr>
            <a:lvl6pPr algn="l">
              <a:defRPr sz="2325" b="1">
                <a:solidFill>
                  <a:srgbClr val="101D2F"/>
                </a:solidFill>
                <a:latin typeface="Arial"/>
                <a:ea typeface="Arial"/>
                <a:cs typeface="Arial"/>
              </a:defRPr>
            </a:lvl6pPr>
            <a:lvl7pPr algn="l">
              <a:defRPr sz="2325" b="1">
                <a:solidFill>
                  <a:srgbClr val="101D2F"/>
                </a:solidFill>
                <a:latin typeface="Arial"/>
                <a:ea typeface="Arial"/>
                <a:cs typeface="Arial"/>
              </a:defRPr>
            </a:lvl7pPr>
            <a:lvl8pPr algn="l">
              <a:defRPr sz="2325" b="1">
                <a:solidFill>
                  <a:srgbClr val="101D2F"/>
                </a:solidFill>
                <a:latin typeface="Arial"/>
                <a:ea typeface="Arial"/>
                <a:cs typeface="Arial"/>
              </a:defRPr>
            </a:lvl8pPr>
            <a:lvl9pPr algn="l">
              <a:defRPr sz="2325" b="1">
                <a:solidFill>
                  <a:srgbClr val="101D2F"/>
                </a:solidFill>
                <a:latin typeface="Arial"/>
                <a:ea typeface="Arial"/>
                <a:cs typeface="Arial"/>
              </a:defRPr>
            </a:lvl9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Global EV growth by region</a:t>
            </a:r>
          </a:p>
        </p:txBody>
      </p:sp>
      <p:sp>
        <p:nvSpPr>
          <p:cNvPr id="9" name="text-8">
            <a:extLst xmlns:a="http://schemas.openxmlformats.org/drawingml/2006/main">
              <a:ext uri="{FF2B5EF4-FFF2-40B4-BE49-F238E27FC236}">
                <a16:creationId xmlns:a16="http://schemas.microsoft.com/office/drawing/2014/main" id="{CFD5CF4D-1163-43E9-BCD4-6F8C3814F3C0}"/>
              </a:ext>
            </a:extLst>
          </p:cNvPr>
          <p:cNvSpPr>
            <a:spLocks xmlns:a="http://schemas.openxmlformats.org/drawingml/2006/main" noGrp="1"/>
          </p:cNvSpPr>
          <p:nvPr/>
        </p:nvSpPr>
        <p:spPr>
          <a:xfrm xmlns:a="http://schemas.openxmlformats.org/drawingml/2006/main">
            <a:off x="952500" y="417195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75" b="0">
                <a:solidFill>
                  <a:srgbClr val="5C6A78"/>
                </a:solidFill>
                <a:latin typeface="Arial"/>
                <a:ea typeface="Arial"/>
                <a:cs typeface="Arial"/>
              </a:defRPr>
            </a:defPPr>
            <a:lvl1pPr algn="ctr">
              <a:defRPr sz="2175" b="0">
                <a:solidFill>
                  <a:srgbClr val="5C6A78"/>
                </a:solidFill>
                <a:latin typeface="Arial"/>
                <a:ea typeface="Arial"/>
                <a:cs typeface="Arial"/>
              </a:defRPr>
            </a:lvl1pPr>
            <a:lvl2pPr algn="ctr">
              <a:defRPr sz="2175" b="0">
                <a:solidFill>
                  <a:srgbClr val="5C6A78"/>
                </a:solidFill>
                <a:latin typeface="Arial"/>
                <a:ea typeface="Arial"/>
                <a:cs typeface="Arial"/>
              </a:defRPr>
            </a:lvl2pPr>
            <a:lvl3pPr algn="ctr">
              <a:defRPr sz="2175" b="0">
                <a:solidFill>
                  <a:srgbClr val="5C6A78"/>
                </a:solidFill>
                <a:latin typeface="Arial"/>
                <a:ea typeface="Arial"/>
                <a:cs typeface="Arial"/>
              </a:defRPr>
            </a:lvl3pPr>
            <a:lvl4pPr algn="ctr">
              <a:defRPr sz="2175" b="0">
                <a:solidFill>
                  <a:srgbClr val="5C6A78"/>
                </a:solidFill>
                <a:latin typeface="Arial"/>
                <a:ea typeface="Arial"/>
                <a:cs typeface="Arial"/>
              </a:defRPr>
            </a:lvl4pPr>
            <a:lvl5pPr algn="ctr">
              <a:defRPr sz="2175" b="0">
                <a:solidFill>
                  <a:srgbClr val="5C6A78"/>
                </a:solidFill>
                <a:latin typeface="Arial"/>
                <a:ea typeface="Arial"/>
                <a:cs typeface="Arial"/>
              </a:defRPr>
            </a:lvl5pPr>
            <a:lvl6pPr algn="ctr">
              <a:defRPr sz="2175" b="0">
                <a:solidFill>
                  <a:srgbClr val="5C6A78"/>
                </a:solidFill>
                <a:latin typeface="Arial"/>
                <a:ea typeface="Arial"/>
                <a:cs typeface="Arial"/>
              </a:defRPr>
            </a:lvl6pPr>
            <a:lvl7pPr algn="ctr">
              <a:defRPr sz="2175" b="0">
                <a:solidFill>
                  <a:srgbClr val="5C6A78"/>
                </a:solidFill>
                <a:latin typeface="Arial"/>
                <a:ea typeface="Arial"/>
                <a:cs typeface="Arial"/>
              </a:defRPr>
            </a:lvl7pPr>
            <a:lvl8pPr algn="ctr">
              <a:defRPr sz="2175" b="0">
                <a:solidFill>
                  <a:srgbClr val="5C6A78"/>
                </a:solidFill>
                <a:latin typeface="Arial"/>
                <a:ea typeface="Arial"/>
                <a:cs typeface="Arial"/>
              </a:defRPr>
            </a:lvl8pPr>
            <a:lvl9pPr algn="ctr">
              <a:defRPr sz="2175" b="0">
                <a:solidFill>
                  <a:srgbClr val="5C6A78"/>
                </a:solidFill>
                <a:latin typeface="Arial"/>
                <a:ea typeface="Arial"/>
                <a:cs typeface="Arial"/>
              </a:defRPr>
            </a:lvl9pPr>
          </a:lstStyle>
          <a:p xmlns:a="http://schemas.openxmlformats.org/drawingml/2006/main">
            <a:pPr algn="ctr">
              <a:defRPr sz="2175" b="0">
                <a:solidFill>
                  <a:srgbClr val="5C6A78"/>
                </a:solidFill>
                <a:latin typeface="Arial"/>
                <a:ea typeface="Arial"/>
                <a:cs typeface="Arial"/>
              </a:defRPr>
            </a:pPr>
            <a:r>
              <a:rPr sz="2175" b="0">
                <a:solidFill>
                  <a:srgbClr val="5C6A78"/>
                </a:solidFill>
                <a:latin typeface="Arial"/>
                <a:ea typeface="Arial"/>
                <a:cs typeface="Arial"/>
              </a:rPr>
              <a:t>Reserved for your updated chart</a:t>
            </a:r>
          </a:p>
        </p:txBody>
      </p:sp>
      <p:sp>
        <p:nvSpPr>
          <p:cNvPr id="10" name="text-9">
            <a:extLst xmlns:a="http://schemas.openxmlformats.org/drawingml/2006/main">
              <a:ext uri="{FF2B5EF4-FFF2-40B4-BE49-F238E27FC236}">
                <a16:creationId xmlns:a16="http://schemas.microsoft.com/office/drawing/2014/main" id="{B4B7BB63-E355-462C-90D9-94118249F80E}"/>
              </a:ext>
            </a:extLst>
          </p:cNvPr>
          <p:cNvSpPr>
            <a:spLocks xmlns:a="http://schemas.openxmlformats.org/drawingml/2006/main" noGrp="1"/>
          </p:cNvSpPr>
          <p:nvPr/>
        </p:nvSpPr>
        <p:spPr>
          <a:xfrm xmlns:a="http://schemas.openxmlformats.org/drawingml/2006/main">
            <a:off x="952500" y="5238750"/>
            <a:ext cx="695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C6A78"/>
                </a:solidFill>
                <a:latin typeface="Arial"/>
                <a:ea typeface="Arial"/>
                <a:cs typeface="Arial"/>
              </a:defRPr>
            </a:defPPr>
            <a:lvl1pPr algn="ctr">
              <a:defRPr sz="1650" b="0">
                <a:solidFill>
                  <a:srgbClr val="5C6A78"/>
                </a:solidFill>
                <a:latin typeface="Arial"/>
                <a:ea typeface="Arial"/>
                <a:cs typeface="Arial"/>
              </a:defRPr>
            </a:lvl1pPr>
            <a:lvl2pPr algn="ctr">
              <a:defRPr sz="1650" b="0">
                <a:solidFill>
                  <a:srgbClr val="5C6A78"/>
                </a:solidFill>
                <a:latin typeface="Arial"/>
                <a:ea typeface="Arial"/>
                <a:cs typeface="Arial"/>
              </a:defRPr>
            </a:lvl2pPr>
            <a:lvl3pPr algn="ctr">
              <a:defRPr sz="1650" b="0">
                <a:solidFill>
                  <a:srgbClr val="5C6A78"/>
                </a:solidFill>
                <a:latin typeface="Arial"/>
                <a:ea typeface="Arial"/>
                <a:cs typeface="Arial"/>
              </a:defRPr>
            </a:lvl3pPr>
            <a:lvl4pPr algn="ctr">
              <a:defRPr sz="1650" b="0">
                <a:solidFill>
                  <a:srgbClr val="5C6A78"/>
                </a:solidFill>
                <a:latin typeface="Arial"/>
                <a:ea typeface="Arial"/>
                <a:cs typeface="Arial"/>
              </a:defRPr>
            </a:lvl4pPr>
            <a:lvl5pPr algn="ctr">
              <a:defRPr sz="1650" b="0">
                <a:solidFill>
                  <a:srgbClr val="5C6A78"/>
                </a:solidFill>
                <a:latin typeface="Arial"/>
                <a:ea typeface="Arial"/>
                <a:cs typeface="Arial"/>
              </a:defRPr>
            </a:lvl5pPr>
            <a:lvl6pPr algn="ctr">
              <a:defRPr sz="1650" b="0">
                <a:solidFill>
                  <a:srgbClr val="5C6A78"/>
                </a:solidFill>
                <a:latin typeface="Arial"/>
                <a:ea typeface="Arial"/>
                <a:cs typeface="Arial"/>
              </a:defRPr>
            </a:lvl6pPr>
            <a:lvl7pPr algn="ctr">
              <a:defRPr sz="1650" b="0">
                <a:solidFill>
                  <a:srgbClr val="5C6A78"/>
                </a:solidFill>
                <a:latin typeface="Arial"/>
                <a:ea typeface="Arial"/>
                <a:cs typeface="Arial"/>
              </a:defRPr>
            </a:lvl7pPr>
            <a:lvl8pPr algn="ctr">
              <a:defRPr sz="1650" b="0">
                <a:solidFill>
                  <a:srgbClr val="5C6A78"/>
                </a:solidFill>
                <a:latin typeface="Arial"/>
                <a:ea typeface="Arial"/>
                <a:cs typeface="Arial"/>
              </a:defRPr>
            </a:lvl8pPr>
            <a:lvl9pPr algn="ctr">
              <a:defRPr sz="1650" b="0">
                <a:solidFill>
                  <a:srgbClr val="5C6A78"/>
                </a:solidFill>
                <a:latin typeface="Arial"/>
                <a:ea typeface="Arial"/>
                <a:cs typeface="Arial"/>
              </a:defRPr>
            </a:lvl9pPr>
          </a:lstStyle>
          <a:p xmlns:a="http://schemas.openxmlformats.org/drawingml/2006/main">
            <a:pPr algn="ctr">
              <a:defRPr sz="1650" b="0">
                <a:solidFill>
                  <a:srgbClr val="5C6A78"/>
                </a:solidFill>
                <a:latin typeface="Arial"/>
                <a:ea typeface="Arial"/>
                <a:cs typeface="Arial"/>
              </a:defRPr>
            </a:pPr>
            <a:r>
              <a:rPr sz="1650" b="0">
                <a:solidFill>
                  <a:srgbClr val="5C6A78"/>
                </a:solidFill>
                <a:latin typeface="Arial"/>
                <a:ea typeface="Arial"/>
                <a:cs typeface="Arial"/>
              </a:rPr>
              <a:t>India / Europe / China / North America</a:t>
            </a:r>
          </a:p>
        </p:txBody>
      </p:sp>
      <p:graphicFrame>
        <p:nvGraphicFramePr>
          <p:cNvPr id="11" name="Chart">
            <a:extLst xmlns:a="http://schemas.openxmlformats.org/drawingml/2006/main">
              <a:ext uri="{FF2B5EF4-FFF2-40B4-BE49-F238E27FC236}">
                <a16:creationId xmlns:a16="http://schemas.microsoft.com/office/drawing/2014/main" id="{97FCF010-4761-48C3-A5E1-92000D22C376}"/>
              </a:ext>
            </a:extLst>
          </p:cNvPr>
          <p:cNvGraphicFramePr/>
          <p:nvPr/>
        </p:nvGraphicFramePr>
        <p:xfrm>
          <a:off xmlns:a="http://schemas.openxmlformats.org/drawingml/2006/main" x="8858250" y="2667000"/>
          <a:ext xmlns:a="http://schemas.openxmlformats.org/drawingml/2006/main" cx="5762625" cy="3476625"/>
        </p:xfrm>
        <a:graphic xmlns:a="http://schemas.openxmlformats.org/drawingml/2006/main">
          <a:graphicData uri="http://schemas.openxmlformats.org/drawingml/2006/chart">
            <c:chart xmlns:r="http://schemas.openxmlformats.org/officeDocument/2006/relationships" xmlns:c="http://schemas.openxmlformats.org/drawingml/2006/chart" r:id="Ra3c45c4f632d41c7"/>
          </a:graphicData>
        </a:graphic>
      </p:graphicFrame>
      <p:sp>
        <p:nvSpPr>
          <p:cNvPr id="12" name="text-10">
            <a:extLst xmlns:a="http://schemas.openxmlformats.org/drawingml/2006/main">
              <a:ext uri="{FF2B5EF4-FFF2-40B4-BE49-F238E27FC236}">
                <a16:creationId xmlns:a16="http://schemas.microsoft.com/office/drawing/2014/main" id="{36EC9DC2-A0BD-4AB7-B61E-C6DCCD65C6A8}"/>
              </a:ext>
            </a:extLst>
          </p:cNvPr>
          <p:cNvSpPr>
            <a:spLocks xmlns:a="http://schemas.openxmlformats.org/drawingml/2006/main" noGrp="1"/>
          </p:cNvSpPr>
          <p:nvPr/>
        </p:nvSpPr>
        <p:spPr>
          <a:xfrm xmlns:a="http://schemas.openxmlformats.org/drawingml/2006/main">
            <a:off x="9258300" y="63817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009DDA"/>
                </a:solidFill>
                <a:latin typeface="Arial"/>
                <a:ea typeface="Arial"/>
                <a:cs typeface="Arial"/>
              </a:defRPr>
            </a:defPPr>
            <a:lvl1pPr algn="l">
              <a:defRPr sz="4350" b="1">
                <a:solidFill>
                  <a:srgbClr val="009DDA"/>
                </a:solidFill>
                <a:latin typeface="Arial"/>
                <a:ea typeface="Arial"/>
                <a:cs typeface="Arial"/>
              </a:defRPr>
            </a:lvl1pPr>
            <a:lvl2pPr algn="l">
              <a:defRPr sz="4350" b="1">
                <a:solidFill>
                  <a:srgbClr val="009DDA"/>
                </a:solidFill>
                <a:latin typeface="Arial"/>
                <a:ea typeface="Arial"/>
                <a:cs typeface="Arial"/>
              </a:defRPr>
            </a:lvl2pPr>
            <a:lvl3pPr algn="l">
              <a:defRPr sz="4350" b="1">
                <a:solidFill>
                  <a:srgbClr val="009DDA"/>
                </a:solidFill>
                <a:latin typeface="Arial"/>
                <a:ea typeface="Arial"/>
                <a:cs typeface="Arial"/>
              </a:defRPr>
            </a:lvl3pPr>
            <a:lvl4pPr algn="l">
              <a:defRPr sz="4350" b="1">
                <a:solidFill>
                  <a:srgbClr val="009DDA"/>
                </a:solidFill>
                <a:latin typeface="Arial"/>
                <a:ea typeface="Arial"/>
                <a:cs typeface="Arial"/>
              </a:defRPr>
            </a:lvl4pPr>
            <a:lvl5pPr algn="l">
              <a:defRPr sz="4350" b="1">
                <a:solidFill>
                  <a:srgbClr val="009DDA"/>
                </a:solidFill>
                <a:latin typeface="Arial"/>
                <a:ea typeface="Arial"/>
                <a:cs typeface="Arial"/>
              </a:defRPr>
            </a:lvl5pPr>
            <a:lvl6pPr algn="l">
              <a:defRPr sz="4350" b="1">
                <a:solidFill>
                  <a:srgbClr val="009DDA"/>
                </a:solidFill>
                <a:latin typeface="Arial"/>
                <a:ea typeface="Arial"/>
                <a:cs typeface="Arial"/>
              </a:defRPr>
            </a:lvl6pPr>
            <a:lvl7pPr algn="l">
              <a:defRPr sz="4350" b="1">
                <a:solidFill>
                  <a:srgbClr val="009DDA"/>
                </a:solidFill>
                <a:latin typeface="Arial"/>
                <a:ea typeface="Arial"/>
                <a:cs typeface="Arial"/>
              </a:defRPr>
            </a:lvl7pPr>
            <a:lvl8pPr algn="l">
              <a:defRPr sz="4350" b="1">
                <a:solidFill>
                  <a:srgbClr val="009DDA"/>
                </a:solidFill>
                <a:latin typeface="Arial"/>
                <a:ea typeface="Arial"/>
                <a:cs typeface="Arial"/>
              </a:defRPr>
            </a:lvl8pPr>
            <a:lvl9pPr algn="l">
              <a:defRPr sz="4350" b="1">
                <a:solidFill>
                  <a:srgbClr val="009DDA"/>
                </a:solidFill>
                <a:latin typeface="Arial"/>
                <a:ea typeface="Arial"/>
                <a:cs typeface="Arial"/>
              </a:defRPr>
            </a:lvl9pPr>
          </a:lstStyle>
          <a:p xmlns:a="http://schemas.openxmlformats.org/drawingml/2006/main">
            <a:pPr algn="l">
              <a:defRPr sz="4350" b="1">
                <a:solidFill>
                  <a:srgbClr val="009DDA"/>
                </a:solidFill>
                <a:latin typeface="Arial"/>
                <a:ea typeface="Arial"/>
                <a:cs typeface="Arial"/>
              </a:defRPr>
            </a:pPr>
            <a:r>
              <a:rPr sz="4350" b="1">
                <a:solidFill>
                  <a:srgbClr val="009DDA"/>
                </a:solidFill>
                <a:latin typeface="Arial"/>
                <a:ea typeface="Arial"/>
                <a:cs typeface="Arial"/>
              </a:rPr>
              <a:t>107%</a:t>
            </a:r>
          </a:p>
        </p:txBody>
      </p:sp>
      <p:sp>
        <p:nvSpPr>
          <p:cNvPr id="13" name="text-11">
            <a:extLst xmlns:a="http://schemas.openxmlformats.org/drawingml/2006/main">
              <a:ext uri="{FF2B5EF4-FFF2-40B4-BE49-F238E27FC236}">
                <a16:creationId xmlns:a16="http://schemas.microsoft.com/office/drawing/2014/main" id="{E330BF75-398E-4D61-876A-349123A4E05A}"/>
              </a:ext>
            </a:extLst>
          </p:cNvPr>
          <p:cNvSpPr>
            <a:spLocks xmlns:a="http://schemas.openxmlformats.org/drawingml/2006/main" noGrp="1"/>
          </p:cNvSpPr>
          <p:nvPr/>
        </p:nvSpPr>
        <p:spPr>
          <a:xfrm xmlns:a="http://schemas.openxmlformats.org/drawingml/2006/main">
            <a:off x="11525250" y="6457950"/>
            <a:ext cx="2905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01D2F"/>
                </a:solidFill>
                <a:latin typeface="Arial"/>
                <a:ea typeface="Arial"/>
                <a:cs typeface="Arial"/>
              </a:defRPr>
            </a:defPPr>
            <a:lvl1pPr algn="l">
              <a:defRPr sz="1950" b="0">
                <a:solidFill>
                  <a:srgbClr val="101D2F"/>
                </a:solidFill>
                <a:latin typeface="Arial"/>
                <a:ea typeface="Arial"/>
                <a:cs typeface="Arial"/>
              </a:defRPr>
            </a:lvl1pPr>
            <a:lvl2pPr algn="l">
              <a:defRPr sz="1950" b="0">
                <a:solidFill>
                  <a:srgbClr val="101D2F"/>
                </a:solidFill>
                <a:latin typeface="Arial"/>
                <a:ea typeface="Arial"/>
                <a:cs typeface="Arial"/>
              </a:defRPr>
            </a:lvl2pPr>
            <a:lvl3pPr algn="l">
              <a:defRPr sz="1950" b="0">
                <a:solidFill>
                  <a:srgbClr val="101D2F"/>
                </a:solidFill>
                <a:latin typeface="Arial"/>
                <a:ea typeface="Arial"/>
                <a:cs typeface="Arial"/>
              </a:defRPr>
            </a:lvl3pPr>
            <a:lvl4pPr algn="l">
              <a:defRPr sz="1950" b="0">
                <a:solidFill>
                  <a:srgbClr val="101D2F"/>
                </a:solidFill>
                <a:latin typeface="Arial"/>
                <a:ea typeface="Arial"/>
                <a:cs typeface="Arial"/>
              </a:defRPr>
            </a:lvl4pPr>
            <a:lvl5pPr algn="l">
              <a:defRPr sz="1950" b="0">
                <a:solidFill>
                  <a:srgbClr val="101D2F"/>
                </a:solidFill>
                <a:latin typeface="Arial"/>
                <a:ea typeface="Arial"/>
                <a:cs typeface="Arial"/>
              </a:defRPr>
            </a:lvl5pPr>
            <a:lvl6pPr algn="l">
              <a:defRPr sz="1950" b="0">
                <a:solidFill>
                  <a:srgbClr val="101D2F"/>
                </a:solidFill>
                <a:latin typeface="Arial"/>
                <a:ea typeface="Arial"/>
                <a:cs typeface="Arial"/>
              </a:defRPr>
            </a:lvl6pPr>
            <a:lvl7pPr algn="l">
              <a:defRPr sz="1950" b="0">
                <a:solidFill>
                  <a:srgbClr val="101D2F"/>
                </a:solidFill>
                <a:latin typeface="Arial"/>
                <a:ea typeface="Arial"/>
                <a:cs typeface="Arial"/>
              </a:defRPr>
            </a:lvl7pPr>
            <a:lvl8pPr algn="l">
              <a:defRPr sz="1950" b="0">
                <a:solidFill>
                  <a:srgbClr val="101D2F"/>
                </a:solidFill>
                <a:latin typeface="Arial"/>
                <a:ea typeface="Arial"/>
                <a:cs typeface="Arial"/>
              </a:defRPr>
            </a:lvl8pPr>
            <a:lvl9pPr algn="l">
              <a:defRPr sz="1950" b="0">
                <a:solidFill>
                  <a:srgbClr val="101D2F"/>
                </a:solidFill>
                <a:latin typeface="Arial"/>
                <a:ea typeface="Arial"/>
                <a:cs typeface="Arial"/>
              </a:defRPr>
            </a:lvl9pPr>
          </a:lstStyle>
          <a:p xmlns:a="http://schemas.openxmlformats.org/drawingml/2006/main">
            <a:pPr algn="l">
              <a:defRPr sz="1950" b="0">
                <a:solidFill>
                  <a:srgbClr val="101D2F"/>
                </a:solidFill>
                <a:latin typeface="Arial"/>
                <a:ea typeface="Arial"/>
                <a:cs typeface="Arial"/>
              </a:defRPr>
            </a:pPr>
            <a:r>
              <a:rPr sz="1950" b="0">
                <a:solidFill>
                  <a:srgbClr val="101D2F"/>
                </a:solidFill>
                <a:latin typeface="Arial"/>
                <a:ea typeface="Arial"/>
                <a:cs typeface="Arial"/>
              </a:rPr>
              <a:t>YoY BEV revenue growth</a:t>
            </a:r>
          </a:p>
          <a:p xmlns:a="http://schemas.openxmlformats.org/drawingml/2006/main">
            <a:pPr algn="l">
              <a:defRPr sz="1950" b="0">
                <a:solidFill>
                  <a:srgbClr val="101D2F"/>
                </a:solidFill>
                <a:latin typeface="Arial"/>
                <a:ea typeface="Arial"/>
                <a:cs typeface="Arial"/>
              </a:defRPr>
            </a:pPr>
            <a:r>
              <a:rPr sz="1950" b="0">
                <a:solidFill>
                  <a:srgbClr val="101D2F"/>
                </a:solidFill>
                <a:latin typeface="Arial"/>
                <a:ea typeface="Arial"/>
                <a:cs typeface="Arial"/>
              </a:rPr>
              <a:t>in Q1 FY27</a:t>
            </a:r>
          </a:p>
        </p:txBody>
      </p:sp>
      <p:sp>
        <p:nvSpPr>
          <p:cNvPr id="14" name="text-12">
            <a:extLst xmlns:a="http://schemas.openxmlformats.org/drawingml/2006/main">
              <a:ext uri="{FF2B5EF4-FFF2-40B4-BE49-F238E27FC236}">
                <a16:creationId xmlns:a16="http://schemas.microsoft.com/office/drawing/2014/main" id="{6D500B85-8DDD-4781-8BF4-D8A5E2D0F7C2}"/>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Exposure expands through differential assemblies, traction motor systems and active suspension.</a:t>
            </a:r>
          </a:p>
        </p:txBody>
      </p:sp>
    </p:spTree>
    <p:extLst>
      <p:ext uri="{BB962C8B-B14F-4D97-AF65-F5344CB8AC3E}">
        <p14:creationId xmlns:p14="http://schemas.microsoft.com/office/powerpoint/2010/main" val="2570847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0BC3810-7E09-4567-8208-E23069F70B7F}"/>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CA43EC6C-D8E7-4F64-B47E-33C2D611832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More EV programs are moving into production</a:t>
            </a:r>
          </a:p>
        </p:txBody>
      </p:sp>
      <p:sp>
        <p:nvSpPr>
          <p:cNvPr id="3" name="text-2">
            <a:extLst xmlns:a="http://schemas.openxmlformats.org/drawingml/2006/main">
              <a:ext uri="{FF2B5EF4-FFF2-40B4-BE49-F238E27FC236}">
                <a16:creationId xmlns:a16="http://schemas.microsoft.com/office/drawing/2014/main" id="{8318C8C3-1544-4DB0-8E28-55ADE1351CCB}"/>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INR 240bn net order book, with 64% in EVs. Twenty EV programs are now ramping.</a:t>
            </a:r>
          </a:p>
        </p:txBody>
      </p:sp>
      <p:sp>
        <p:nvSpPr>
          <p:cNvPr id="4" name="">
            <a:extLst xmlns:a="http://schemas.openxmlformats.org/drawingml/2006/main">
              <a:ext uri="{FF2B5EF4-FFF2-40B4-BE49-F238E27FC236}">
                <a16:creationId xmlns:a16="http://schemas.microsoft.com/office/drawing/2014/main" id="{A35967BE-778B-4FC7-915A-ACB42AA811B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35843C2-A3BE-4A8D-865C-375851D6691D}"/>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Q4 FY26 / Q1 FY27 presentations, supplied Charts 2.0 sheet</a:t>
            </a:r>
          </a:p>
        </p:txBody>
      </p:sp>
      <p:sp>
        <p:nvSpPr>
          <p:cNvPr id="6" name="text-5">
            <a:extLst xmlns:a="http://schemas.openxmlformats.org/drawingml/2006/main">
              <a:ext uri="{FF2B5EF4-FFF2-40B4-BE49-F238E27FC236}">
                <a16:creationId xmlns:a16="http://schemas.microsoft.com/office/drawing/2014/main" id="{282C0DC0-5B3B-468A-8978-1AC96A3B075E}"/>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3</a:t>
            </a:r>
          </a:p>
        </p:txBody>
      </p:sp>
      <p:graphicFrame>
        <p:nvGraphicFramePr>
          <p:cNvPr id="7" name="Chart">
            <a:extLst xmlns:a="http://schemas.openxmlformats.org/drawingml/2006/main">
              <a:ext uri="{FF2B5EF4-FFF2-40B4-BE49-F238E27FC236}">
                <a16:creationId xmlns:a16="http://schemas.microsoft.com/office/drawing/2014/main" id="{29A74BC1-BA53-413E-8228-4E75DEF65D0C}"/>
              </a:ext>
            </a:extLst>
          </p:cNvPr>
          <p:cNvGraphicFramePr/>
          <p:nvPr/>
        </p:nvGraphicFramePr>
        <p:xfrm>
          <a:off xmlns:a="http://schemas.openxmlformats.org/drawingml/2006/main" x="619125" y="2619375"/>
          <a:ext xmlns:a="http://schemas.openxmlformats.org/drawingml/2006/main" cx="8286750" cy="4171950"/>
        </p:xfrm>
        <a:graphic xmlns:a="http://schemas.openxmlformats.org/drawingml/2006/main">
          <a:graphicData uri="http://schemas.openxmlformats.org/drawingml/2006/chart">
            <c:chart xmlns:r="http://schemas.openxmlformats.org/officeDocument/2006/relationships" xmlns:c="http://schemas.openxmlformats.org/drawingml/2006/chart" r:id="R322decadc0084018"/>
          </a:graphicData>
        </a:graphic>
      </p:graphicFrame>
      <p:graphicFrame>
        <p:nvGraphicFramePr>
          <p:cNvPr id="8" name="Chart">
            <a:extLst xmlns:a="http://schemas.openxmlformats.org/drawingml/2006/main">
              <a:ext uri="{FF2B5EF4-FFF2-40B4-BE49-F238E27FC236}">
                <a16:creationId xmlns:a16="http://schemas.microsoft.com/office/drawing/2014/main" id="{AA2352B5-B7C4-478D-8AF1-68A4069FDF1D}"/>
              </a:ext>
            </a:extLst>
          </p:cNvPr>
          <p:cNvGraphicFramePr/>
          <p:nvPr/>
        </p:nvGraphicFramePr>
        <p:xfrm>
          <a:off xmlns:a="http://schemas.openxmlformats.org/drawingml/2006/main" x="9286875" y="2667000"/>
          <a:ext xmlns:a="http://schemas.openxmlformats.org/drawingml/2006/main" cx="5334000" cy="4048125"/>
        </p:xfrm>
        <a:graphic xmlns:a="http://schemas.openxmlformats.org/drawingml/2006/main">
          <a:graphicData uri="http://schemas.openxmlformats.org/drawingml/2006/chart">
            <c:chart xmlns:r="http://schemas.openxmlformats.org/officeDocument/2006/relationships" xmlns:c="http://schemas.openxmlformats.org/drawingml/2006/chart" r:id="R35380128a4b74785"/>
          </a:graphicData>
        </a:graphic>
      </p:graphicFrame>
      <p:sp>
        <p:nvSpPr>
          <p:cNvPr id="9" name="text-6">
            <a:extLst xmlns:a="http://schemas.openxmlformats.org/drawingml/2006/main">
              <a:ext uri="{FF2B5EF4-FFF2-40B4-BE49-F238E27FC236}">
                <a16:creationId xmlns:a16="http://schemas.microsoft.com/office/drawing/2014/main" id="{D2801E2F-35AE-4910-8E9D-63EE32182AAB}"/>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India holds 34 of 69 programs and 29 of 49 programs still ramping or awaiting production. Counts do not indicate revenue size.</a:t>
            </a:r>
          </a:p>
        </p:txBody>
      </p:sp>
    </p:spTree>
    <p:extLst>
      <p:ext uri="{BB962C8B-B14F-4D97-AF65-F5344CB8AC3E}">
        <p14:creationId xmlns:p14="http://schemas.microsoft.com/office/powerpoint/2010/main" val="5920950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6AD0B5AA-4310-4202-8479-BC216D0FAAA9}"/>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657105C1-AA41-4B6D-90C0-6A35E218D30D}"/>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Assemblies and traction motors drive most of the growth</a:t>
            </a:r>
          </a:p>
        </p:txBody>
      </p:sp>
      <p:sp>
        <p:nvSpPr>
          <p:cNvPr id="3" name="text-2">
            <a:extLst xmlns:a="http://schemas.openxmlformats.org/drawingml/2006/main">
              <a:ext uri="{FF2B5EF4-FFF2-40B4-BE49-F238E27FC236}">
                <a16:creationId xmlns:a16="http://schemas.microsoft.com/office/drawing/2014/main" id="{D69BEDAD-AB5E-403D-8BBF-425557DA1D02}"/>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model forecasts revenue of INR 92.3bn in FY30E, roughly double FY26.</a:t>
            </a:r>
          </a:p>
        </p:txBody>
      </p:sp>
      <p:sp>
        <p:nvSpPr>
          <p:cNvPr id="4" name="">
            <a:extLst xmlns:a="http://schemas.openxmlformats.org/drawingml/2006/main">
              <a:ext uri="{FF2B5EF4-FFF2-40B4-BE49-F238E27FC236}">
                <a16:creationId xmlns:a16="http://schemas.microsoft.com/office/drawing/2014/main" id="{5A62E32D-1181-41F6-AF72-D3369CF816D0}"/>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3928EFC-700D-46D8-8AFF-9AF09A1C2CA7}"/>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Annual!N36:R67</a:t>
            </a:r>
          </a:p>
        </p:txBody>
      </p:sp>
      <p:sp>
        <p:nvSpPr>
          <p:cNvPr id="6" name="text-5">
            <a:extLst xmlns:a="http://schemas.openxmlformats.org/drawingml/2006/main">
              <a:ext uri="{FF2B5EF4-FFF2-40B4-BE49-F238E27FC236}">
                <a16:creationId xmlns:a16="http://schemas.microsoft.com/office/drawing/2014/main" id="{46C647D0-1D05-4FA9-8871-0BE08AEDB366}"/>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4</a:t>
            </a:r>
          </a:p>
        </p:txBody>
      </p:sp>
      <p:graphicFrame>
        <p:nvGraphicFramePr>
          <p:cNvPr id="7" name="Chart">
            <a:extLst xmlns:a="http://schemas.openxmlformats.org/drawingml/2006/main">
              <a:ext uri="{FF2B5EF4-FFF2-40B4-BE49-F238E27FC236}">
                <a16:creationId xmlns:a16="http://schemas.microsoft.com/office/drawing/2014/main" id="{B039674B-7B6F-464B-8386-DEF439C3D400}"/>
              </a:ext>
            </a:extLst>
          </p:cNvPr>
          <p:cNvGraphicFramePr/>
          <p:nvPr/>
        </p:nvGraphicFramePr>
        <p:xfrm>
          <a:off xmlns:a="http://schemas.openxmlformats.org/drawingml/2006/main" x="619125" y="2619375"/>
          <a:ext xmlns:a="http://schemas.openxmlformats.org/drawingml/2006/main" cx="10096500" cy="4476750"/>
        </p:xfrm>
        <a:graphic xmlns:a="http://schemas.openxmlformats.org/drawingml/2006/main">
          <a:graphicData uri="http://schemas.openxmlformats.org/drawingml/2006/chart">
            <c:chart xmlns:r="http://schemas.openxmlformats.org/officeDocument/2006/relationships" xmlns:c="http://schemas.openxmlformats.org/drawingml/2006/chart" r:id="R907da421812f45f9"/>
          </a:graphicData>
        </a:graphic>
      </p:graphicFrame>
      <p:sp>
        <p:nvSpPr>
          <p:cNvPr id="8" name="text-6">
            <a:extLst xmlns:a="http://schemas.openxmlformats.org/drawingml/2006/main">
              <a:ext uri="{FF2B5EF4-FFF2-40B4-BE49-F238E27FC236}">
                <a16:creationId xmlns:a16="http://schemas.microsoft.com/office/drawing/2014/main" id="{34CC001E-84ED-4DC6-9E41-390852772C7F}"/>
              </a:ext>
            </a:extLst>
          </p:cNvPr>
          <p:cNvSpPr>
            <a:spLocks xmlns:a="http://schemas.openxmlformats.org/drawingml/2006/main" noGrp="1"/>
          </p:cNvSpPr>
          <p:nvPr/>
        </p:nvSpPr>
        <p:spPr>
          <a:xfrm xmlns:a="http://schemas.openxmlformats.org/drawingml/2006/main">
            <a:off x="11144250" y="2733675"/>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29%</a:t>
            </a:r>
          </a:p>
        </p:txBody>
      </p:sp>
      <p:sp>
        <p:nvSpPr>
          <p:cNvPr id="9" name="text-7">
            <a:extLst xmlns:a="http://schemas.openxmlformats.org/drawingml/2006/main">
              <a:ext uri="{FF2B5EF4-FFF2-40B4-BE49-F238E27FC236}">
                <a16:creationId xmlns:a16="http://schemas.microsoft.com/office/drawing/2014/main" id="{2A42453D-2F30-4CD1-8630-A1077740D175}"/>
              </a:ext>
            </a:extLst>
          </p:cNvPr>
          <p:cNvSpPr>
            <a:spLocks xmlns:a="http://schemas.openxmlformats.org/drawingml/2006/main" noGrp="1"/>
          </p:cNvSpPr>
          <p:nvPr/>
        </p:nvSpPr>
        <p:spPr>
          <a:xfrm xmlns:a="http://schemas.openxmlformats.org/drawingml/2006/main">
            <a:off x="11144250" y="34480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Assemblies CAGR</a:t>
            </a:r>
          </a:p>
        </p:txBody>
      </p:sp>
      <p:sp>
        <p:nvSpPr>
          <p:cNvPr id="10" name="text-8">
            <a:extLst xmlns:a="http://schemas.openxmlformats.org/drawingml/2006/main">
              <a:ext uri="{FF2B5EF4-FFF2-40B4-BE49-F238E27FC236}">
                <a16:creationId xmlns:a16="http://schemas.microsoft.com/office/drawing/2014/main" id="{AADFDBD7-0CC1-44C2-BF79-40CADA10F8E2}"/>
              </a:ext>
            </a:extLst>
          </p:cNvPr>
          <p:cNvSpPr>
            <a:spLocks xmlns:a="http://schemas.openxmlformats.org/drawingml/2006/main" noGrp="1"/>
          </p:cNvSpPr>
          <p:nvPr/>
        </p:nvSpPr>
        <p:spPr>
          <a:xfrm xmlns:a="http://schemas.openxmlformats.org/drawingml/2006/main">
            <a:off x="11144250" y="383857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INR 7.6–20.6bn</a:t>
            </a:r>
          </a:p>
        </p:txBody>
      </p:sp>
      <p:sp>
        <p:nvSpPr>
          <p:cNvPr id="11" name="text-9">
            <a:extLst xmlns:a="http://schemas.openxmlformats.org/drawingml/2006/main">
              <a:ext uri="{FF2B5EF4-FFF2-40B4-BE49-F238E27FC236}">
                <a16:creationId xmlns:a16="http://schemas.microsoft.com/office/drawing/2014/main" id="{A5ACC4C4-0A7A-49AC-A0B1-049F9C4FB890}"/>
              </a:ext>
            </a:extLst>
          </p:cNvPr>
          <p:cNvSpPr>
            <a:spLocks xmlns:a="http://schemas.openxmlformats.org/drawingml/2006/main" noGrp="1"/>
          </p:cNvSpPr>
          <p:nvPr/>
        </p:nvSpPr>
        <p:spPr>
          <a:xfrm xmlns:a="http://schemas.openxmlformats.org/drawingml/2006/main">
            <a:off x="11144250" y="43243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39%</a:t>
            </a:r>
          </a:p>
        </p:txBody>
      </p:sp>
      <p:sp>
        <p:nvSpPr>
          <p:cNvPr id="12" name="text-10">
            <a:extLst xmlns:a="http://schemas.openxmlformats.org/drawingml/2006/main">
              <a:ext uri="{FF2B5EF4-FFF2-40B4-BE49-F238E27FC236}">
                <a16:creationId xmlns:a16="http://schemas.microsoft.com/office/drawing/2014/main" id="{000F783A-949E-4DBE-8A4F-B2747C703B85}"/>
              </a:ext>
            </a:extLst>
          </p:cNvPr>
          <p:cNvSpPr>
            <a:spLocks xmlns:a="http://schemas.openxmlformats.org/drawingml/2006/main" noGrp="1"/>
          </p:cNvSpPr>
          <p:nvPr/>
        </p:nvSpPr>
        <p:spPr>
          <a:xfrm xmlns:a="http://schemas.openxmlformats.org/drawingml/2006/main">
            <a:off x="11144250" y="50387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Traction motor CAGR</a:t>
            </a:r>
          </a:p>
        </p:txBody>
      </p:sp>
      <p:sp>
        <p:nvSpPr>
          <p:cNvPr id="13" name="text-11">
            <a:extLst xmlns:a="http://schemas.openxmlformats.org/drawingml/2006/main">
              <a:ext uri="{FF2B5EF4-FFF2-40B4-BE49-F238E27FC236}">
                <a16:creationId xmlns:a16="http://schemas.microsoft.com/office/drawing/2014/main" id="{6B3B1A94-C7C1-4871-B147-2816B19B641E}"/>
              </a:ext>
            </a:extLst>
          </p:cNvPr>
          <p:cNvSpPr>
            <a:spLocks xmlns:a="http://schemas.openxmlformats.org/drawingml/2006/main" noGrp="1"/>
          </p:cNvSpPr>
          <p:nvPr/>
        </p:nvSpPr>
        <p:spPr>
          <a:xfrm xmlns:a="http://schemas.openxmlformats.org/drawingml/2006/main">
            <a:off x="11144250" y="542925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INR 4.9–18.2bn</a:t>
            </a:r>
          </a:p>
        </p:txBody>
      </p:sp>
      <p:sp>
        <p:nvSpPr>
          <p:cNvPr id="14" name="text-12">
            <a:extLst xmlns:a="http://schemas.openxmlformats.org/drawingml/2006/main">
              <a:ext uri="{FF2B5EF4-FFF2-40B4-BE49-F238E27FC236}">
                <a16:creationId xmlns:a16="http://schemas.microsoft.com/office/drawing/2014/main" id="{D06658B1-04E7-4457-A21B-78C8297E4057}"/>
              </a:ext>
            </a:extLst>
          </p:cNvPr>
          <p:cNvSpPr>
            <a:spLocks xmlns:a="http://schemas.openxmlformats.org/drawingml/2006/main" noGrp="1"/>
          </p:cNvSpPr>
          <p:nvPr/>
        </p:nvSpPr>
        <p:spPr>
          <a:xfrm xmlns:a="http://schemas.openxmlformats.org/drawingml/2006/main">
            <a:off x="11144250" y="5915025"/>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17%</a:t>
            </a:r>
          </a:p>
        </p:txBody>
      </p:sp>
      <p:sp>
        <p:nvSpPr>
          <p:cNvPr id="15" name="text-13">
            <a:extLst xmlns:a="http://schemas.openxmlformats.org/drawingml/2006/main">
              <a:ext uri="{FF2B5EF4-FFF2-40B4-BE49-F238E27FC236}">
                <a16:creationId xmlns:a16="http://schemas.microsoft.com/office/drawing/2014/main" id="{A38975FE-D09A-4A15-BCFB-07BAE50713E2}"/>
              </a:ext>
            </a:extLst>
          </p:cNvPr>
          <p:cNvSpPr>
            <a:spLocks xmlns:a="http://schemas.openxmlformats.org/drawingml/2006/main" noGrp="1"/>
          </p:cNvSpPr>
          <p:nvPr/>
        </p:nvSpPr>
        <p:spPr>
          <a:xfrm xmlns:a="http://schemas.openxmlformats.org/drawingml/2006/main">
            <a:off x="11144250" y="66294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Railway CAGR</a:t>
            </a:r>
          </a:p>
        </p:txBody>
      </p:sp>
      <p:sp>
        <p:nvSpPr>
          <p:cNvPr id="16" name="text-14">
            <a:extLst xmlns:a="http://schemas.openxmlformats.org/drawingml/2006/main">
              <a:ext uri="{FF2B5EF4-FFF2-40B4-BE49-F238E27FC236}">
                <a16:creationId xmlns:a16="http://schemas.microsoft.com/office/drawing/2014/main" id="{AAB0DB9F-DB8E-4363-BCD9-C69170DFE17D}"/>
              </a:ext>
            </a:extLst>
          </p:cNvPr>
          <p:cNvSpPr>
            <a:spLocks xmlns:a="http://schemas.openxmlformats.org/drawingml/2006/main" noGrp="1"/>
          </p:cNvSpPr>
          <p:nvPr/>
        </p:nvSpPr>
        <p:spPr>
          <a:xfrm xmlns:a="http://schemas.openxmlformats.org/drawingml/2006/main">
            <a:off x="11144250" y="70199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INR 6.2–11.5bn</a:t>
            </a:r>
          </a:p>
        </p:txBody>
      </p:sp>
      <p:sp>
        <p:nvSpPr>
          <p:cNvPr id="17" name="text-15">
            <a:extLst xmlns:a="http://schemas.openxmlformats.org/drawingml/2006/main">
              <a:ext uri="{FF2B5EF4-FFF2-40B4-BE49-F238E27FC236}">
                <a16:creationId xmlns:a16="http://schemas.microsoft.com/office/drawing/2014/main" id="{B6DEB610-7170-4D74-92C8-559ACB98CBCD}"/>
              </a:ext>
            </a:extLst>
          </p:cNvPr>
          <p:cNvSpPr>
            <a:spLocks xmlns:a="http://schemas.openxmlformats.org/drawingml/2006/main" noGrp="1"/>
          </p:cNvSpPr>
          <p:nvPr/>
        </p:nvSpPr>
        <p:spPr>
          <a:xfrm xmlns:a="http://schemas.openxmlformats.org/drawingml/2006/main">
            <a:off x="647700" y="7267575"/>
            <a:ext cx="9906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The core forecast assumes driveline share gains and rapid growth in India’s electric 2W / 3W market.</a:t>
            </a:r>
          </a:p>
        </p:txBody>
      </p:sp>
    </p:spTree>
    <p:extLst>
      <p:ext uri="{BB962C8B-B14F-4D97-AF65-F5344CB8AC3E}">
        <p14:creationId xmlns:p14="http://schemas.microsoft.com/office/powerpoint/2010/main" val="20876962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AF9806EA-5DF4-408A-BFD4-5B9F9739CFD6}"/>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FF30C759-9643-4595-906A-5A789879E38F}"/>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Differential assemblies offer more runway than gears</a:t>
            </a:r>
          </a:p>
        </p:txBody>
      </p:sp>
      <p:sp>
        <p:nvSpPr>
          <p:cNvPr id="3" name="text-2">
            <a:extLst xmlns:a="http://schemas.openxmlformats.org/drawingml/2006/main">
              <a:ext uri="{FF2B5EF4-FFF2-40B4-BE49-F238E27FC236}">
                <a16:creationId xmlns:a16="http://schemas.microsoft.com/office/drawing/2014/main" id="{933C271D-5063-4FA0-8BD5-7DD5485261B7}"/>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Localization and additional components raise content as new programs ramp.</a:t>
            </a:r>
          </a:p>
        </p:txBody>
      </p:sp>
      <p:sp>
        <p:nvSpPr>
          <p:cNvPr id="4" name="">
            <a:extLst xmlns:a="http://schemas.openxmlformats.org/drawingml/2006/main">
              <a:ext uri="{FF2B5EF4-FFF2-40B4-BE49-F238E27FC236}">
                <a16:creationId xmlns:a16="http://schemas.microsoft.com/office/drawing/2014/main" id="{EDDB79C5-36C2-4B23-BFE7-2994D3FF9E8C}"/>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D02DBC8-32B4-42A4-A6ED-A034AE9583F8}"/>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IR notes and company market-share disclosures</a:t>
            </a:r>
          </a:p>
        </p:txBody>
      </p:sp>
      <p:sp>
        <p:nvSpPr>
          <p:cNvPr id="6" name="text-5">
            <a:extLst xmlns:a="http://schemas.openxmlformats.org/drawingml/2006/main">
              <a:ext uri="{FF2B5EF4-FFF2-40B4-BE49-F238E27FC236}">
                <a16:creationId xmlns:a16="http://schemas.microsoft.com/office/drawing/2014/main" id="{5DAF277C-5CBF-42E2-906F-5EAB743E4512}"/>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5</a:t>
            </a:r>
          </a:p>
        </p:txBody>
      </p:sp>
      <p:graphicFrame>
        <p:nvGraphicFramePr>
          <p:cNvPr id="7" name="Chart">
            <a:extLst xmlns:a="http://schemas.openxmlformats.org/drawingml/2006/main">
              <a:ext uri="{FF2B5EF4-FFF2-40B4-BE49-F238E27FC236}">
                <a16:creationId xmlns:a16="http://schemas.microsoft.com/office/drawing/2014/main" id="{655103FF-4B53-41E9-8CF0-2E4BC484A149}"/>
              </a:ext>
            </a:extLst>
          </p:cNvPr>
          <p:cNvGraphicFramePr/>
          <p:nvPr/>
        </p:nvGraphicFramePr>
        <p:xfrm>
          <a:off xmlns:a="http://schemas.openxmlformats.org/drawingml/2006/main" x="619125" y="263842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a3187014efb74a38"/>
          </a:graphicData>
        </a:graphic>
      </p:graphicFrame>
      <p:pic>
        <p:nvPicPr>
          <p:cNvPr id="8" name="">
            <a:extLst xmlns:a="http://schemas.openxmlformats.org/drawingml/2006/main">
              <a:ext uri="{FF2B5EF4-FFF2-40B4-BE49-F238E27FC236}">
                <a16:creationId xmlns:a16="http://schemas.microsoft.com/office/drawing/2014/main" id="{944D429B-6A6D-412A-97BE-F0C055200118}"/>
              </a:ext>
            </a:extLst>
          </p:cNvPr>
          <p:cNvPicPr>
            <a:picLocks xmlns:a="http://schemas.openxmlformats.org/drawingml/2006/main" noChangeAspect="1"/>
          </p:cNvPicPr>
          <p:nvPr/>
        </p:nvPicPr>
        <p:blipFill>
          <a:blip xmlns:r="http://schemas.openxmlformats.org/officeDocument/2006/relationships" xmlns:a="http://schemas.openxmlformats.org/drawingml/2006/main" r:embed="R5c00652b2b85464c"/>
          <a:stretch xmlns:a="http://schemas.openxmlformats.org/drawingml/2006/main"/>
        </p:blipFill>
        <p:spPr>
          <a:xfrm xmlns:a="http://schemas.openxmlformats.org/drawingml/2006/main">
            <a:off x="11201400" y="2524125"/>
            <a:ext cx="1219200" cy="1238250"/>
          </a:xfrm>
          <a:prstGeom xmlns:a="http://schemas.openxmlformats.org/drawingml/2006/main" prst="rect">
            <a:avLst/>
          </a:prstGeom>
        </p:spPr>
      </p:pic>
      <p:sp>
        <p:nvSpPr>
          <p:cNvPr id="9" name="text-6">
            <a:extLst xmlns:a="http://schemas.openxmlformats.org/drawingml/2006/main">
              <a:ext uri="{FF2B5EF4-FFF2-40B4-BE49-F238E27FC236}">
                <a16:creationId xmlns:a16="http://schemas.microsoft.com/office/drawing/2014/main" id="{393FDEEB-2EE9-47F2-9F6B-1777BA26E28D}"/>
              </a:ext>
            </a:extLst>
          </p:cNvPr>
          <p:cNvSpPr>
            <a:spLocks xmlns:a="http://schemas.openxmlformats.org/drawingml/2006/main" noGrp="1"/>
          </p:cNvSpPr>
          <p:nvPr/>
        </p:nvSpPr>
        <p:spPr>
          <a:xfrm xmlns:a="http://schemas.openxmlformats.org/drawingml/2006/main">
            <a:off x="9477375" y="399097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009DDA"/>
                </a:solidFill>
                <a:latin typeface="Arial"/>
                <a:ea typeface="Arial"/>
                <a:cs typeface="Arial"/>
              </a:defRPr>
            </a:defPPr>
            <a:lvl1pPr algn="l">
              <a:defRPr sz="2925" b="1">
                <a:solidFill>
                  <a:srgbClr val="009DDA"/>
                </a:solidFill>
                <a:latin typeface="Arial"/>
                <a:ea typeface="Arial"/>
                <a:cs typeface="Arial"/>
              </a:defRPr>
            </a:lvl1pPr>
            <a:lvl2pPr algn="l">
              <a:defRPr sz="2925" b="1">
                <a:solidFill>
                  <a:srgbClr val="009DDA"/>
                </a:solidFill>
                <a:latin typeface="Arial"/>
                <a:ea typeface="Arial"/>
                <a:cs typeface="Arial"/>
              </a:defRPr>
            </a:lvl2pPr>
            <a:lvl3pPr algn="l">
              <a:defRPr sz="2925" b="1">
                <a:solidFill>
                  <a:srgbClr val="009DDA"/>
                </a:solidFill>
                <a:latin typeface="Arial"/>
                <a:ea typeface="Arial"/>
                <a:cs typeface="Arial"/>
              </a:defRPr>
            </a:lvl3pPr>
            <a:lvl4pPr algn="l">
              <a:defRPr sz="2925" b="1">
                <a:solidFill>
                  <a:srgbClr val="009DDA"/>
                </a:solidFill>
                <a:latin typeface="Arial"/>
                <a:ea typeface="Arial"/>
                <a:cs typeface="Arial"/>
              </a:defRPr>
            </a:lvl4pPr>
            <a:lvl5pPr algn="l">
              <a:defRPr sz="2925" b="1">
                <a:solidFill>
                  <a:srgbClr val="009DDA"/>
                </a:solidFill>
                <a:latin typeface="Arial"/>
                <a:ea typeface="Arial"/>
                <a:cs typeface="Arial"/>
              </a:defRPr>
            </a:lvl5pPr>
            <a:lvl6pPr algn="l">
              <a:defRPr sz="2925" b="1">
                <a:solidFill>
                  <a:srgbClr val="009DDA"/>
                </a:solidFill>
                <a:latin typeface="Arial"/>
                <a:ea typeface="Arial"/>
                <a:cs typeface="Arial"/>
              </a:defRPr>
            </a:lvl6pPr>
            <a:lvl7pPr algn="l">
              <a:defRPr sz="2925" b="1">
                <a:solidFill>
                  <a:srgbClr val="009DDA"/>
                </a:solidFill>
                <a:latin typeface="Arial"/>
                <a:ea typeface="Arial"/>
                <a:cs typeface="Arial"/>
              </a:defRPr>
            </a:lvl7pPr>
            <a:lvl8pPr algn="l">
              <a:defRPr sz="2925" b="1">
                <a:solidFill>
                  <a:srgbClr val="009DDA"/>
                </a:solidFill>
                <a:latin typeface="Arial"/>
                <a:ea typeface="Arial"/>
                <a:cs typeface="Arial"/>
              </a:defRPr>
            </a:lvl8pPr>
            <a:lvl9pPr algn="l">
              <a:defRPr sz="2925" b="1">
                <a:solidFill>
                  <a:srgbClr val="009DDA"/>
                </a:solidFill>
                <a:latin typeface="Arial"/>
                <a:ea typeface="Arial"/>
                <a:cs typeface="Arial"/>
              </a:defRPr>
            </a:lvl9pPr>
          </a:lstStyle>
          <a:p xmlns:a="http://schemas.openxmlformats.org/drawingml/2006/main">
            <a:pPr algn="l">
              <a:defRPr sz="2925" b="1">
                <a:solidFill>
                  <a:srgbClr val="009DDA"/>
                </a:solidFill>
                <a:latin typeface="Arial"/>
                <a:ea typeface="Arial"/>
                <a:cs typeface="Arial"/>
              </a:defRPr>
            </a:pPr>
            <a:r>
              <a:rPr sz="2925" b="1">
                <a:solidFill>
                  <a:srgbClr val="009DDA"/>
                </a:solidFill>
                <a:latin typeface="Arial"/>
                <a:ea typeface="Arial"/>
                <a:cs typeface="Arial"/>
              </a:rPr>
              <a:t>INR 7.6–20.6bn</a:t>
            </a:r>
          </a:p>
        </p:txBody>
      </p:sp>
      <p:sp>
        <p:nvSpPr>
          <p:cNvPr id="10" name="text-7">
            <a:extLst xmlns:a="http://schemas.openxmlformats.org/drawingml/2006/main">
              <a:ext uri="{FF2B5EF4-FFF2-40B4-BE49-F238E27FC236}">
                <a16:creationId xmlns:a16="http://schemas.microsoft.com/office/drawing/2014/main" id="{D50DDC1A-4720-472F-8CF8-6279CE0AEB63}"/>
              </a:ext>
            </a:extLst>
          </p:cNvPr>
          <p:cNvSpPr>
            <a:spLocks xmlns:a="http://schemas.openxmlformats.org/drawingml/2006/main" noGrp="1"/>
          </p:cNvSpPr>
          <p:nvPr/>
        </p:nvSpPr>
        <p:spPr>
          <a:xfrm xmlns:a="http://schemas.openxmlformats.org/drawingml/2006/main">
            <a:off x="9477375" y="45910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Assembly revenue, FY26–30E</a:t>
            </a:r>
          </a:p>
        </p:txBody>
      </p:sp>
      <p:graphicFrame>
        <p:nvGraphicFramePr>
          <p:cNvPr id="11" name="">
            <a:extLst xmlns:a="http://schemas.openxmlformats.org/drawingml/2006/main">
              <a:ext uri="{FF2B5EF4-FFF2-40B4-BE49-F238E27FC236}">
                <a16:creationId xmlns:a16="http://schemas.microsoft.com/office/drawing/2014/main" id="{F925B030-CB1A-42E1-85E0-38893D83AD8A}"/>
              </a:ext>
            </a:extLst>
          </p:cNvPr>
          <p:cNvGraphicFramePr/>
          <p:nvPr/>
        </p:nvGraphicFramePr>
        <p:xfrm>
          <a:off xmlns:a="http://schemas.openxmlformats.org/drawingml/2006/main" x="9239250" y="5295900"/>
          <a:ext xmlns:a="http://schemas.openxmlformats.org/drawingml/2006/main" cx="5381625" cy="1714500"/>
        </p:xfrm>
        <a:graphic xmlns:a="http://schemas.openxmlformats.org/drawingml/2006/main">
          <a:graphicData uri="http://schemas.openxmlformats.org/drawingml/2006/table">
            <a:tbl>
              <a:tblPr/>
              <a:tblGrid>
                <a:gridCol w="1809750"/>
                <a:gridCol w="3571875"/>
              </a:tblGrid>
              <a:tr h="428625">
                <a:tc>
                  <a:txBody>
                    <a:bodyPr lIns="85725" tIns="85725" rIns="85725" bIns="85725"/>
                    <a:lstStyle/>
                    <a:p>
                      <a:pPr algn="l"/>
                      <a:r>
                        <a:rPr sz="1875" b="1">
                          <a:solidFill>
                            <a:srgbClr val="FFFFFF"/>
                          </a:solidFill>
                          <a:latin typeface="Arial"/>
                          <a:ea typeface="Arial"/>
                          <a:cs typeface="Arial"/>
                        </a:rPr>
                        <a:t>Program</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Growth lever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28625">
                <a:tc>
                  <a:txBody>
                    <a:bodyPr lIns="85725" tIns="85725" rIns="85725" bIns="85725"/>
                    <a:lstStyle/>
                    <a:p>
                      <a:pPr algn="l"/>
                      <a:r>
                        <a:rPr sz="1875" b="0">
                          <a:solidFill>
                            <a:srgbClr val="101D2F"/>
                          </a:solidFill>
                          <a:latin typeface="Arial"/>
                          <a:ea typeface="Arial"/>
                          <a:cs typeface="Arial"/>
                        </a:rPr>
                        <a:t>M&amp;M BEVs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India localization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28625">
                <a:tc>
                  <a:txBody>
                    <a:bodyPr lIns="85725" tIns="85725" rIns="85725" bIns="85725"/>
                    <a:lstStyle/>
                    <a:p>
                      <a:pPr algn="l"/>
                      <a:r>
                        <a:rPr sz="1875" b="0">
                          <a:solidFill>
                            <a:srgbClr val="101D2F"/>
                          </a:solidFill>
                          <a:latin typeface="Arial"/>
                          <a:ea typeface="Arial"/>
                          <a:cs typeface="Arial"/>
                        </a:rPr>
                        <a:t>JLR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New EV launches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28625">
                <a:tc>
                  <a:txBody>
                    <a:bodyPr lIns="85725" tIns="85725" rIns="85725" bIns="85725"/>
                    <a:lstStyle/>
                    <a:p>
                      <a:pPr algn="l"/>
                      <a:r>
                        <a:rPr sz="1875" b="0">
                          <a:solidFill>
                            <a:srgbClr val="101D2F"/>
                          </a:solidFill>
                          <a:latin typeface="Arial"/>
                          <a:ea typeface="Arial"/>
                          <a:cs typeface="Arial"/>
                        </a:rPr>
                        <a:t>Ford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New mass-market EV</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12" name="text-8">
            <a:extLst xmlns:a="http://schemas.openxmlformats.org/drawingml/2006/main">
              <a:ext uri="{FF2B5EF4-FFF2-40B4-BE49-F238E27FC236}">
                <a16:creationId xmlns:a16="http://schemas.microsoft.com/office/drawing/2014/main" id="{E328E063-D580-4A82-A6DA-15C860CA82CB}"/>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Gears retain a strong position. Assemblies and adjacent components provide the larger content opportunity.</a:t>
            </a:r>
          </a:p>
        </p:txBody>
      </p:sp>
    </p:spTree>
    <p:extLst>
      <p:ext uri="{BB962C8B-B14F-4D97-AF65-F5344CB8AC3E}">
        <p14:creationId xmlns:p14="http://schemas.microsoft.com/office/powerpoint/2010/main" val="14092254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45F37575-ACAE-4F3C-A2AE-C539080ADCCC}"/>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DB92A9E4-739F-4004-B93F-F242A819395F}"/>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Traction motors can nearly quadruple by FY30E</a:t>
            </a:r>
          </a:p>
        </p:txBody>
      </p:sp>
      <p:sp>
        <p:nvSpPr>
          <p:cNvPr id="3" name="text-2">
            <a:extLst xmlns:a="http://schemas.openxmlformats.org/drawingml/2006/main">
              <a:ext uri="{FF2B5EF4-FFF2-40B4-BE49-F238E27FC236}">
                <a16:creationId xmlns:a16="http://schemas.microsoft.com/office/drawing/2014/main" id="{246A9ACB-50B5-46AE-882D-33B56EA192C5}"/>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Customer wins expand volumes, while integrated controllers increase content.</a:t>
            </a:r>
          </a:p>
        </p:txBody>
      </p:sp>
      <p:sp>
        <p:nvSpPr>
          <p:cNvPr id="4" name="">
            <a:extLst xmlns:a="http://schemas.openxmlformats.org/drawingml/2006/main">
              <a:ext uri="{FF2B5EF4-FFF2-40B4-BE49-F238E27FC236}">
                <a16:creationId xmlns:a16="http://schemas.microsoft.com/office/drawing/2014/main" id="{4F68A70B-6CA0-4E98-89A6-54F7EF35CF85}"/>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7DCAE3F4-8947-446E-BBD0-1DB1C0B7360D}"/>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and management / IR notes</a:t>
            </a:r>
          </a:p>
        </p:txBody>
      </p:sp>
      <p:sp>
        <p:nvSpPr>
          <p:cNvPr id="6" name="text-5">
            <a:extLst xmlns:a="http://schemas.openxmlformats.org/drawingml/2006/main">
              <a:ext uri="{FF2B5EF4-FFF2-40B4-BE49-F238E27FC236}">
                <a16:creationId xmlns:a16="http://schemas.microsoft.com/office/drawing/2014/main" id="{4E391B6A-D15C-4C91-95EE-2A596AEA108E}"/>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6</a:t>
            </a:r>
          </a:p>
        </p:txBody>
      </p:sp>
      <p:graphicFrame>
        <p:nvGraphicFramePr>
          <p:cNvPr id="7" name="Chart">
            <a:extLst xmlns:a="http://schemas.openxmlformats.org/drawingml/2006/main">
              <a:ext uri="{FF2B5EF4-FFF2-40B4-BE49-F238E27FC236}">
                <a16:creationId xmlns:a16="http://schemas.microsoft.com/office/drawing/2014/main" id="{405FF90C-671C-4F36-8233-7343F3077BC2}"/>
              </a:ext>
            </a:extLst>
          </p:cNvPr>
          <p:cNvGraphicFramePr/>
          <p:nvPr/>
        </p:nvGraphicFramePr>
        <p:xfrm>
          <a:off xmlns:a="http://schemas.openxmlformats.org/drawingml/2006/main" x="619125" y="2667000"/>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804ca6e6d05c488f"/>
          </a:graphicData>
        </a:graphic>
      </p:graphicFrame>
      <p:pic>
        <p:nvPicPr>
          <p:cNvPr id="8" name="">
            <a:extLst xmlns:a="http://schemas.openxmlformats.org/drawingml/2006/main">
              <a:ext uri="{FF2B5EF4-FFF2-40B4-BE49-F238E27FC236}">
                <a16:creationId xmlns:a16="http://schemas.microsoft.com/office/drawing/2014/main" id="{B51EABAD-6EDE-4EA5-81B5-C563C312AF9E}"/>
              </a:ext>
            </a:extLst>
          </p:cNvPr>
          <p:cNvPicPr>
            <a:picLocks xmlns:a="http://schemas.openxmlformats.org/drawingml/2006/main" noChangeAspect="1"/>
          </p:cNvPicPr>
          <p:nvPr/>
        </p:nvPicPr>
        <p:blipFill>
          <a:blip xmlns:r="http://schemas.openxmlformats.org/officeDocument/2006/relationships" xmlns:a="http://schemas.openxmlformats.org/drawingml/2006/main" r:embed="R5308ccbb06974adf"/>
          <a:stretch xmlns:a="http://schemas.openxmlformats.org/drawingml/2006/main"/>
        </p:blipFill>
        <p:spPr>
          <a:xfrm xmlns:a="http://schemas.openxmlformats.org/drawingml/2006/main">
            <a:off x="9771380" y="2476500"/>
            <a:ext cx="1031240" cy="1381125"/>
          </a:xfrm>
          <a:prstGeom xmlns:a="http://schemas.openxmlformats.org/drawingml/2006/main" prst="rect">
            <a:avLst/>
          </a:prstGeom>
        </p:spPr>
      </p:pic>
      <p:sp>
        <p:nvSpPr>
          <p:cNvPr id="9" name="text-6">
            <a:extLst xmlns:a="http://schemas.openxmlformats.org/drawingml/2006/main">
              <a:ext uri="{FF2B5EF4-FFF2-40B4-BE49-F238E27FC236}">
                <a16:creationId xmlns:a16="http://schemas.microsoft.com/office/drawing/2014/main" id="{80BDBC05-47EA-431E-8150-063BEC1DB141}"/>
              </a:ext>
            </a:extLst>
          </p:cNvPr>
          <p:cNvSpPr>
            <a:spLocks xmlns:a="http://schemas.openxmlformats.org/drawingml/2006/main" noGrp="1"/>
          </p:cNvSpPr>
          <p:nvPr/>
        </p:nvSpPr>
        <p:spPr>
          <a:xfrm xmlns:a="http://schemas.openxmlformats.org/drawingml/2006/main">
            <a:off x="9020175" y="4095750"/>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vl1pPr algn="l">
              <a:defRPr sz="2325" b="1">
                <a:solidFill>
                  <a:srgbClr val="101D2F"/>
                </a:solidFill>
                <a:latin typeface="Arial"/>
                <a:ea typeface="Arial"/>
                <a:cs typeface="Arial"/>
              </a:defRPr>
            </a:lvl1pPr>
            <a:lvl2pPr algn="l">
              <a:defRPr sz="2325" b="1">
                <a:solidFill>
                  <a:srgbClr val="101D2F"/>
                </a:solidFill>
                <a:latin typeface="Arial"/>
                <a:ea typeface="Arial"/>
                <a:cs typeface="Arial"/>
              </a:defRPr>
            </a:lvl2pPr>
            <a:lvl3pPr algn="l">
              <a:defRPr sz="2325" b="1">
                <a:solidFill>
                  <a:srgbClr val="101D2F"/>
                </a:solidFill>
                <a:latin typeface="Arial"/>
                <a:ea typeface="Arial"/>
                <a:cs typeface="Arial"/>
              </a:defRPr>
            </a:lvl3pPr>
            <a:lvl4pPr algn="l">
              <a:defRPr sz="2325" b="1">
                <a:solidFill>
                  <a:srgbClr val="101D2F"/>
                </a:solidFill>
                <a:latin typeface="Arial"/>
                <a:ea typeface="Arial"/>
                <a:cs typeface="Arial"/>
              </a:defRPr>
            </a:lvl4pPr>
            <a:lvl5pPr algn="l">
              <a:defRPr sz="2325" b="1">
                <a:solidFill>
                  <a:srgbClr val="101D2F"/>
                </a:solidFill>
                <a:latin typeface="Arial"/>
                <a:ea typeface="Arial"/>
                <a:cs typeface="Arial"/>
              </a:defRPr>
            </a:lvl5pPr>
            <a:lvl6pPr algn="l">
              <a:defRPr sz="2325" b="1">
                <a:solidFill>
                  <a:srgbClr val="101D2F"/>
                </a:solidFill>
                <a:latin typeface="Arial"/>
                <a:ea typeface="Arial"/>
                <a:cs typeface="Arial"/>
              </a:defRPr>
            </a:lvl6pPr>
            <a:lvl7pPr algn="l">
              <a:defRPr sz="2325" b="1">
                <a:solidFill>
                  <a:srgbClr val="101D2F"/>
                </a:solidFill>
                <a:latin typeface="Arial"/>
                <a:ea typeface="Arial"/>
                <a:cs typeface="Arial"/>
              </a:defRPr>
            </a:lvl7pPr>
            <a:lvl8pPr algn="l">
              <a:defRPr sz="2325" b="1">
                <a:solidFill>
                  <a:srgbClr val="101D2F"/>
                </a:solidFill>
                <a:latin typeface="Arial"/>
                <a:ea typeface="Arial"/>
                <a:cs typeface="Arial"/>
              </a:defRPr>
            </a:lvl8pPr>
            <a:lvl9pPr algn="l">
              <a:defRPr sz="2325" b="1">
                <a:solidFill>
                  <a:srgbClr val="101D2F"/>
                </a:solidFill>
                <a:latin typeface="Arial"/>
                <a:ea typeface="Arial"/>
                <a:cs typeface="Arial"/>
              </a:defRPr>
            </a:lvl9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TVS / M&amp;M / Royal Enfield</a:t>
            </a:r>
          </a:p>
        </p:txBody>
      </p:sp>
      <p:sp>
        <p:nvSpPr>
          <p:cNvPr id="10" name="text-7">
            <a:extLst xmlns:a="http://schemas.openxmlformats.org/drawingml/2006/main">
              <a:ext uri="{FF2B5EF4-FFF2-40B4-BE49-F238E27FC236}">
                <a16:creationId xmlns:a16="http://schemas.microsoft.com/office/drawing/2014/main" id="{90EFDD7C-9AA5-4E82-B050-5C8D930A2469}"/>
              </a:ext>
            </a:extLst>
          </p:cNvPr>
          <p:cNvSpPr>
            <a:spLocks xmlns:a="http://schemas.openxmlformats.org/drawingml/2006/main" noGrp="1"/>
          </p:cNvSpPr>
          <p:nvPr/>
        </p:nvSpPr>
        <p:spPr>
          <a:xfrm xmlns:a="http://schemas.openxmlformats.org/drawingml/2006/main">
            <a:off x="9020175" y="4695825"/>
            <a:ext cx="56197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C6A78"/>
                </a:solidFill>
                <a:latin typeface="Arial"/>
                <a:ea typeface="Arial"/>
                <a:cs typeface="Arial"/>
              </a:defRPr>
            </a:defPPr>
            <a:lvl1pPr algn="l">
              <a:defRPr sz="2100" b="0">
                <a:solidFill>
                  <a:srgbClr val="5C6A78"/>
                </a:solidFill>
                <a:latin typeface="Arial"/>
                <a:ea typeface="Arial"/>
                <a:cs typeface="Arial"/>
              </a:defRPr>
            </a:lvl1pPr>
            <a:lvl2pPr algn="l">
              <a:defRPr sz="2100" b="0">
                <a:solidFill>
                  <a:srgbClr val="5C6A78"/>
                </a:solidFill>
                <a:latin typeface="Arial"/>
                <a:ea typeface="Arial"/>
                <a:cs typeface="Arial"/>
              </a:defRPr>
            </a:lvl2pPr>
            <a:lvl3pPr algn="l">
              <a:defRPr sz="2100" b="0">
                <a:solidFill>
                  <a:srgbClr val="5C6A78"/>
                </a:solidFill>
                <a:latin typeface="Arial"/>
                <a:ea typeface="Arial"/>
                <a:cs typeface="Arial"/>
              </a:defRPr>
            </a:lvl3pPr>
            <a:lvl4pPr algn="l">
              <a:defRPr sz="2100" b="0">
                <a:solidFill>
                  <a:srgbClr val="5C6A78"/>
                </a:solidFill>
                <a:latin typeface="Arial"/>
                <a:ea typeface="Arial"/>
                <a:cs typeface="Arial"/>
              </a:defRPr>
            </a:lvl4pPr>
            <a:lvl5pPr algn="l">
              <a:defRPr sz="2100" b="0">
                <a:solidFill>
                  <a:srgbClr val="5C6A78"/>
                </a:solidFill>
                <a:latin typeface="Arial"/>
                <a:ea typeface="Arial"/>
                <a:cs typeface="Arial"/>
              </a:defRPr>
            </a:lvl5pPr>
            <a:lvl6pPr algn="l">
              <a:defRPr sz="2100" b="0">
                <a:solidFill>
                  <a:srgbClr val="5C6A78"/>
                </a:solidFill>
                <a:latin typeface="Arial"/>
                <a:ea typeface="Arial"/>
                <a:cs typeface="Arial"/>
              </a:defRPr>
            </a:lvl6pPr>
            <a:lvl7pPr algn="l">
              <a:defRPr sz="2100" b="0">
                <a:solidFill>
                  <a:srgbClr val="5C6A78"/>
                </a:solidFill>
                <a:latin typeface="Arial"/>
                <a:ea typeface="Arial"/>
                <a:cs typeface="Arial"/>
              </a:defRPr>
            </a:lvl7pPr>
            <a:lvl8pPr algn="l">
              <a:defRPr sz="2100" b="0">
                <a:solidFill>
                  <a:srgbClr val="5C6A78"/>
                </a:solidFill>
                <a:latin typeface="Arial"/>
                <a:ea typeface="Arial"/>
                <a:cs typeface="Arial"/>
              </a:defRPr>
            </a:lvl8pPr>
            <a:lvl9pPr algn="l">
              <a:defRPr sz="2100" b="0">
                <a:solidFill>
                  <a:srgbClr val="5C6A78"/>
                </a:solidFill>
                <a:latin typeface="Arial"/>
                <a:ea typeface="Arial"/>
                <a:cs typeface="Arial"/>
              </a:defRPr>
            </a:lvl9pPr>
          </a:lstStyle>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TVS iQube and electric 3Ws</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M&amp;M electric 3Ws</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Royal Enfield Flying Flea</a:t>
            </a:r>
          </a:p>
        </p:txBody>
      </p:sp>
      <p:sp>
        <p:nvSpPr>
          <p:cNvPr id="11" name="text-8">
            <a:extLst xmlns:a="http://schemas.openxmlformats.org/drawingml/2006/main">
              <a:ext uri="{FF2B5EF4-FFF2-40B4-BE49-F238E27FC236}">
                <a16:creationId xmlns:a16="http://schemas.microsoft.com/office/drawing/2014/main" id="{93D80EDD-5D0F-495D-91E4-DB6EB07720FB}"/>
              </a:ext>
            </a:extLst>
          </p:cNvPr>
          <p:cNvSpPr>
            <a:spLocks xmlns:a="http://schemas.openxmlformats.org/drawingml/2006/main" noGrp="1"/>
          </p:cNvSpPr>
          <p:nvPr/>
        </p:nvSpPr>
        <p:spPr>
          <a:xfrm xmlns:a="http://schemas.openxmlformats.org/drawingml/2006/main">
            <a:off x="9020175" y="644842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009DDA"/>
                </a:solidFill>
                <a:latin typeface="Arial"/>
                <a:ea typeface="Arial"/>
                <a:cs typeface="Arial"/>
              </a:defRPr>
            </a:defPPr>
            <a:lvl1pPr algn="l">
              <a:defRPr sz="3000" b="1">
                <a:solidFill>
                  <a:srgbClr val="009DDA"/>
                </a:solidFill>
                <a:latin typeface="Arial"/>
                <a:ea typeface="Arial"/>
                <a:cs typeface="Arial"/>
              </a:defRPr>
            </a:lvl1pPr>
            <a:lvl2pPr algn="l">
              <a:defRPr sz="3000" b="1">
                <a:solidFill>
                  <a:srgbClr val="009DDA"/>
                </a:solidFill>
                <a:latin typeface="Arial"/>
                <a:ea typeface="Arial"/>
                <a:cs typeface="Arial"/>
              </a:defRPr>
            </a:lvl2pPr>
            <a:lvl3pPr algn="l">
              <a:defRPr sz="3000" b="1">
                <a:solidFill>
                  <a:srgbClr val="009DDA"/>
                </a:solidFill>
                <a:latin typeface="Arial"/>
                <a:ea typeface="Arial"/>
                <a:cs typeface="Arial"/>
              </a:defRPr>
            </a:lvl3pPr>
            <a:lvl4pPr algn="l">
              <a:defRPr sz="3000" b="1">
                <a:solidFill>
                  <a:srgbClr val="009DDA"/>
                </a:solidFill>
                <a:latin typeface="Arial"/>
                <a:ea typeface="Arial"/>
                <a:cs typeface="Arial"/>
              </a:defRPr>
            </a:lvl4pPr>
            <a:lvl5pPr algn="l">
              <a:defRPr sz="3000" b="1">
                <a:solidFill>
                  <a:srgbClr val="009DDA"/>
                </a:solidFill>
                <a:latin typeface="Arial"/>
                <a:ea typeface="Arial"/>
                <a:cs typeface="Arial"/>
              </a:defRPr>
            </a:lvl5pPr>
            <a:lvl6pPr algn="l">
              <a:defRPr sz="3000" b="1">
                <a:solidFill>
                  <a:srgbClr val="009DDA"/>
                </a:solidFill>
                <a:latin typeface="Arial"/>
                <a:ea typeface="Arial"/>
                <a:cs typeface="Arial"/>
              </a:defRPr>
            </a:lvl6pPr>
            <a:lvl7pPr algn="l">
              <a:defRPr sz="3000" b="1">
                <a:solidFill>
                  <a:srgbClr val="009DDA"/>
                </a:solidFill>
                <a:latin typeface="Arial"/>
                <a:ea typeface="Arial"/>
                <a:cs typeface="Arial"/>
              </a:defRPr>
            </a:lvl7pPr>
            <a:lvl8pPr algn="l">
              <a:defRPr sz="3000" b="1">
                <a:solidFill>
                  <a:srgbClr val="009DDA"/>
                </a:solidFill>
                <a:latin typeface="Arial"/>
                <a:ea typeface="Arial"/>
                <a:cs typeface="Arial"/>
              </a:defRPr>
            </a:lvl8pPr>
            <a:lvl9pPr algn="l">
              <a:defRPr sz="3000" b="1">
                <a:solidFill>
                  <a:srgbClr val="009DDA"/>
                </a:solidFill>
                <a:latin typeface="Arial"/>
                <a:ea typeface="Arial"/>
                <a:cs typeface="Arial"/>
              </a:defRPr>
            </a:lvl9pPr>
          </a:lstStyle>
          <a:p xmlns:a="http://schemas.openxmlformats.org/drawingml/2006/main">
            <a:pPr algn="l">
              <a:defRPr sz="3000" b="1">
                <a:solidFill>
                  <a:srgbClr val="009DDA"/>
                </a:solidFill>
                <a:latin typeface="Arial"/>
                <a:ea typeface="Arial"/>
                <a:cs typeface="Arial"/>
              </a:defRPr>
            </a:pPr>
            <a:r>
              <a:rPr sz="3000" b="1">
                <a:solidFill>
                  <a:srgbClr val="009DDA"/>
                </a:solidFill>
                <a:latin typeface="Arial"/>
                <a:ea typeface="Arial"/>
                <a:cs typeface="Arial"/>
              </a:rPr>
              <a:t>0.012–0.014</a:t>
            </a:r>
          </a:p>
        </p:txBody>
      </p:sp>
      <p:sp>
        <p:nvSpPr>
          <p:cNvPr id="12" name="text-9">
            <a:extLst xmlns:a="http://schemas.openxmlformats.org/drawingml/2006/main">
              <a:ext uri="{FF2B5EF4-FFF2-40B4-BE49-F238E27FC236}">
                <a16:creationId xmlns:a16="http://schemas.microsoft.com/office/drawing/2014/main" id="{7D9B2AE4-79AF-446D-A674-CAB9FE39243E}"/>
              </a:ext>
            </a:extLst>
          </p:cNvPr>
          <p:cNvSpPr>
            <a:spLocks xmlns:a="http://schemas.openxmlformats.org/drawingml/2006/main" noGrp="1"/>
          </p:cNvSpPr>
          <p:nvPr/>
        </p:nvSpPr>
        <p:spPr>
          <a:xfrm xmlns:a="http://schemas.openxmlformats.org/drawingml/2006/main">
            <a:off x="11887200" y="644842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173C66"/>
                </a:solidFill>
                <a:latin typeface="Arial"/>
                <a:ea typeface="Arial"/>
                <a:cs typeface="Arial"/>
              </a:defRPr>
            </a:defPPr>
            <a:lvl1pPr algn="l">
              <a:defRPr sz="3000" b="1">
                <a:solidFill>
                  <a:srgbClr val="173C66"/>
                </a:solidFill>
                <a:latin typeface="Arial"/>
                <a:ea typeface="Arial"/>
                <a:cs typeface="Arial"/>
              </a:defRPr>
            </a:lvl1pPr>
            <a:lvl2pPr algn="l">
              <a:defRPr sz="3000" b="1">
                <a:solidFill>
                  <a:srgbClr val="173C66"/>
                </a:solidFill>
                <a:latin typeface="Arial"/>
                <a:ea typeface="Arial"/>
                <a:cs typeface="Arial"/>
              </a:defRPr>
            </a:lvl2pPr>
            <a:lvl3pPr algn="l">
              <a:defRPr sz="3000" b="1">
                <a:solidFill>
                  <a:srgbClr val="173C66"/>
                </a:solidFill>
                <a:latin typeface="Arial"/>
                <a:ea typeface="Arial"/>
                <a:cs typeface="Arial"/>
              </a:defRPr>
            </a:lvl3pPr>
            <a:lvl4pPr algn="l">
              <a:defRPr sz="3000" b="1">
                <a:solidFill>
                  <a:srgbClr val="173C66"/>
                </a:solidFill>
                <a:latin typeface="Arial"/>
                <a:ea typeface="Arial"/>
                <a:cs typeface="Arial"/>
              </a:defRPr>
            </a:lvl4pPr>
            <a:lvl5pPr algn="l">
              <a:defRPr sz="3000" b="1">
                <a:solidFill>
                  <a:srgbClr val="173C66"/>
                </a:solidFill>
                <a:latin typeface="Arial"/>
                <a:ea typeface="Arial"/>
                <a:cs typeface="Arial"/>
              </a:defRPr>
            </a:lvl5pPr>
            <a:lvl6pPr algn="l">
              <a:defRPr sz="3000" b="1">
                <a:solidFill>
                  <a:srgbClr val="173C66"/>
                </a:solidFill>
                <a:latin typeface="Arial"/>
                <a:ea typeface="Arial"/>
                <a:cs typeface="Arial"/>
              </a:defRPr>
            </a:lvl6pPr>
            <a:lvl7pPr algn="l">
              <a:defRPr sz="3000" b="1">
                <a:solidFill>
                  <a:srgbClr val="173C66"/>
                </a:solidFill>
                <a:latin typeface="Arial"/>
                <a:ea typeface="Arial"/>
                <a:cs typeface="Arial"/>
              </a:defRPr>
            </a:lvl7pPr>
            <a:lvl8pPr algn="l">
              <a:defRPr sz="3000" b="1">
                <a:solidFill>
                  <a:srgbClr val="173C66"/>
                </a:solidFill>
                <a:latin typeface="Arial"/>
                <a:ea typeface="Arial"/>
                <a:cs typeface="Arial"/>
              </a:defRPr>
            </a:lvl8pPr>
            <a:lvl9pPr algn="l">
              <a:defRPr sz="3000" b="1">
                <a:solidFill>
                  <a:srgbClr val="173C66"/>
                </a:solidFill>
                <a:latin typeface="Arial"/>
                <a:ea typeface="Arial"/>
                <a:cs typeface="Arial"/>
              </a:defRPr>
            </a:lvl9pPr>
          </a:lstStyle>
          <a:p xmlns:a="http://schemas.openxmlformats.org/drawingml/2006/main">
            <a:pPr algn="l">
              <a:defRPr sz="3000" b="1">
                <a:solidFill>
                  <a:srgbClr val="173C66"/>
                </a:solidFill>
                <a:latin typeface="Arial"/>
                <a:ea typeface="Arial"/>
                <a:cs typeface="Arial"/>
              </a:defRPr>
            </a:pPr>
            <a:r>
              <a:rPr sz="3000" b="1">
                <a:solidFill>
                  <a:srgbClr val="173C66"/>
                </a:solidFill>
                <a:latin typeface="Arial"/>
                <a:ea typeface="Arial"/>
                <a:cs typeface="Arial"/>
              </a:rPr>
              <a:t>c. 0.018</a:t>
            </a:r>
          </a:p>
        </p:txBody>
      </p:sp>
      <p:sp>
        <p:nvSpPr>
          <p:cNvPr id="13" name="text-10">
            <a:extLst xmlns:a="http://schemas.openxmlformats.org/drawingml/2006/main">
              <a:ext uri="{FF2B5EF4-FFF2-40B4-BE49-F238E27FC236}">
                <a16:creationId xmlns:a16="http://schemas.microsoft.com/office/drawing/2014/main" id="{38F45850-9D0F-4F71-B7C2-496E16E72F5F}"/>
              </a:ext>
            </a:extLst>
          </p:cNvPr>
          <p:cNvSpPr>
            <a:spLocks xmlns:a="http://schemas.openxmlformats.org/drawingml/2006/main" noGrp="1"/>
          </p:cNvSpPr>
          <p:nvPr/>
        </p:nvSpPr>
        <p:spPr>
          <a:xfrm xmlns:a="http://schemas.openxmlformats.org/drawingml/2006/main">
            <a:off x="9020175" y="69437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Motor only (INR m)</a:t>
            </a:r>
          </a:p>
        </p:txBody>
      </p:sp>
      <p:sp>
        <p:nvSpPr>
          <p:cNvPr id="14" name="text-11">
            <a:extLst xmlns:a="http://schemas.openxmlformats.org/drawingml/2006/main">
              <a:ext uri="{FF2B5EF4-FFF2-40B4-BE49-F238E27FC236}">
                <a16:creationId xmlns:a16="http://schemas.microsoft.com/office/drawing/2014/main" id="{33C200C2-274C-4213-80C4-D273CB9E3236}"/>
              </a:ext>
            </a:extLst>
          </p:cNvPr>
          <p:cNvSpPr>
            <a:spLocks xmlns:a="http://schemas.openxmlformats.org/drawingml/2006/main" noGrp="1"/>
          </p:cNvSpPr>
          <p:nvPr/>
        </p:nvSpPr>
        <p:spPr>
          <a:xfrm xmlns:a="http://schemas.openxmlformats.org/drawingml/2006/main">
            <a:off x="11887200" y="6943725"/>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With controller (INR m)</a:t>
            </a:r>
          </a:p>
        </p:txBody>
      </p:sp>
      <p:sp>
        <p:nvSpPr>
          <p:cNvPr id="15" name="text-12">
            <a:extLst xmlns:a="http://schemas.openxmlformats.org/drawingml/2006/main">
              <a:ext uri="{FF2B5EF4-FFF2-40B4-BE49-F238E27FC236}">
                <a16:creationId xmlns:a16="http://schemas.microsoft.com/office/drawing/2014/main" id="{2C1A0B87-E35D-48F1-8115-0439C6D89F42}"/>
              </a:ext>
            </a:extLst>
          </p:cNvPr>
          <p:cNvSpPr>
            <a:spLocks xmlns:a="http://schemas.openxmlformats.org/drawingml/2006/main" noGrp="1"/>
          </p:cNvSpPr>
          <p:nvPr/>
        </p:nvSpPr>
        <p:spPr>
          <a:xfrm xmlns:a="http://schemas.openxmlformats.org/drawingml/2006/main">
            <a:off x="647700" y="74580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Content examples from IR, specific to selected platforms. Traction motor growth dilutes group margin percentage.</a:t>
            </a:r>
          </a:p>
        </p:txBody>
      </p:sp>
    </p:spTree>
    <p:extLst>
      <p:ext uri="{BB962C8B-B14F-4D97-AF65-F5344CB8AC3E}">
        <p14:creationId xmlns:p14="http://schemas.microsoft.com/office/powerpoint/2010/main" val="13188668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8D87291C-D060-4069-BF95-35984C6E074F}"/>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51F46A4C-385D-4C5F-8D3C-A7E93F5A676F}"/>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Suspension motors open a new pool of premium EV content</a:t>
            </a:r>
          </a:p>
        </p:txBody>
      </p:sp>
      <p:sp>
        <p:nvSpPr>
          <p:cNvPr id="3" name="text-2">
            <a:extLst xmlns:a="http://schemas.openxmlformats.org/drawingml/2006/main">
              <a:ext uri="{FF2B5EF4-FFF2-40B4-BE49-F238E27FC236}">
                <a16:creationId xmlns:a16="http://schemas.microsoft.com/office/drawing/2014/main" id="{CDF80985-D969-4257-847B-B0BB90CAB0F2}"/>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Chinese customer programs are scaling, with model and OEM expansion offering further upside.</a:t>
            </a:r>
          </a:p>
        </p:txBody>
      </p:sp>
      <p:sp>
        <p:nvSpPr>
          <p:cNvPr id="4" name="">
            <a:extLst xmlns:a="http://schemas.openxmlformats.org/drawingml/2006/main">
              <a:ext uri="{FF2B5EF4-FFF2-40B4-BE49-F238E27FC236}">
                <a16:creationId xmlns:a16="http://schemas.microsoft.com/office/drawing/2014/main" id="{EA688984-2CE7-4C9A-A4F4-FB72263431A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0BCB52E2-69A7-485A-886C-10D29E80F4FB}"/>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IR notes and company Q1 FY27 earnings call</a:t>
            </a:r>
          </a:p>
        </p:txBody>
      </p:sp>
      <p:sp>
        <p:nvSpPr>
          <p:cNvPr id="6" name="text-5">
            <a:extLst xmlns:a="http://schemas.openxmlformats.org/drawingml/2006/main">
              <a:ext uri="{FF2B5EF4-FFF2-40B4-BE49-F238E27FC236}">
                <a16:creationId xmlns:a16="http://schemas.microsoft.com/office/drawing/2014/main" id="{DE29404C-E1A9-4254-94F7-22059715F39C}"/>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7</a:t>
            </a:r>
          </a:p>
        </p:txBody>
      </p:sp>
      <p:pic>
        <p:nvPicPr>
          <p:cNvPr id="7" name="">
            <a:extLst xmlns:a="http://schemas.openxmlformats.org/drawingml/2006/main">
              <a:ext uri="{FF2B5EF4-FFF2-40B4-BE49-F238E27FC236}">
                <a16:creationId xmlns:a16="http://schemas.microsoft.com/office/drawing/2014/main" id="{E6627F09-A306-40C7-AF52-E5F2F7FCB824}"/>
              </a:ext>
            </a:extLst>
          </p:cNvPr>
          <p:cNvPicPr>
            <a:picLocks xmlns:a="http://schemas.openxmlformats.org/drawingml/2006/main" noChangeAspect="1"/>
          </p:cNvPicPr>
          <p:nvPr/>
        </p:nvPicPr>
        <p:blipFill>
          <a:blip xmlns:r="http://schemas.openxmlformats.org/officeDocument/2006/relationships" xmlns:a="http://schemas.openxmlformats.org/drawingml/2006/main" r:embed="R8c6a40ce8a164ad6"/>
          <a:stretch xmlns:a="http://schemas.openxmlformats.org/drawingml/2006/main"/>
        </p:blipFill>
        <p:spPr>
          <a:xfrm xmlns:a="http://schemas.openxmlformats.org/drawingml/2006/main">
            <a:off x="1528763" y="2857500"/>
            <a:ext cx="2371725" cy="257175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17A3533A-4FC1-4112-A3B5-99C1A8B706E4}"/>
              </a:ext>
            </a:extLst>
          </p:cNvPr>
          <p:cNvSpPr>
            <a:spLocks xmlns:a="http://schemas.openxmlformats.org/drawingml/2006/main" noGrp="1"/>
          </p:cNvSpPr>
          <p:nvPr/>
        </p:nvSpPr>
        <p:spPr>
          <a:xfrm xmlns:a="http://schemas.openxmlformats.org/drawingml/2006/main">
            <a:off x="733425" y="5800725"/>
            <a:ext cx="419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01D2F"/>
                </a:solidFill>
                <a:latin typeface="Arial"/>
                <a:ea typeface="Arial"/>
                <a:cs typeface="Arial"/>
              </a:defRPr>
            </a:defPPr>
            <a:lvl1pPr algn="l">
              <a:defRPr sz="2550" b="1">
                <a:solidFill>
                  <a:srgbClr val="101D2F"/>
                </a:solidFill>
                <a:latin typeface="Arial"/>
                <a:ea typeface="Arial"/>
                <a:cs typeface="Arial"/>
              </a:defRPr>
            </a:lvl1pPr>
            <a:lvl2pPr algn="l">
              <a:defRPr sz="2550" b="1">
                <a:solidFill>
                  <a:srgbClr val="101D2F"/>
                </a:solidFill>
                <a:latin typeface="Arial"/>
                <a:ea typeface="Arial"/>
                <a:cs typeface="Arial"/>
              </a:defRPr>
            </a:lvl2pPr>
            <a:lvl3pPr algn="l">
              <a:defRPr sz="2550" b="1">
                <a:solidFill>
                  <a:srgbClr val="101D2F"/>
                </a:solidFill>
                <a:latin typeface="Arial"/>
                <a:ea typeface="Arial"/>
                <a:cs typeface="Arial"/>
              </a:defRPr>
            </a:lvl3pPr>
            <a:lvl4pPr algn="l">
              <a:defRPr sz="2550" b="1">
                <a:solidFill>
                  <a:srgbClr val="101D2F"/>
                </a:solidFill>
                <a:latin typeface="Arial"/>
                <a:ea typeface="Arial"/>
                <a:cs typeface="Arial"/>
              </a:defRPr>
            </a:lvl4pPr>
            <a:lvl5pPr algn="l">
              <a:defRPr sz="2550" b="1">
                <a:solidFill>
                  <a:srgbClr val="101D2F"/>
                </a:solidFill>
                <a:latin typeface="Arial"/>
                <a:ea typeface="Arial"/>
                <a:cs typeface="Arial"/>
              </a:defRPr>
            </a:lvl5pPr>
            <a:lvl6pPr algn="l">
              <a:defRPr sz="2550" b="1">
                <a:solidFill>
                  <a:srgbClr val="101D2F"/>
                </a:solidFill>
                <a:latin typeface="Arial"/>
                <a:ea typeface="Arial"/>
                <a:cs typeface="Arial"/>
              </a:defRPr>
            </a:lvl6pPr>
            <a:lvl7pPr algn="l">
              <a:defRPr sz="2550" b="1">
                <a:solidFill>
                  <a:srgbClr val="101D2F"/>
                </a:solidFill>
                <a:latin typeface="Arial"/>
                <a:ea typeface="Arial"/>
                <a:cs typeface="Arial"/>
              </a:defRPr>
            </a:lvl7pPr>
            <a:lvl8pPr algn="l">
              <a:defRPr sz="2550" b="1">
                <a:solidFill>
                  <a:srgbClr val="101D2F"/>
                </a:solidFill>
                <a:latin typeface="Arial"/>
                <a:ea typeface="Arial"/>
                <a:cs typeface="Arial"/>
              </a:defRPr>
            </a:lvl8pPr>
            <a:lvl9pPr algn="l">
              <a:defRPr sz="2550" b="1">
                <a:solidFill>
                  <a:srgbClr val="101D2F"/>
                </a:solidFill>
                <a:latin typeface="Arial"/>
                <a:ea typeface="Arial"/>
                <a:cs typeface="Arial"/>
              </a:defRPr>
            </a:lvl9pPr>
          </a:lstStyle>
          <a:p xmlns:a="http://schemas.openxmlformats.org/drawingml/2006/main">
            <a:pPr algn="l">
              <a:defRPr sz="2550" b="1">
                <a:solidFill>
                  <a:srgbClr val="101D2F"/>
                </a:solidFill>
                <a:latin typeface="Arial"/>
                <a:ea typeface="Arial"/>
                <a:cs typeface="Arial"/>
              </a:defRPr>
            </a:pPr>
            <a:r>
              <a:rPr sz="2550" b="1">
                <a:solidFill>
                  <a:srgbClr val="101D2F"/>
                </a:solidFill>
                <a:latin typeface="Arial"/>
                <a:ea typeface="Arial"/>
                <a:cs typeface="Arial"/>
              </a:rPr>
              <a:t>Active suspension</a:t>
            </a:r>
          </a:p>
        </p:txBody>
      </p:sp>
      <p:sp>
        <p:nvSpPr>
          <p:cNvPr id="9" name="text-7">
            <a:extLst xmlns:a="http://schemas.openxmlformats.org/drawingml/2006/main">
              <a:ext uri="{FF2B5EF4-FFF2-40B4-BE49-F238E27FC236}">
                <a16:creationId xmlns:a16="http://schemas.microsoft.com/office/drawing/2014/main" id="{7AEE35B4-4B87-4564-AEF9-E61F347E3E53}"/>
              </a:ext>
            </a:extLst>
          </p:cNvPr>
          <p:cNvSpPr>
            <a:spLocks xmlns:a="http://schemas.openxmlformats.org/drawingml/2006/main" noGrp="1"/>
          </p:cNvSpPr>
          <p:nvPr/>
        </p:nvSpPr>
        <p:spPr>
          <a:xfrm xmlns:a="http://schemas.openxmlformats.org/drawingml/2006/main">
            <a:off x="733425" y="640080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C6A78"/>
                </a:solidFill>
                <a:latin typeface="Arial"/>
                <a:ea typeface="Arial"/>
                <a:cs typeface="Arial"/>
              </a:defRPr>
            </a:defPPr>
            <a:lvl1pPr algn="l">
              <a:defRPr sz="2025" b="0">
                <a:solidFill>
                  <a:srgbClr val="5C6A78"/>
                </a:solidFill>
                <a:latin typeface="Arial"/>
                <a:ea typeface="Arial"/>
                <a:cs typeface="Arial"/>
              </a:defRPr>
            </a:lvl1pPr>
            <a:lvl2pPr algn="l">
              <a:defRPr sz="2025" b="0">
                <a:solidFill>
                  <a:srgbClr val="5C6A78"/>
                </a:solidFill>
                <a:latin typeface="Arial"/>
                <a:ea typeface="Arial"/>
                <a:cs typeface="Arial"/>
              </a:defRPr>
            </a:lvl2pPr>
            <a:lvl3pPr algn="l">
              <a:defRPr sz="2025" b="0">
                <a:solidFill>
                  <a:srgbClr val="5C6A78"/>
                </a:solidFill>
                <a:latin typeface="Arial"/>
                <a:ea typeface="Arial"/>
                <a:cs typeface="Arial"/>
              </a:defRPr>
            </a:lvl3pPr>
            <a:lvl4pPr algn="l">
              <a:defRPr sz="2025" b="0">
                <a:solidFill>
                  <a:srgbClr val="5C6A78"/>
                </a:solidFill>
                <a:latin typeface="Arial"/>
                <a:ea typeface="Arial"/>
                <a:cs typeface="Arial"/>
              </a:defRPr>
            </a:lvl4pPr>
            <a:lvl5pPr algn="l">
              <a:defRPr sz="2025" b="0">
                <a:solidFill>
                  <a:srgbClr val="5C6A78"/>
                </a:solidFill>
                <a:latin typeface="Arial"/>
                <a:ea typeface="Arial"/>
                <a:cs typeface="Arial"/>
              </a:defRPr>
            </a:lvl5pPr>
            <a:lvl6pPr algn="l">
              <a:defRPr sz="2025" b="0">
                <a:solidFill>
                  <a:srgbClr val="5C6A78"/>
                </a:solidFill>
                <a:latin typeface="Arial"/>
                <a:ea typeface="Arial"/>
                <a:cs typeface="Arial"/>
              </a:defRPr>
            </a:lvl6pPr>
            <a:lvl7pPr algn="l">
              <a:defRPr sz="2025" b="0">
                <a:solidFill>
                  <a:srgbClr val="5C6A78"/>
                </a:solidFill>
                <a:latin typeface="Arial"/>
                <a:ea typeface="Arial"/>
                <a:cs typeface="Arial"/>
              </a:defRPr>
            </a:lvl7pPr>
            <a:lvl8pPr algn="l">
              <a:defRPr sz="2025" b="0">
                <a:solidFill>
                  <a:srgbClr val="5C6A78"/>
                </a:solidFill>
                <a:latin typeface="Arial"/>
                <a:ea typeface="Arial"/>
                <a:cs typeface="Arial"/>
              </a:defRPr>
            </a:lvl8pPr>
            <a:lvl9pPr algn="l">
              <a:defRPr sz="2025" b="0">
                <a:solidFill>
                  <a:srgbClr val="5C6A78"/>
                </a:solidFill>
                <a:latin typeface="Arial"/>
                <a:ea typeface="Arial"/>
                <a:cs typeface="Arial"/>
              </a:defRPr>
            </a:lvl9pPr>
          </a:lstStyle>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Motor + controller</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for premium EV ride control</a:t>
            </a:r>
          </a:p>
        </p:txBody>
      </p:sp>
      <p:graphicFrame>
        <p:nvGraphicFramePr>
          <p:cNvPr id="10" name="Chart">
            <a:extLst xmlns:a="http://schemas.openxmlformats.org/drawingml/2006/main">
              <a:ext uri="{FF2B5EF4-FFF2-40B4-BE49-F238E27FC236}">
                <a16:creationId xmlns:a16="http://schemas.microsoft.com/office/drawing/2014/main" id="{5C97EF70-BDA7-44D3-897C-9F44FCA506ED}"/>
              </a:ext>
            </a:extLst>
          </p:cNvPr>
          <p:cNvGraphicFramePr/>
          <p:nvPr/>
        </p:nvGraphicFramePr>
        <p:xfrm>
          <a:off xmlns:a="http://schemas.openxmlformats.org/drawingml/2006/main" x="5810250" y="2647950"/>
          <a:ext xmlns:a="http://schemas.openxmlformats.org/drawingml/2006/main" cx="8810625" cy="4057650"/>
        </p:xfrm>
        <a:graphic xmlns:a="http://schemas.openxmlformats.org/drawingml/2006/main">
          <a:graphicData uri="http://schemas.openxmlformats.org/drawingml/2006/chart">
            <c:chart xmlns:r="http://schemas.openxmlformats.org/officeDocument/2006/relationships" xmlns:c="http://schemas.openxmlformats.org/drawingml/2006/chart" r:id="R6f5e187a63904c74"/>
          </a:graphicData>
        </a:graphic>
      </p:graphicFrame>
      <p:sp>
        <p:nvSpPr>
          <p:cNvPr id="11" name="text-8">
            <a:extLst xmlns:a="http://schemas.openxmlformats.org/drawingml/2006/main">
              <a:ext uri="{FF2B5EF4-FFF2-40B4-BE49-F238E27FC236}">
                <a16:creationId xmlns:a16="http://schemas.microsoft.com/office/drawing/2014/main" id="{A4B7F1FD-F041-422D-B880-E9EE3EFA2164}"/>
              </a:ext>
            </a:extLst>
          </p:cNvPr>
          <p:cNvSpPr>
            <a:spLocks xmlns:a="http://schemas.openxmlformats.org/drawingml/2006/main" noGrp="1"/>
          </p:cNvSpPr>
          <p:nvPr/>
        </p:nvSpPr>
        <p:spPr>
          <a:xfrm xmlns:a="http://schemas.openxmlformats.org/drawingml/2006/main">
            <a:off x="6105525" y="68008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009DDA"/>
                </a:solidFill>
                <a:latin typeface="Arial"/>
                <a:ea typeface="Arial"/>
                <a:cs typeface="Arial"/>
              </a:defRPr>
            </a:defPPr>
            <a:lvl1pPr algn="l">
              <a:defRPr sz="3675" b="1">
                <a:solidFill>
                  <a:srgbClr val="009DDA"/>
                </a:solidFill>
                <a:latin typeface="Arial"/>
                <a:ea typeface="Arial"/>
                <a:cs typeface="Arial"/>
              </a:defRPr>
            </a:lvl1pPr>
            <a:lvl2pPr algn="l">
              <a:defRPr sz="3675" b="1">
                <a:solidFill>
                  <a:srgbClr val="009DDA"/>
                </a:solidFill>
                <a:latin typeface="Arial"/>
                <a:ea typeface="Arial"/>
                <a:cs typeface="Arial"/>
              </a:defRPr>
            </a:lvl2pPr>
            <a:lvl3pPr algn="l">
              <a:defRPr sz="3675" b="1">
                <a:solidFill>
                  <a:srgbClr val="009DDA"/>
                </a:solidFill>
                <a:latin typeface="Arial"/>
                <a:ea typeface="Arial"/>
                <a:cs typeface="Arial"/>
              </a:defRPr>
            </a:lvl3pPr>
            <a:lvl4pPr algn="l">
              <a:defRPr sz="3675" b="1">
                <a:solidFill>
                  <a:srgbClr val="009DDA"/>
                </a:solidFill>
                <a:latin typeface="Arial"/>
                <a:ea typeface="Arial"/>
                <a:cs typeface="Arial"/>
              </a:defRPr>
            </a:lvl4pPr>
            <a:lvl5pPr algn="l">
              <a:defRPr sz="3675" b="1">
                <a:solidFill>
                  <a:srgbClr val="009DDA"/>
                </a:solidFill>
                <a:latin typeface="Arial"/>
                <a:ea typeface="Arial"/>
                <a:cs typeface="Arial"/>
              </a:defRPr>
            </a:lvl5pPr>
            <a:lvl6pPr algn="l">
              <a:defRPr sz="3675" b="1">
                <a:solidFill>
                  <a:srgbClr val="009DDA"/>
                </a:solidFill>
                <a:latin typeface="Arial"/>
                <a:ea typeface="Arial"/>
                <a:cs typeface="Arial"/>
              </a:defRPr>
            </a:lvl6pPr>
            <a:lvl7pPr algn="l">
              <a:defRPr sz="3675" b="1">
                <a:solidFill>
                  <a:srgbClr val="009DDA"/>
                </a:solidFill>
                <a:latin typeface="Arial"/>
                <a:ea typeface="Arial"/>
                <a:cs typeface="Arial"/>
              </a:defRPr>
            </a:lvl7pPr>
            <a:lvl8pPr algn="l">
              <a:defRPr sz="3675" b="1">
                <a:solidFill>
                  <a:srgbClr val="009DDA"/>
                </a:solidFill>
                <a:latin typeface="Arial"/>
                <a:ea typeface="Arial"/>
                <a:cs typeface="Arial"/>
              </a:defRPr>
            </a:lvl8pPr>
            <a:lvl9pPr algn="l">
              <a:defRPr sz="3675" b="1">
                <a:solidFill>
                  <a:srgbClr val="009DDA"/>
                </a:solidFill>
                <a:latin typeface="Arial"/>
                <a:ea typeface="Arial"/>
                <a:cs typeface="Arial"/>
              </a:defRPr>
            </a:lvl9pPr>
          </a:lstStyle>
          <a:p xmlns:a="http://schemas.openxmlformats.org/drawingml/2006/main">
            <a:pPr algn="l">
              <a:defRPr sz="3675" b="1">
                <a:solidFill>
                  <a:srgbClr val="009DDA"/>
                </a:solidFill>
                <a:latin typeface="Arial"/>
                <a:ea typeface="Arial"/>
                <a:cs typeface="Arial"/>
              </a:defRPr>
            </a:pPr>
            <a:r>
              <a:rPr sz="3675" b="1">
                <a:solidFill>
                  <a:srgbClr val="009DDA"/>
                </a:solidFill>
                <a:latin typeface="Arial"/>
                <a:ea typeface="Arial"/>
                <a:cs typeface="Arial"/>
              </a:rPr>
              <a:t>12.5×</a:t>
            </a:r>
          </a:p>
        </p:txBody>
      </p:sp>
      <p:sp>
        <p:nvSpPr>
          <p:cNvPr id="12" name="text-9">
            <a:extLst xmlns:a="http://schemas.openxmlformats.org/drawingml/2006/main">
              <a:ext uri="{FF2B5EF4-FFF2-40B4-BE49-F238E27FC236}">
                <a16:creationId xmlns:a16="http://schemas.microsoft.com/office/drawing/2014/main" id="{817FA19A-BC44-4242-9AC4-BD1DDD9CBA32}"/>
              </a:ext>
            </a:extLst>
          </p:cNvPr>
          <p:cNvSpPr>
            <a:spLocks xmlns:a="http://schemas.openxmlformats.org/drawingml/2006/main" noGrp="1"/>
          </p:cNvSpPr>
          <p:nvPr/>
        </p:nvSpPr>
        <p:spPr>
          <a:xfrm xmlns:a="http://schemas.openxmlformats.org/drawingml/2006/main">
            <a:off x="8458200" y="6838950"/>
            <a:ext cx="600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1D2F"/>
                </a:solidFill>
                <a:latin typeface="Arial"/>
                <a:ea typeface="Arial"/>
                <a:cs typeface="Arial"/>
              </a:defRPr>
            </a:defPPr>
            <a:lvl1pPr algn="l">
              <a:defRPr sz="2025" b="0">
                <a:solidFill>
                  <a:srgbClr val="101D2F"/>
                </a:solidFill>
                <a:latin typeface="Arial"/>
                <a:ea typeface="Arial"/>
                <a:cs typeface="Arial"/>
              </a:defRPr>
            </a:lvl1pPr>
            <a:lvl2pPr algn="l">
              <a:defRPr sz="2025" b="0">
                <a:solidFill>
                  <a:srgbClr val="101D2F"/>
                </a:solidFill>
                <a:latin typeface="Arial"/>
                <a:ea typeface="Arial"/>
                <a:cs typeface="Arial"/>
              </a:defRPr>
            </a:lvl2pPr>
            <a:lvl3pPr algn="l">
              <a:defRPr sz="2025" b="0">
                <a:solidFill>
                  <a:srgbClr val="101D2F"/>
                </a:solidFill>
                <a:latin typeface="Arial"/>
                <a:ea typeface="Arial"/>
                <a:cs typeface="Arial"/>
              </a:defRPr>
            </a:lvl3pPr>
            <a:lvl4pPr algn="l">
              <a:defRPr sz="2025" b="0">
                <a:solidFill>
                  <a:srgbClr val="101D2F"/>
                </a:solidFill>
                <a:latin typeface="Arial"/>
                <a:ea typeface="Arial"/>
                <a:cs typeface="Arial"/>
              </a:defRPr>
            </a:lvl4pPr>
            <a:lvl5pPr algn="l">
              <a:defRPr sz="2025" b="0">
                <a:solidFill>
                  <a:srgbClr val="101D2F"/>
                </a:solidFill>
                <a:latin typeface="Arial"/>
                <a:ea typeface="Arial"/>
                <a:cs typeface="Arial"/>
              </a:defRPr>
            </a:lvl5pPr>
            <a:lvl6pPr algn="l">
              <a:defRPr sz="2025" b="0">
                <a:solidFill>
                  <a:srgbClr val="101D2F"/>
                </a:solidFill>
                <a:latin typeface="Arial"/>
                <a:ea typeface="Arial"/>
                <a:cs typeface="Arial"/>
              </a:defRPr>
            </a:lvl6pPr>
            <a:lvl7pPr algn="l">
              <a:defRPr sz="2025" b="0">
                <a:solidFill>
                  <a:srgbClr val="101D2F"/>
                </a:solidFill>
                <a:latin typeface="Arial"/>
                <a:ea typeface="Arial"/>
                <a:cs typeface="Arial"/>
              </a:defRPr>
            </a:lvl7pPr>
            <a:lvl8pPr algn="l">
              <a:defRPr sz="2025" b="0">
                <a:solidFill>
                  <a:srgbClr val="101D2F"/>
                </a:solidFill>
                <a:latin typeface="Arial"/>
                <a:ea typeface="Arial"/>
                <a:cs typeface="Arial"/>
              </a:defRPr>
            </a:lvl8pPr>
            <a:lvl9pPr algn="l">
              <a:defRPr sz="2025" b="0">
                <a:solidFill>
                  <a:srgbClr val="101D2F"/>
                </a:solidFill>
                <a:latin typeface="Arial"/>
                <a:ea typeface="Arial"/>
                <a:cs typeface="Arial"/>
              </a:defRPr>
            </a:lvl9pPr>
          </a:lstStyle>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FY26–30E revenue growth</a:t>
            </a:r>
          </a:p>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from a very small base</a:t>
            </a:r>
          </a:p>
        </p:txBody>
      </p:sp>
      <p:sp>
        <p:nvSpPr>
          <p:cNvPr id="13" name="text-10">
            <a:extLst xmlns:a="http://schemas.openxmlformats.org/drawingml/2006/main">
              <a:ext uri="{FF2B5EF4-FFF2-40B4-BE49-F238E27FC236}">
                <a16:creationId xmlns:a16="http://schemas.microsoft.com/office/drawing/2014/main" id="{2D1EA3E4-2751-418C-BAF7-0D81EAB3A343}"/>
              </a:ext>
            </a:extLst>
          </p:cNvPr>
          <p:cNvSpPr>
            <a:spLocks xmlns:a="http://schemas.openxmlformats.org/drawingml/2006/main" noGrp="1"/>
          </p:cNvSpPr>
          <p:nvPr/>
        </p:nvSpPr>
        <p:spPr>
          <a:xfrm xmlns:a="http://schemas.openxmlformats.org/drawingml/2006/main">
            <a:off x="647700" y="74580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The model reaches only INR 500m by FY30E. New models and customers represent upside to this modest forecast.</a:t>
            </a:r>
          </a:p>
        </p:txBody>
      </p:sp>
    </p:spTree>
    <p:extLst>
      <p:ext uri="{BB962C8B-B14F-4D97-AF65-F5344CB8AC3E}">
        <p14:creationId xmlns:p14="http://schemas.microsoft.com/office/powerpoint/2010/main" val="3248263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1B3CEEDA-D31D-4902-9487-E9FC13E2112E}"/>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08E00E24-F02B-45E3-94EC-455642EF50F7}"/>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Railways adds a different source of growth and visibility</a:t>
            </a:r>
          </a:p>
        </p:txBody>
      </p:sp>
      <p:sp>
        <p:nvSpPr>
          <p:cNvPr id="3" name="text-2">
            <a:extLst xmlns:a="http://schemas.openxmlformats.org/drawingml/2006/main">
              <a:ext uri="{FF2B5EF4-FFF2-40B4-BE49-F238E27FC236}">
                <a16:creationId xmlns:a16="http://schemas.microsoft.com/office/drawing/2014/main" id="{E73C7C2F-F9E8-48B1-8B8C-D02C452475ED}"/>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New products and maintenance contracts can deepen the acquired business.</a:t>
            </a:r>
          </a:p>
        </p:txBody>
      </p:sp>
      <p:sp>
        <p:nvSpPr>
          <p:cNvPr id="4" name="">
            <a:extLst xmlns:a="http://schemas.openxmlformats.org/drawingml/2006/main">
              <a:ext uri="{FF2B5EF4-FFF2-40B4-BE49-F238E27FC236}">
                <a16:creationId xmlns:a16="http://schemas.microsoft.com/office/drawing/2014/main" id="{7329ED8E-F295-453A-B1C3-1F07AD1059C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E2BB975E-59B9-4803-8225-417EDFE95C7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Sona railway product materials and IR notes</a:t>
            </a:r>
          </a:p>
        </p:txBody>
      </p:sp>
      <p:sp>
        <p:nvSpPr>
          <p:cNvPr id="6" name="text-5">
            <a:extLst xmlns:a="http://schemas.openxmlformats.org/drawingml/2006/main">
              <a:ext uri="{FF2B5EF4-FFF2-40B4-BE49-F238E27FC236}">
                <a16:creationId xmlns:a16="http://schemas.microsoft.com/office/drawing/2014/main" id="{81BBF988-C99E-4552-8BA7-AB0E9B8593E9}"/>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8</a:t>
            </a:r>
          </a:p>
        </p:txBody>
      </p:sp>
      <p:graphicFrame>
        <p:nvGraphicFramePr>
          <p:cNvPr id="7" name="Chart">
            <a:extLst xmlns:a="http://schemas.openxmlformats.org/drawingml/2006/main">
              <a:ext uri="{FF2B5EF4-FFF2-40B4-BE49-F238E27FC236}">
                <a16:creationId xmlns:a16="http://schemas.microsoft.com/office/drawing/2014/main" id="{8A193A3C-CDE7-4EA1-9678-DEA7428E8AA0}"/>
              </a:ext>
            </a:extLst>
          </p:cNvPr>
          <p:cNvGraphicFramePr/>
          <p:nvPr/>
        </p:nvGraphicFramePr>
        <p:xfrm>
          <a:off xmlns:a="http://schemas.openxmlformats.org/drawingml/2006/main" x="619125" y="2667000"/>
          <a:ext xmlns:a="http://schemas.openxmlformats.org/drawingml/2006/main" cx="8667750" cy="4019550"/>
        </p:xfrm>
        <a:graphic xmlns:a="http://schemas.openxmlformats.org/drawingml/2006/main">
          <a:graphicData uri="http://schemas.openxmlformats.org/drawingml/2006/chart">
            <c:chart xmlns:r="http://schemas.openxmlformats.org/officeDocument/2006/relationships" xmlns:c="http://schemas.openxmlformats.org/drawingml/2006/chart" r:id="Rf6858fa2634b40fc"/>
          </a:graphicData>
        </a:graphic>
      </p:graphicFrame>
      <p:sp>
        <p:nvSpPr>
          <p:cNvPr id="8" name="text-6">
            <a:extLst xmlns:a="http://schemas.openxmlformats.org/drawingml/2006/main">
              <a:ext uri="{FF2B5EF4-FFF2-40B4-BE49-F238E27FC236}">
                <a16:creationId xmlns:a16="http://schemas.microsoft.com/office/drawing/2014/main" id="{5CA3F271-805C-4D01-A43A-BB49EE433E46}"/>
              </a:ext>
            </a:extLst>
          </p:cNvPr>
          <p:cNvSpPr>
            <a:spLocks xmlns:a="http://schemas.openxmlformats.org/drawingml/2006/main" noGrp="1"/>
          </p:cNvSpPr>
          <p:nvPr/>
        </p:nvSpPr>
        <p:spPr>
          <a:xfrm xmlns:a="http://schemas.openxmlformats.org/drawingml/2006/main">
            <a:off x="10001250" y="2743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INR 12bn</a:t>
            </a:r>
          </a:p>
        </p:txBody>
      </p:sp>
      <p:sp>
        <p:nvSpPr>
          <p:cNvPr id="9" name="text-7">
            <a:extLst xmlns:a="http://schemas.openxmlformats.org/drawingml/2006/main">
              <a:ext uri="{FF2B5EF4-FFF2-40B4-BE49-F238E27FC236}">
                <a16:creationId xmlns:a16="http://schemas.microsoft.com/office/drawing/2014/main" id="{1818C6DB-CF21-450A-B274-8CB03B1927DB}"/>
              </a:ext>
            </a:extLst>
          </p:cNvPr>
          <p:cNvSpPr>
            <a:spLocks xmlns:a="http://schemas.openxmlformats.org/drawingml/2006/main" noGrp="1"/>
          </p:cNvSpPr>
          <p:nvPr/>
        </p:nvSpPr>
        <p:spPr>
          <a:xfrm xmlns:a="http://schemas.openxmlformats.org/drawingml/2006/main">
            <a:off x="10001250" y="345757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Railway order book</a:t>
            </a:r>
          </a:p>
        </p:txBody>
      </p:sp>
      <p:sp>
        <p:nvSpPr>
          <p:cNvPr id="10" name="text-8">
            <a:extLst xmlns:a="http://schemas.openxmlformats.org/drawingml/2006/main">
              <a:ext uri="{FF2B5EF4-FFF2-40B4-BE49-F238E27FC236}">
                <a16:creationId xmlns:a16="http://schemas.microsoft.com/office/drawing/2014/main" id="{246A35BC-6A17-4EB8-A953-2DB61FC6E5EB}"/>
              </a:ext>
            </a:extLst>
          </p:cNvPr>
          <p:cNvSpPr>
            <a:spLocks xmlns:a="http://schemas.openxmlformats.org/drawingml/2006/main" noGrp="1"/>
          </p:cNvSpPr>
          <p:nvPr/>
        </p:nvSpPr>
        <p:spPr>
          <a:xfrm xmlns:a="http://schemas.openxmlformats.org/drawingml/2006/main">
            <a:off x="10001250" y="38481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Purchase orders, largely within 12 months</a:t>
            </a:r>
          </a:p>
        </p:txBody>
      </p:sp>
      <p:sp>
        <p:nvSpPr>
          <p:cNvPr id="11" name="text-9">
            <a:extLst xmlns:a="http://schemas.openxmlformats.org/drawingml/2006/main">
              <a:ext uri="{FF2B5EF4-FFF2-40B4-BE49-F238E27FC236}">
                <a16:creationId xmlns:a16="http://schemas.microsoft.com/office/drawing/2014/main" id="{40483FD2-54F0-4C38-8576-3921040FD319}"/>
              </a:ext>
            </a:extLst>
          </p:cNvPr>
          <p:cNvSpPr>
            <a:spLocks xmlns:a="http://schemas.openxmlformats.org/drawingml/2006/main" noGrp="1"/>
          </p:cNvSpPr>
          <p:nvPr/>
        </p:nvSpPr>
        <p:spPr>
          <a:xfrm xmlns:a="http://schemas.openxmlformats.org/drawingml/2006/main">
            <a:off x="10001250" y="489585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vl1pPr algn="l">
              <a:defRPr sz="2325" b="1">
                <a:solidFill>
                  <a:srgbClr val="101D2F"/>
                </a:solidFill>
                <a:latin typeface="Arial"/>
                <a:ea typeface="Arial"/>
                <a:cs typeface="Arial"/>
              </a:defRPr>
            </a:lvl1pPr>
            <a:lvl2pPr algn="l">
              <a:defRPr sz="2325" b="1">
                <a:solidFill>
                  <a:srgbClr val="101D2F"/>
                </a:solidFill>
                <a:latin typeface="Arial"/>
                <a:ea typeface="Arial"/>
                <a:cs typeface="Arial"/>
              </a:defRPr>
            </a:lvl2pPr>
            <a:lvl3pPr algn="l">
              <a:defRPr sz="2325" b="1">
                <a:solidFill>
                  <a:srgbClr val="101D2F"/>
                </a:solidFill>
                <a:latin typeface="Arial"/>
                <a:ea typeface="Arial"/>
                <a:cs typeface="Arial"/>
              </a:defRPr>
            </a:lvl3pPr>
            <a:lvl4pPr algn="l">
              <a:defRPr sz="2325" b="1">
                <a:solidFill>
                  <a:srgbClr val="101D2F"/>
                </a:solidFill>
                <a:latin typeface="Arial"/>
                <a:ea typeface="Arial"/>
                <a:cs typeface="Arial"/>
              </a:defRPr>
            </a:lvl4pPr>
            <a:lvl5pPr algn="l">
              <a:defRPr sz="2325" b="1">
                <a:solidFill>
                  <a:srgbClr val="101D2F"/>
                </a:solidFill>
                <a:latin typeface="Arial"/>
                <a:ea typeface="Arial"/>
                <a:cs typeface="Arial"/>
              </a:defRPr>
            </a:lvl5pPr>
            <a:lvl6pPr algn="l">
              <a:defRPr sz="2325" b="1">
                <a:solidFill>
                  <a:srgbClr val="101D2F"/>
                </a:solidFill>
                <a:latin typeface="Arial"/>
                <a:ea typeface="Arial"/>
                <a:cs typeface="Arial"/>
              </a:defRPr>
            </a:lvl6pPr>
            <a:lvl7pPr algn="l">
              <a:defRPr sz="2325" b="1">
                <a:solidFill>
                  <a:srgbClr val="101D2F"/>
                </a:solidFill>
                <a:latin typeface="Arial"/>
                <a:ea typeface="Arial"/>
                <a:cs typeface="Arial"/>
              </a:defRPr>
            </a:lvl7pPr>
            <a:lvl8pPr algn="l">
              <a:defRPr sz="2325" b="1">
                <a:solidFill>
                  <a:srgbClr val="101D2F"/>
                </a:solidFill>
                <a:latin typeface="Arial"/>
                <a:ea typeface="Arial"/>
                <a:cs typeface="Arial"/>
              </a:defRPr>
            </a:lvl8pPr>
            <a:lvl9pPr algn="l">
              <a:defRPr sz="2325" b="1">
                <a:solidFill>
                  <a:srgbClr val="101D2F"/>
                </a:solidFill>
                <a:latin typeface="Arial"/>
                <a:ea typeface="Arial"/>
                <a:cs typeface="Arial"/>
              </a:defRPr>
            </a:lvl9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Wider product portfolio</a:t>
            </a:r>
          </a:p>
        </p:txBody>
      </p:sp>
      <p:sp>
        <p:nvSpPr>
          <p:cNvPr id="12" name="text-10">
            <a:extLst xmlns:a="http://schemas.openxmlformats.org/drawingml/2006/main">
              <a:ext uri="{FF2B5EF4-FFF2-40B4-BE49-F238E27FC236}">
                <a16:creationId xmlns:a16="http://schemas.microsoft.com/office/drawing/2014/main" id="{B9646C2E-A811-4B2E-BFD1-1AEEBDC3FA0F}"/>
              </a:ext>
            </a:extLst>
          </p:cNvPr>
          <p:cNvSpPr>
            <a:spLocks xmlns:a="http://schemas.openxmlformats.org/drawingml/2006/main" noGrp="1"/>
          </p:cNvSpPr>
          <p:nvPr/>
        </p:nvSpPr>
        <p:spPr>
          <a:xfrm xmlns:a="http://schemas.openxmlformats.org/drawingml/2006/main">
            <a:off x="10001250" y="5467350"/>
            <a:ext cx="447675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C6A78"/>
                </a:solidFill>
                <a:latin typeface="Arial"/>
                <a:ea typeface="Arial"/>
                <a:cs typeface="Arial"/>
              </a:defRPr>
            </a:defPPr>
            <a:lvl1pPr algn="l">
              <a:defRPr sz="2025" b="0">
                <a:solidFill>
                  <a:srgbClr val="5C6A78"/>
                </a:solidFill>
                <a:latin typeface="Arial"/>
                <a:ea typeface="Arial"/>
                <a:cs typeface="Arial"/>
              </a:defRPr>
            </a:lvl1pPr>
            <a:lvl2pPr algn="l">
              <a:defRPr sz="2025" b="0">
                <a:solidFill>
                  <a:srgbClr val="5C6A78"/>
                </a:solidFill>
                <a:latin typeface="Arial"/>
                <a:ea typeface="Arial"/>
                <a:cs typeface="Arial"/>
              </a:defRPr>
            </a:lvl2pPr>
            <a:lvl3pPr algn="l">
              <a:defRPr sz="2025" b="0">
                <a:solidFill>
                  <a:srgbClr val="5C6A78"/>
                </a:solidFill>
                <a:latin typeface="Arial"/>
                <a:ea typeface="Arial"/>
                <a:cs typeface="Arial"/>
              </a:defRPr>
            </a:lvl3pPr>
            <a:lvl4pPr algn="l">
              <a:defRPr sz="2025" b="0">
                <a:solidFill>
                  <a:srgbClr val="5C6A78"/>
                </a:solidFill>
                <a:latin typeface="Arial"/>
                <a:ea typeface="Arial"/>
                <a:cs typeface="Arial"/>
              </a:defRPr>
            </a:lvl4pPr>
            <a:lvl5pPr algn="l">
              <a:defRPr sz="2025" b="0">
                <a:solidFill>
                  <a:srgbClr val="5C6A78"/>
                </a:solidFill>
                <a:latin typeface="Arial"/>
                <a:ea typeface="Arial"/>
                <a:cs typeface="Arial"/>
              </a:defRPr>
            </a:lvl5pPr>
            <a:lvl6pPr algn="l">
              <a:defRPr sz="2025" b="0">
                <a:solidFill>
                  <a:srgbClr val="5C6A78"/>
                </a:solidFill>
                <a:latin typeface="Arial"/>
                <a:ea typeface="Arial"/>
                <a:cs typeface="Arial"/>
              </a:defRPr>
            </a:lvl6pPr>
            <a:lvl7pPr algn="l">
              <a:defRPr sz="2025" b="0">
                <a:solidFill>
                  <a:srgbClr val="5C6A78"/>
                </a:solidFill>
                <a:latin typeface="Arial"/>
                <a:ea typeface="Arial"/>
                <a:cs typeface="Arial"/>
              </a:defRPr>
            </a:lvl7pPr>
            <a:lvl8pPr algn="l">
              <a:defRPr sz="2025" b="0">
                <a:solidFill>
                  <a:srgbClr val="5C6A78"/>
                </a:solidFill>
                <a:latin typeface="Arial"/>
                <a:ea typeface="Arial"/>
                <a:cs typeface="Arial"/>
              </a:defRPr>
            </a:lvl8pPr>
            <a:lvl9pPr algn="l">
              <a:defRPr sz="2025" b="0">
                <a:solidFill>
                  <a:srgbClr val="5C6A78"/>
                </a:solidFill>
                <a:latin typeface="Arial"/>
                <a:ea typeface="Arial"/>
                <a:cs typeface="Arial"/>
              </a:defRPr>
            </a:lvl9pPr>
          </a:lstStyle>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Brakes and couplers</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HVAC, doors and panels</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Annual maintenance contracts</a:t>
            </a:r>
          </a:p>
        </p:txBody>
      </p:sp>
      <p:sp>
        <p:nvSpPr>
          <p:cNvPr id="13" name="text-11">
            <a:extLst xmlns:a="http://schemas.openxmlformats.org/drawingml/2006/main">
              <a:ext uri="{FF2B5EF4-FFF2-40B4-BE49-F238E27FC236}">
                <a16:creationId xmlns:a16="http://schemas.microsoft.com/office/drawing/2014/main" id="{5C4876FF-1C6B-4F7D-A9D1-AE17AF2C4BCE}"/>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FY27E growth is 40%, moderating to 15% in FY28E. Maintenance opportunity is qualitative upside, not a modelled margin step-up.</a:t>
            </a:r>
          </a:p>
        </p:txBody>
      </p:sp>
    </p:spTree>
    <p:extLst>
      <p:ext uri="{BB962C8B-B14F-4D97-AF65-F5344CB8AC3E}">
        <p14:creationId xmlns:p14="http://schemas.microsoft.com/office/powerpoint/2010/main" val="6553968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CBF880C-BBD2-478F-9502-4590A514B098}"/>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9822C37A-6E13-4AE3-B3CA-A9FEDFF33533}"/>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Earnings can compound without a return to peak margins</a:t>
            </a:r>
          </a:p>
        </p:txBody>
      </p:sp>
      <p:sp>
        <p:nvSpPr>
          <p:cNvPr id="3" name="text-2">
            <a:extLst xmlns:a="http://schemas.openxmlformats.org/drawingml/2006/main">
              <a:ext uri="{FF2B5EF4-FFF2-40B4-BE49-F238E27FC236}">
                <a16:creationId xmlns:a16="http://schemas.microsoft.com/office/drawing/2014/main" id="{1F33582E-734B-429E-BAE1-FAC44C6F3138}"/>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model assumes 23.9% EBITDA margin in FY27E and 25.0% in FY30E.</a:t>
            </a:r>
          </a:p>
        </p:txBody>
      </p:sp>
      <p:sp>
        <p:nvSpPr>
          <p:cNvPr id="4" name="">
            <a:extLst xmlns:a="http://schemas.openxmlformats.org/drawingml/2006/main">
              <a:ext uri="{FF2B5EF4-FFF2-40B4-BE49-F238E27FC236}">
                <a16:creationId xmlns:a16="http://schemas.microsoft.com/office/drawing/2014/main" id="{5AB23EA7-6CC8-4877-98D4-83985CC3B164}"/>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3C4AA1B-4822-4B8A-9CE7-DB5D87DB522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Annual!L67:R126, company Q1 FY27 call</a:t>
            </a:r>
          </a:p>
        </p:txBody>
      </p:sp>
      <p:sp>
        <p:nvSpPr>
          <p:cNvPr id="6" name="text-5">
            <a:extLst xmlns:a="http://schemas.openxmlformats.org/drawingml/2006/main">
              <a:ext uri="{FF2B5EF4-FFF2-40B4-BE49-F238E27FC236}">
                <a16:creationId xmlns:a16="http://schemas.microsoft.com/office/drawing/2014/main" id="{D88FCD85-BAD3-4C91-879B-F17D7AF92BE7}"/>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9</a:t>
            </a:r>
          </a:p>
        </p:txBody>
      </p:sp>
      <p:graphicFrame>
        <p:nvGraphicFramePr>
          <p:cNvPr id="7" name="Chart">
            <a:extLst xmlns:a="http://schemas.openxmlformats.org/drawingml/2006/main">
              <a:ext uri="{FF2B5EF4-FFF2-40B4-BE49-F238E27FC236}">
                <a16:creationId xmlns:a16="http://schemas.microsoft.com/office/drawing/2014/main" id="{2FFEC075-A4C5-4401-80C2-D708EE9C7639}"/>
              </a:ext>
            </a:extLst>
          </p:cNvPr>
          <p:cNvGraphicFramePr/>
          <p:nvPr/>
        </p:nvGraphicFramePr>
        <p:xfrm>
          <a:off xmlns:a="http://schemas.openxmlformats.org/drawingml/2006/main" x="619125" y="2686050"/>
          <a:ext xmlns:a="http://schemas.openxmlformats.org/drawingml/2006/main" cx="8334375" cy="3800475"/>
        </p:xfrm>
        <a:graphic xmlns:a="http://schemas.openxmlformats.org/drawingml/2006/main">
          <a:graphicData uri="http://schemas.openxmlformats.org/drawingml/2006/chart">
            <c:chart xmlns:r="http://schemas.openxmlformats.org/officeDocument/2006/relationships" xmlns:c="http://schemas.openxmlformats.org/drawingml/2006/chart" r:id="Ra78f2bde14854b8b"/>
          </a:graphicData>
        </a:graphic>
      </p:graphicFrame>
      <p:sp>
        <p:nvSpPr>
          <p:cNvPr id="8" name="text-6">
            <a:extLst xmlns:a="http://schemas.openxmlformats.org/drawingml/2006/main">
              <a:ext uri="{FF2B5EF4-FFF2-40B4-BE49-F238E27FC236}">
                <a16:creationId xmlns:a16="http://schemas.microsoft.com/office/drawing/2014/main" id="{07496BF3-F08E-4BA5-AF7C-B302BFDE09DD}"/>
              </a:ext>
            </a:extLst>
          </p:cNvPr>
          <p:cNvSpPr>
            <a:spLocks xmlns:a="http://schemas.openxmlformats.org/drawingml/2006/main" noGrp="1"/>
          </p:cNvSpPr>
          <p:nvPr/>
        </p:nvSpPr>
        <p:spPr>
          <a:xfrm xmlns:a="http://schemas.openxmlformats.org/drawingml/2006/main">
            <a:off x="9696450" y="2686050"/>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INR 13.7</a:t>
            </a:r>
          </a:p>
        </p:txBody>
      </p:sp>
      <p:sp>
        <p:nvSpPr>
          <p:cNvPr id="9" name="text-7">
            <a:extLst xmlns:a="http://schemas.openxmlformats.org/drawingml/2006/main">
              <a:ext uri="{FF2B5EF4-FFF2-40B4-BE49-F238E27FC236}">
                <a16:creationId xmlns:a16="http://schemas.microsoft.com/office/drawing/2014/main" id="{7E3C0F58-B417-46E9-8236-82FE103BB5AA}"/>
              </a:ext>
            </a:extLst>
          </p:cNvPr>
          <p:cNvSpPr>
            <a:spLocks xmlns:a="http://schemas.openxmlformats.org/drawingml/2006/main" noGrp="1"/>
          </p:cNvSpPr>
          <p:nvPr/>
        </p:nvSpPr>
        <p:spPr>
          <a:xfrm xmlns:a="http://schemas.openxmlformats.org/drawingml/2006/main">
            <a:off x="9696450" y="340042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FY27E EPS</a:t>
            </a:r>
          </a:p>
        </p:txBody>
      </p:sp>
      <p:sp>
        <p:nvSpPr>
          <p:cNvPr id="10" name="text-8">
            <a:extLst xmlns:a="http://schemas.openxmlformats.org/drawingml/2006/main">
              <a:ext uri="{FF2B5EF4-FFF2-40B4-BE49-F238E27FC236}">
                <a16:creationId xmlns:a16="http://schemas.microsoft.com/office/drawing/2014/main" id="{F76CFD0D-F7B0-4D6A-9C5F-E2851D4045A6}"/>
              </a:ext>
            </a:extLst>
          </p:cNvPr>
          <p:cNvSpPr>
            <a:spLocks xmlns:a="http://schemas.openxmlformats.org/drawingml/2006/main" noGrp="1"/>
          </p:cNvSpPr>
          <p:nvPr/>
        </p:nvSpPr>
        <p:spPr>
          <a:xfrm xmlns:a="http://schemas.openxmlformats.org/drawingml/2006/main">
            <a:off x="9696450" y="4048125"/>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INR 24.5</a:t>
            </a:r>
          </a:p>
        </p:txBody>
      </p:sp>
      <p:sp>
        <p:nvSpPr>
          <p:cNvPr id="11" name="text-9">
            <a:extLst xmlns:a="http://schemas.openxmlformats.org/drawingml/2006/main">
              <a:ext uri="{FF2B5EF4-FFF2-40B4-BE49-F238E27FC236}">
                <a16:creationId xmlns:a16="http://schemas.microsoft.com/office/drawing/2014/main" id="{1242A29D-C6BA-401F-80A6-75AB507DA224}"/>
              </a:ext>
            </a:extLst>
          </p:cNvPr>
          <p:cNvSpPr>
            <a:spLocks xmlns:a="http://schemas.openxmlformats.org/drawingml/2006/main" noGrp="1"/>
          </p:cNvSpPr>
          <p:nvPr/>
        </p:nvSpPr>
        <p:spPr>
          <a:xfrm xmlns:a="http://schemas.openxmlformats.org/drawingml/2006/main">
            <a:off x="9696450" y="47625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FY30E EPS</a:t>
            </a:r>
          </a:p>
        </p:txBody>
      </p:sp>
      <p:sp>
        <p:nvSpPr>
          <p:cNvPr id="12" name="text-10">
            <a:extLst xmlns:a="http://schemas.openxmlformats.org/drawingml/2006/main">
              <a:ext uri="{FF2B5EF4-FFF2-40B4-BE49-F238E27FC236}">
                <a16:creationId xmlns:a16="http://schemas.microsoft.com/office/drawing/2014/main" id="{F1B56878-7787-43C2-B4DA-4184BEDDAC25}"/>
              </a:ext>
            </a:extLst>
          </p:cNvPr>
          <p:cNvSpPr>
            <a:spLocks xmlns:a="http://schemas.openxmlformats.org/drawingml/2006/main" noGrp="1"/>
          </p:cNvSpPr>
          <p:nvPr/>
        </p:nvSpPr>
        <p:spPr>
          <a:xfrm xmlns:a="http://schemas.openxmlformats.org/drawingml/2006/main">
            <a:off x="969645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21% CAGR from FY27E</a:t>
            </a:r>
          </a:p>
        </p:txBody>
      </p:sp>
      <p:sp>
        <p:nvSpPr>
          <p:cNvPr id="13" name="text-11">
            <a:extLst xmlns:a="http://schemas.openxmlformats.org/drawingml/2006/main">
              <a:ext uri="{FF2B5EF4-FFF2-40B4-BE49-F238E27FC236}">
                <a16:creationId xmlns:a16="http://schemas.microsoft.com/office/drawing/2014/main" id="{F0FEA394-908D-4426-8119-0565DABABAC4}"/>
              </a:ext>
            </a:extLst>
          </p:cNvPr>
          <p:cNvSpPr>
            <a:spLocks xmlns:a="http://schemas.openxmlformats.org/drawingml/2006/main" noGrp="1"/>
          </p:cNvSpPr>
          <p:nvPr/>
        </p:nvSpPr>
        <p:spPr>
          <a:xfrm xmlns:a="http://schemas.openxmlformats.org/drawingml/2006/main">
            <a:off x="9696450" y="6019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1D2F"/>
                </a:solidFill>
                <a:latin typeface="Arial"/>
                <a:ea typeface="Arial"/>
                <a:cs typeface="Arial"/>
              </a:defRPr>
            </a:defPPr>
            <a:lvl1pPr algn="l">
              <a:defRPr sz="2025" b="1">
                <a:solidFill>
                  <a:srgbClr val="101D2F"/>
                </a:solidFill>
                <a:latin typeface="Arial"/>
                <a:ea typeface="Arial"/>
                <a:cs typeface="Arial"/>
              </a:defRPr>
            </a:lvl1pPr>
            <a:lvl2pPr algn="l">
              <a:defRPr sz="2025" b="1">
                <a:solidFill>
                  <a:srgbClr val="101D2F"/>
                </a:solidFill>
                <a:latin typeface="Arial"/>
                <a:ea typeface="Arial"/>
                <a:cs typeface="Arial"/>
              </a:defRPr>
            </a:lvl2pPr>
            <a:lvl3pPr algn="l">
              <a:defRPr sz="2025" b="1">
                <a:solidFill>
                  <a:srgbClr val="101D2F"/>
                </a:solidFill>
                <a:latin typeface="Arial"/>
                <a:ea typeface="Arial"/>
                <a:cs typeface="Arial"/>
              </a:defRPr>
            </a:lvl3pPr>
            <a:lvl4pPr algn="l">
              <a:defRPr sz="2025" b="1">
                <a:solidFill>
                  <a:srgbClr val="101D2F"/>
                </a:solidFill>
                <a:latin typeface="Arial"/>
                <a:ea typeface="Arial"/>
                <a:cs typeface="Arial"/>
              </a:defRPr>
            </a:lvl4pPr>
            <a:lvl5pPr algn="l">
              <a:defRPr sz="2025" b="1">
                <a:solidFill>
                  <a:srgbClr val="101D2F"/>
                </a:solidFill>
                <a:latin typeface="Arial"/>
                <a:ea typeface="Arial"/>
                <a:cs typeface="Arial"/>
              </a:defRPr>
            </a:lvl5pPr>
            <a:lvl6pPr algn="l">
              <a:defRPr sz="2025" b="1">
                <a:solidFill>
                  <a:srgbClr val="101D2F"/>
                </a:solidFill>
                <a:latin typeface="Arial"/>
                <a:ea typeface="Arial"/>
                <a:cs typeface="Arial"/>
              </a:defRPr>
            </a:lvl6pPr>
            <a:lvl7pPr algn="l">
              <a:defRPr sz="2025" b="1">
                <a:solidFill>
                  <a:srgbClr val="101D2F"/>
                </a:solidFill>
                <a:latin typeface="Arial"/>
                <a:ea typeface="Arial"/>
                <a:cs typeface="Arial"/>
              </a:defRPr>
            </a:lvl7pPr>
            <a:lvl8pPr algn="l">
              <a:defRPr sz="2025" b="1">
                <a:solidFill>
                  <a:srgbClr val="101D2F"/>
                </a:solidFill>
                <a:latin typeface="Arial"/>
                <a:ea typeface="Arial"/>
                <a:cs typeface="Arial"/>
              </a:defRPr>
            </a:lvl8pPr>
            <a:lvl9pPr algn="l">
              <a:defRPr sz="2025" b="1">
                <a:solidFill>
                  <a:srgbClr val="101D2F"/>
                </a:solidFill>
                <a:latin typeface="Arial"/>
                <a:ea typeface="Arial"/>
                <a:cs typeface="Arial"/>
              </a:defRPr>
            </a:lvl9pPr>
          </a:lstStyle>
          <a:p xmlns:a="http://schemas.openxmlformats.org/drawingml/2006/main">
            <a:pPr algn="l">
              <a:defRPr sz="2025" b="1">
                <a:solidFill>
                  <a:srgbClr val="101D2F"/>
                </a:solidFill>
                <a:latin typeface="Arial"/>
                <a:ea typeface="Arial"/>
                <a:cs typeface="Arial"/>
              </a:defRPr>
            </a:pPr>
            <a:r>
              <a:rPr sz="2025" b="1">
                <a:solidFill>
                  <a:srgbClr val="101D2F"/>
                </a:solidFill>
                <a:latin typeface="Arial"/>
                <a:ea typeface="Arial"/>
                <a:cs typeface="Arial"/>
              </a:rPr>
              <a:t>100bp FY28E margin change</a:t>
            </a:r>
          </a:p>
        </p:txBody>
      </p:sp>
      <p:sp>
        <p:nvSpPr>
          <p:cNvPr id="14" name="text-12">
            <a:extLst xmlns:a="http://schemas.openxmlformats.org/drawingml/2006/main">
              <a:ext uri="{FF2B5EF4-FFF2-40B4-BE49-F238E27FC236}">
                <a16:creationId xmlns:a16="http://schemas.microsoft.com/office/drawing/2014/main" id="{7E16770A-8392-47C8-B4D4-37AF1237A3ED}"/>
              </a:ext>
            </a:extLst>
          </p:cNvPr>
          <p:cNvSpPr>
            <a:spLocks xmlns:a="http://schemas.openxmlformats.org/drawingml/2006/main" noGrp="1"/>
          </p:cNvSpPr>
          <p:nvPr/>
        </p:nvSpPr>
        <p:spPr>
          <a:xfrm xmlns:a="http://schemas.openxmlformats.org/drawingml/2006/main">
            <a:off x="9696450" y="652462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9DDA"/>
                </a:solidFill>
                <a:latin typeface="Arial"/>
                <a:ea typeface="Arial"/>
                <a:cs typeface="Arial"/>
              </a:defRPr>
            </a:defPPr>
            <a:lvl1pPr algn="l">
              <a:defRPr sz="3300" b="1">
                <a:solidFill>
                  <a:srgbClr val="009DDA"/>
                </a:solidFill>
                <a:latin typeface="Arial"/>
                <a:ea typeface="Arial"/>
                <a:cs typeface="Arial"/>
              </a:defRPr>
            </a:lvl1pPr>
            <a:lvl2pPr algn="l">
              <a:defRPr sz="3300" b="1">
                <a:solidFill>
                  <a:srgbClr val="009DDA"/>
                </a:solidFill>
                <a:latin typeface="Arial"/>
                <a:ea typeface="Arial"/>
                <a:cs typeface="Arial"/>
              </a:defRPr>
            </a:lvl2pPr>
            <a:lvl3pPr algn="l">
              <a:defRPr sz="3300" b="1">
                <a:solidFill>
                  <a:srgbClr val="009DDA"/>
                </a:solidFill>
                <a:latin typeface="Arial"/>
                <a:ea typeface="Arial"/>
                <a:cs typeface="Arial"/>
              </a:defRPr>
            </a:lvl3pPr>
            <a:lvl4pPr algn="l">
              <a:defRPr sz="3300" b="1">
                <a:solidFill>
                  <a:srgbClr val="009DDA"/>
                </a:solidFill>
                <a:latin typeface="Arial"/>
                <a:ea typeface="Arial"/>
                <a:cs typeface="Arial"/>
              </a:defRPr>
            </a:lvl4pPr>
            <a:lvl5pPr algn="l">
              <a:defRPr sz="3300" b="1">
                <a:solidFill>
                  <a:srgbClr val="009DDA"/>
                </a:solidFill>
                <a:latin typeface="Arial"/>
                <a:ea typeface="Arial"/>
                <a:cs typeface="Arial"/>
              </a:defRPr>
            </a:lvl5pPr>
            <a:lvl6pPr algn="l">
              <a:defRPr sz="3300" b="1">
                <a:solidFill>
                  <a:srgbClr val="009DDA"/>
                </a:solidFill>
                <a:latin typeface="Arial"/>
                <a:ea typeface="Arial"/>
                <a:cs typeface="Arial"/>
              </a:defRPr>
            </a:lvl6pPr>
            <a:lvl7pPr algn="l">
              <a:defRPr sz="3300" b="1">
                <a:solidFill>
                  <a:srgbClr val="009DDA"/>
                </a:solidFill>
                <a:latin typeface="Arial"/>
                <a:ea typeface="Arial"/>
                <a:cs typeface="Arial"/>
              </a:defRPr>
            </a:lvl7pPr>
            <a:lvl8pPr algn="l">
              <a:defRPr sz="3300" b="1">
                <a:solidFill>
                  <a:srgbClr val="009DDA"/>
                </a:solidFill>
                <a:latin typeface="Arial"/>
                <a:ea typeface="Arial"/>
                <a:cs typeface="Arial"/>
              </a:defRPr>
            </a:lvl8pPr>
            <a:lvl9pPr algn="l">
              <a:defRPr sz="3300" b="1">
                <a:solidFill>
                  <a:srgbClr val="009DDA"/>
                </a:solidFill>
                <a:latin typeface="Arial"/>
                <a:ea typeface="Arial"/>
                <a:cs typeface="Arial"/>
              </a:defRPr>
            </a:lvl9pPr>
          </a:lstStyle>
          <a:p xmlns:a="http://schemas.openxmlformats.org/drawingml/2006/main">
            <a:pPr algn="l">
              <a:defRPr sz="3300" b="1">
                <a:solidFill>
                  <a:srgbClr val="009DDA"/>
                </a:solidFill>
                <a:latin typeface="Arial"/>
                <a:ea typeface="Arial"/>
                <a:cs typeface="Arial"/>
              </a:defRPr>
            </a:pPr>
            <a:r>
              <a:rPr sz="3300" b="1">
                <a:solidFill>
                  <a:srgbClr val="009DDA"/>
                </a:solidFill>
                <a:latin typeface="Arial"/>
                <a:ea typeface="Arial"/>
                <a:cs typeface="Arial"/>
              </a:rPr>
              <a:t>≈ INR 0.84 EPS</a:t>
            </a:r>
          </a:p>
        </p:txBody>
      </p:sp>
      <p:sp>
        <p:nvSpPr>
          <p:cNvPr id="15" name="text-13">
            <a:extLst xmlns:a="http://schemas.openxmlformats.org/drawingml/2006/main">
              <a:ext uri="{FF2B5EF4-FFF2-40B4-BE49-F238E27FC236}">
                <a16:creationId xmlns:a16="http://schemas.microsoft.com/office/drawing/2014/main" id="{006C7AAB-66F1-4834-A58F-0DB69E667B2B}"/>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Mix and launch costs remain headwinds. Scale, pricing recovery and cost control support a gradual margin recovery.</a:t>
            </a:r>
          </a:p>
        </p:txBody>
      </p:sp>
    </p:spTree>
    <p:extLst>
      <p:ext uri="{BB962C8B-B14F-4D97-AF65-F5344CB8AC3E}">
        <p14:creationId xmlns:p14="http://schemas.microsoft.com/office/powerpoint/2010/main" val="8078940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9D958B2B-D3BD-4203-B7B5-19D7CF81B68E}"/>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ADBB75C7-827B-403D-9CEE-6ADB2106A586}"/>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Robotics and sensing have moved beyond a technology roadmap</a:t>
            </a:r>
          </a:p>
        </p:txBody>
      </p:sp>
      <p:sp>
        <p:nvSpPr>
          <p:cNvPr id="3" name="text-2">
            <a:extLst xmlns:a="http://schemas.openxmlformats.org/drawingml/2006/main">
              <a:ext uri="{FF2B5EF4-FFF2-40B4-BE49-F238E27FC236}">
                <a16:creationId xmlns:a16="http://schemas.microsoft.com/office/drawing/2014/main" id="{59D97CF5-2B9E-4FD9-982F-13EA04B285F7}"/>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INR 8bn order book spans components, perception software and radar systems.</a:t>
            </a:r>
          </a:p>
        </p:txBody>
      </p:sp>
      <p:sp>
        <p:nvSpPr>
          <p:cNvPr id="4" name="">
            <a:extLst xmlns:a="http://schemas.openxmlformats.org/drawingml/2006/main">
              <a:ext uri="{FF2B5EF4-FFF2-40B4-BE49-F238E27FC236}">
                <a16:creationId xmlns:a16="http://schemas.microsoft.com/office/drawing/2014/main" id="{8EE067F9-54C0-4B07-B4B3-6A86D039D22B}"/>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E8C371EA-5993-42A4-A28F-6D8B376D3E55}"/>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Q1 FY27 presentation / call, supplied model</a:t>
            </a:r>
          </a:p>
        </p:txBody>
      </p:sp>
      <p:sp>
        <p:nvSpPr>
          <p:cNvPr id="6" name="text-5">
            <a:extLst xmlns:a="http://schemas.openxmlformats.org/drawingml/2006/main">
              <a:ext uri="{FF2B5EF4-FFF2-40B4-BE49-F238E27FC236}">
                <a16:creationId xmlns:a16="http://schemas.microsoft.com/office/drawing/2014/main" id="{1252D96C-E741-4A04-BD02-0037051A8DB9}"/>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10</a:t>
            </a:r>
          </a:p>
        </p:txBody>
      </p:sp>
      <p:graphicFrame>
        <p:nvGraphicFramePr>
          <p:cNvPr id="7" name="Chart">
            <a:extLst xmlns:a="http://schemas.openxmlformats.org/drawingml/2006/main">
              <a:ext uri="{FF2B5EF4-FFF2-40B4-BE49-F238E27FC236}">
                <a16:creationId xmlns:a16="http://schemas.microsoft.com/office/drawing/2014/main" id="{9B81CC35-244D-4BC3-930B-65CBA8EED03C}"/>
              </a:ext>
            </a:extLst>
          </p:cNvPr>
          <p:cNvGraphicFramePr/>
          <p:nvPr/>
        </p:nvGraphicFramePr>
        <p:xfrm>
          <a:off xmlns:a="http://schemas.openxmlformats.org/drawingml/2006/main" x="619125" y="2667000"/>
          <a:ext xmlns:a="http://schemas.openxmlformats.org/drawingml/2006/main" cx="7905750" cy="3905250"/>
        </p:xfrm>
        <a:graphic xmlns:a="http://schemas.openxmlformats.org/drawingml/2006/main">
          <a:graphicData uri="http://schemas.openxmlformats.org/drawingml/2006/chart">
            <c:chart xmlns:r="http://schemas.openxmlformats.org/officeDocument/2006/relationships" xmlns:c="http://schemas.openxmlformats.org/drawingml/2006/chart" r:id="Rf820b696e9b2476c"/>
          </a:graphicData>
        </a:graphic>
      </p:graphicFrame>
      <p:pic>
        <p:nvPicPr>
          <p:cNvPr id="8" name="">
            <a:extLst xmlns:a="http://schemas.openxmlformats.org/drawingml/2006/main">
              <a:ext uri="{FF2B5EF4-FFF2-40B4-BE49-F238E27FC236}">
                <a16:creationId xmlns:a16="http://schemas.microsoft.com/office/drawing/2014/main" id="{6DFD10AA-E78C-4708-82A7-AE09C49B4696}"/>
              </a:ext>
            </a:extLst>
          </p:cNvPr>
          <p:cNvPicPr>
            <a:picLocks xmlns:a="http://schemas.openxmlformats.org/drawingml/2006/main" noChangeAspect="1"/>
          </p:cNvPicPr>
          <p:nvPr/>
        </p:nvPicPr>
        <p:blipFill>
          <a:blip xmlns:r="http://schemas.openxmlformats.org/officeDocument/2006/relationships" xmlns:a="http://schemas.openxmlformats.org/drawingml/2006/main" r:embed="R27922a6ef88d4268"/>
          <a:stretch xmlns:a="http://schemas.openxmlformats.org/drawingml/2006/main"/>
        </p:blipFill>
        <p:spPr>
          <a:xfrm xmlns:a="http://schemas.openxmlformats.org/drawingml/2006/main">
            <a:off x="9620250" y="2993120"/>
            <a:ext cx="1952625" cy="125275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8692832-F235-459A-84DB-9850DD240E1A}"/>
              </a:ext>
            </a:extLst>
          </p:cNvPr>
          <p:cNvPicPr>
            <a:picLocks xmlns:a="http://schemas.openxmlformats.org/drawingml/2006/main" noChangeAspect="1"/>
          </p:cNvPicPr>
          <p:nvPr/>
        </p:nvPicPr>
        <p:blipFill>
          <a:blip xmlns:r="http://schemas.openxmlformats.org/officeDocument/2006/relationships" xmlns:a="http://schemas.openxmlformats.org/drawingml/2006/main" r:embed="Rbca8654d16af4452"/>
          <a:stretch xmlns:a="http://schemas.openxmlformats.org/drawingml/2006/main"/>
        </p:blipFill>
        <p:spPr>
          <a:xfrm xmlns:a="http://schemas.openxmlformats.org/drawingml/2006/main">
            <a:off x="12192000" y="2667797"/>
            <a:ext cx="1571625" cy="1617656"/>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48F707FA-DBF5-496C-A16C-703ACF5D708B}"/>
              </a:ext>
            </a:extLst>
          </p:cNvPr>
          <p:cNvSpPr>
            <a:spLocks xmlns:a="http://schemas.openxmlformats.org/drawingml/2006/main" noGrp="1"/>
          </p:cNvSpPr>
          <p:nvPr/>
        </p:nvSpPr>
        <p:spPr>
          <a:xfrm xmlns:a="http://schemas.openxmlformats.org/drawingml/2006/main">
            <a:off x="9286875" y="4724400"/>
            <a:ext cx="523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01D2F"/>
                </a:solidFill>
                <a:latin typeface="Arial"/>
                <a:ea typeface="Arial"/>
                <a:cs typeface="Arial"/>
              </a:defRPr>
            </a:defPPr>
            <a:lvl1pPr algn="l">
              <a:defRPr sz="2400" b="1">
                <a:solidFill>
                  <a:srgbClr val="101D2F"/>
                </a:solidFill>
                <a:latin typeface="Arial"/>
                <a:ea typeface="Arial"/>
                <a:cs typeface="Arial"/>
              </a:defRPr>
            </a:lvl1pPr>
            <a:lvl2pPr algn="l">
              <a:defRPr sz="2400" b="1">
                <a:solidFill>
                  <a:srgbClr val="101D2F"/>
                </a:solidFill>
                <a:latin typeface="Arial"/>
                <a:ea typeface="Arial"/>
                <a:cs typeface="Arial"/>
              </a:defRPr>
            </a:lvl2pPr>
            <a:lvl3pPr algn="l">
              <a:defRPr sz="2400" b="1">
                <a:solidFill>
                  <a:srgbClr val="101D2F"/>
                </a:solidFill>
                <a:latin typeface="Arial"/>
                <a:ea typeface="Arial"/>
                <a:cs typeface="Arial"/>
              </a:defRPr>
            </a:lvl3pPr>
            <a:lvl4pPr algn="l">
              <a:defRPr sz="2400" b="1">
                <a:solidFill>
                  <a:srgbClr val="101D2F"/>
                </a:solidFill>
                <a:latin typeface="Arial"/>
                <a:ea typeface="Arial"/>
                <a:cs typeface="Arial"/>
              </a:defRPr>
            </a:lvl4pPr>
            <a:lvl5pPr algn="l">
              <a:defRPr sz="2400" b="1">
                <a:solidFill>
                  <a:srgbClr val="101D2F"/>
                </a:solidFill>
                <a:latin typeface="Arial"/>
                <a:ea typeface="Arial"/>
                <a:cs typeface="Arial"/>
              </a:defRPr>
            </a:lvl5pPr>
            <a:lvl6pPr algn="l">
              <a:defRPr sz="2400" b="1">
                <a:solidFill>
                  <a:srgbClr val="101D2F"/>
                </a:solidFill>
                <a:latin typeface="Arial"/>
                <a:ea typeface="Arial"/>
                <a:cs typeface="Arial"/>
              </a:defRPr>
            </a:lvl6pPr>
            <a:lvl7pPr algn="l">
              <a:defRPr sz="2400" b="1">
                <a:solidFill>
                  <a:srgbClr val="101D2F"/>
                </a:solidFill>
                <a:latin typeface="Arial"/>
                <a:ea typeface="Arial"/>
                <a:cs typeface="Arial"/>
              </a:defRPr>
            </a:lvl7pPr>
            <a:lvl8pPr algn="l">
              <a:defRPr sz="2400" b="1">
                <a:solidFill>
                  <a:srgbClr val="101D2F"/>
                </a:solidFill>
                <a:latin typeface="Arial"/>
                <a:ea typeface="Arial"/>
                <a:cs typeface="Arial"/>
              </a:defRPr>
            </a:lvl8pPr>
            <a:lvl9pPr algn="l">
              <a:defRPr sz="2400" b="1">
                <a:solidFill>
                  <a:srgbClr val="101D2F"/>
                </a:solidFill>
                <a:latin typeface="Arial"/>
                <a:ea typeface="Arial"/>
                <a:cs typeface="Arial"/>
              </a:defRPr>
            </a:lvl9pPr>
          </a:lstStyle>
          <a:p xmlns:a="http://schemas.openxmlformats.org/drawingml/2006/main">
            <a:pPr algn="l">
              <a:defRPr sz="2400" b="1">
                <a:solidFill>
                  <a:srgbClr val="101D2F"/>
                </a:solidFill>
                <a:latin typeface="Arial"/>
                <a:ea typeface="Arial"/>
                <a:cs typeface="Arial"/>
              </a:defRPr>
            </a:pPr>
            <a:r>
              <a:rPr sz="2400" b="1">
                <a:solidFill>
                  <a:srgbClr val="101D2F"/>
                </a:solidFill>
                <a:latin typeface="Arial"/>
                <a:ea typeface="Arial"/>
                <a:cs typeface="Arial"/>
              </a:rPr>
              <a:t>Commercial evidence</a:t>
            </a:r>
          </a:p>
        </p:txBody>
      </p:sp>
      <p:sp>
        <p:nvSpPr>
          <p:cNvPr id="11" name="text-7">
            <a:extLst xmlns:a="http://schemas.openxmlformats.org/drawingml/2006/main">
              <a:ext uri="{FF2B5EF4-FFF2-40B4-BE49-F238E27FC236}">
                <a16:creationId xmlns:a16="http://schemas.microsoft.com/office/drawing/2014/main" id="{F883B0D1-0EC4-4AE3-B074-1B1C11467BC9}"/>
              </a:ext>
            </a:extLst>
          </p:cNvPr>
          <p:cNvSpPr>
            <a:spLocks xmlns:a="http://schemas.openxmlformats.org/drawingml/2006/main" noGrp="1"/>
          </p:cNvSpPr>
          <p:nvPr/>
        </p:nvSpPr>
        <p:spPr>
          <a:xfrm xmlns:a="http://schemas.openxmlformats.org/drawingml/2006/main">
            <a:off x="9286875" y="5295900"/>
            <a:ext cx="523875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C6A78"/>
                </a:solidFill>
                <a:latin typeface="Arial"/>
                <a:ea typeface="Arial"/>
                <a:cs typeface="Arial"/>
              </a:defRPr>
            </a:defPPr>
            <a:lvl1pPr algn="l">
              <a:defRPr sz="2100" b="0">
                <a:solidFill>
                  <a:srgbClr val="5C6A78"/>
                </a:solidFill>
                <a:latin typeface="Arial"/>
                <a:ea typeface="Arial"/>
                <a:cs typeface="Arial"/>
              </a:defRPr>
            </a:lvl1pPr>
            <a:lvl2pPr algn="l">
              <a:defRPr sz="2100" b="0">
                <a:solidFill>
                  <a:srgbClr val="5C6A78"/>
                </a:solidFill>
                <a:latin typeface="Arial"/>
                <a:ea typeface="Arial"/>
                <a:cs typeface="Arial"/>
              </a:defRPr>
            </a:lvl2pPr>
            <a:lvl3pPr algn="l">
              <a:defRPr sz="2100" b="0">
                <a:solidFill>
                  <a:srgbClr val="5C6A78"/>
                </a:solidFill>
                <a:latin typeface="Arial"/>
                <a:ea typeface="Arial"/>
                <a:cs typeface="Arial"/>
              </a:defRPr>
            </a:lvl3pPr>
            <a:lvl4pPr algn="l">
              <a:defRPr sz="2100" b="0">
                <a:solidFill>
                  <a:srgbClr val="5C6A78"/>
                </a:solidFill>
                <a:latin typeface="Arial"/>
                <a:ea typeface="Arial"/>
                <a:cs typeface="Arial"/>
              </a:defRPr>
            </a:lvl4pPr>
            <a:lvl5pPr algn="l">
              <a:defRPr sz="2100" b="0">
                <a:solidFill>
                  <a:srgbClr val="5C6A78"/>
                </a:solidFill>
                <a:latin typeface="Arial"/>
                <a:ea typeface="Arial"/>
                <a:cs typeface="Arial"/>
              </a:defRPr>
            </a:lvl5pPr>
            <a:lvl6pPr algn="l">
              <a:defRPr sz="2100" b="0">
                <a:solidFill>
                  <a:srgbClr val="5C6A78"/>
                </a:solidFill>
                <a:latin typeface="Arial"/>
                <a:ea typeface="Arial"/>
                <a:cs typeface="Arial"/>
              </a:defRPr>
            </a:lvl6pPr>
            <a:lvl7pPr algn="l">
              <a:defRPr sz="2100" b="0">
                <a:solidFill>
                  <a:srgbClr val="5C6A78"/>
                </a:solidFill>
                <a:latin typeface="Arial"/>
                <a:ea typeface="Arial"/>
                <a:cs typeface="Arial"/>
              </a:defRPr>
            </a:lvl7pPr>
            <a:lvl8pPr algn="l">
              <a:defRPr sz="2100" b="0">
                <a:solidFill>
                  <a:srgbClr val="5C6A78"/>
                </a:solidFill>
                <a:latin typeface="Arial"/>
                <a:ea typeface="Arial"/>
                <a:cs typeface="Arial"/>
              </a:defRPr>
            </a:lvl8pPr>
            <a:lvl9pPr algn="l">
              <a:defRPr sz="2100" b="0">
                <a:solidFill>
                  <a:srgbClr val="5C6A78"/>
                </a:solidFill>
                <a:latin typeface="Arial"/>
                <a:ea typeface="Arial"/>
                <a:cs typeface="Arial"/>
              </a:defRPr>
            </a:lvl9pPr>
          </a:lstStyle>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Robotics subsystem</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AMR perception software</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Short-range radar for CVs</a:t>
            </a:r>
          </a:p>
        </p:txBody>
      </p:sp>
      <p:sp>
        <p:nvSpPr>
          <p:cNvPr id="12" name="text-8">
            <a:extLst xmlns:a="http://schemas.openxmlformats.org/drawingml/2006/main">
              <a:ext uri="{FF2B5EF4-FFF2-40B4-BE49-F238E27FC236}">
                <a16:creationId xmlns:a16="http://schemas.microsoft.com/office/drawing/2014/main" id="{A66D0C97-6E00-459B-B4F3-BFDBFE4ED96F}"/>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Treat order conversion and repeat wins as the proof points. The base case has no separate humanoid revenue forecast.</a:t>
            </a:r>
          </a:p>
        </p:txBody>
      </p:sp>
    </p:spTree>
    <p:extLst>
      <p:ext uri="{BB962C8B-B14F-4D97-AF65-F5344CB8AC3E}">
        <p14:creationId xmlns:p14="http://schemas.microsoft.com/office/powerpoint/2010/main" val="8443766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C66E350D-26C8-43D9-A263-59A0DE02A357}"/>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F24D8BF2-97CC-4DEA-9D15-DA1C5582125A}"/>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Denso expands the opportunity across vehicle segments</a:t>
            </a:r>
          </a:p>
        </p:txBody>
      </p:sp>
      <p:sp>
        <p:nvSpPr>
          <p:cNvPr id="3" name="text-2">
            <a:extLst xmlns:a="http://schemas.openxmlformats.org/drawingml/2006/main">
              <a:ext uri="{FF2B5EF4-FFF2-40B4-BE49-F238E27FC236}">
                <a16:creationId xmlns:a16="http://schemas.microsoft.com/office/drawing/2014/main" id="{1FE5CF0A-0483-4E2A-A7DA-4101EBDF79C0}"/>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two JVs have different ownership, economics and accounting treatment.</a:t>
            </a:r>
          </a:p>
        </p:txBody>
      </p:sp>
      <p:sp>
        <p:nvSpPr>
          <p:cNvPr id="4" name="">
            <a:extLst xmlns:a="http://schemas.openxmlformats.org/drawingml/2006/main">
              <a:ext uri="{FF2B5EF4-FFF2-40B4-BE49-F238E27FC236}">
                <a16:creationId xmlns:a16="http://schemas.microsoft.com/office/drawing/2014/main" id="{32AD1EFF-E459-4B53-9163-B4131F5907FD}"/>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AA89A1A4-D157-467D-83E2-97A9689EFA9B}"/>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Denso partnership announcement, 22 July 2026, and supplied model</a:t>
            </a:r>
          </a:p>
        </p:txBody>
      </p:sp>
      <p:sp>
        <p:nvSpPr>
          <p:cNvPr id="6" name="text-5">
            <a:extLst xmlns:a="http://schemas.openxmlformats.org/drawingml/2006/main">
              <a:ext uri="{FF2B5EF4-FFF2-40B4-BE49-F238E27FC236}">
                <a16:creationId xmlns:a16="http://schemas.microsoft.com/office/drawing/2014/main" id="{08A93C7F-FD4A-48EC-B5A8-BF11B89F42AD}"/>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11</a:t>
            </a:r>
          </a:p>
        </p:txBody>
      </p:sp>
      <p:graphicFrame>
        <p:nvGraphicFramePr>
          <p:cNvPr id="7" name="Chart">
            <a:extLst xmlns:a="http://schemas.openxmlformats.org/drawingml/2006/main">
              <a:ext uri="{FF2B5EF4-FFF2-40B4-BE49-F238E27FC236}">
                <a16:creationId xmlns:a16="http://schemas.microsoft.com/office/drawing/2014/main" id="{489252DD-E5DF-43E1-879D-0293FA45B325}"/>
              </a:ext>
            </a:extLst>
          </p:cNvPr>
          <p:cNvGraphicFramePr/>
          <p:nvPr/>
        </p:nvGraphicFramePr>
        <p:xfrm>
          <a:off xmlns:a="http://schemas.openxmlformats.org/drawingml/2006/main" x="619125" y="2667000"/>
          <a:ext xmlns:a="http://schemas.openxmlformats.org/drawingml/2006/main" cx="6191250" cy="3286125"/>
        </p:xfrm>
        <a:graphic xmlns:a="http://schemas.openxmlformats.org/drawingml/2006/main">
          <a:graphicData uri="http://schemas.openxmlformats.org/drawingml/2006/chart">
            <c:chart xmlns:r="http://schemas.openxmlformats.org/officeDocument/2006/relationships" xmlns:c="http://schemas.openxmlformats.org/drawingml/2006/chart" r:id="Rd67b67ca3e304912"/>
          </a:graphicData>
        </a:graphic>
      </p:graphicFrame>
      <p:graphicFrame>
        <p:nvGraphicFramePr>
          <p:cNvPr id="8" name="">
            <a:extLst xmlns:a="http://schemas.openxmlformats.org/drawingml/2006/main">
              <a:ext uri="{FF2B5EF4-FFF2-40B4-BE49-F238E27FC236}">
                <a16:creationId xmlns:a16="http://schemas.microsoft.com/office/drawing/2014/main" id="{23828362-A5BE-4554-B5A8-2BF31AF08F4E}"/>
              </a:ext>
            </a:extLst>
          </p:cNvPr>
          <p:cNvGraphicFramePr/>
          <p:nvPr/>
        </p:nvGraphicFramePr>
        <p:xfrm>
          <a:off xmlns:a="http://schemas.openxmlformats.org/drawingml/2006/main" x="7429500" y="2647950"/>
          <a:ext xmlns:a="http://schemas.openxmlformats.org/drawingml/2006/main" cx="7191375" cy="3448050"/>
        </p:xfrm>
        <a:graphic xmlns:a="http://schemas.openxmlformats.org/drawingml/2006/main">
          <a:graphicData uri="http://schemas.openxmlformats.org/drawingml/2006/table">
            <a:tbl>
              <a:tblPr/>
              <a:tblGrid>
                <a:gridCol w="1952625"/>
                <a:gridCol w="2619375"/>
                <a:gridCol w="2619375"/>
              </a:tblGrid>
              <a:tr h="689610">
                <a:tc>
                  <a:txBody>
                    <a:bodyPr lIns="85725" tIns="85725" rIns="85725" bIns="85725"/>
                    <a:lstStyle/>
                    <a:p>
                      <a:r>
                        <a:rPr sz="1800" b="1">
                          <a:solidFill>
                            <a:srgbClr val="FFFFFF"/>
                          </a:solidFill>
                          <a:latin typeface="Arial"/>
                          <a:ea typeface="Arial"/>
                          <a:cs typeface="Arial"/>
                        </a:rPr>
                        <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2W / 3W JV</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4W / 4+ JV</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89610">
                <a:tc>
                  <a:txBody>
                    <a:bodyPr lIns="85725" tIns="85725" rIns="85725" bIns="85725"/>
                    <a:lstStyle/>
                    <a:p>
                      <a:pPr algn="l"/>
                      <a:r>
                        <a:rPr sz="1800" b="0">
                          <a:solidFill>
                            <a:srgbClr val="101D2F"/>
                          </a:solidFill>
                          <a:latin typeface="Arial"/>
                          <a:ea typeface="Arial"/>
                          <a:cs typeface="Arial"/>
                        </a:rPr>
                        <a:t>Business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Existing motors + controllers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New high-voltage systems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89610">
                <a:tc>
                  <a:txBody>
                    <a:bodyPr lIns="85725" tIns="85725" rIns="85725" bIns="85725"/>
                    <a:lstStyle/>
                    <a:p>
                      <a:pPr algn="l"/>
                      <a:r>
                        <a:rPr sz="1800" b="0">
                          <a:solidFill>
                            <a:srgbClr val="101D2F"/>
                          </a:solidFill>
                          <a:latin typeface="Arial"/>
                          <a:ea typeface="Arial"/>
                          <a:cs typeface="Arial"/>
                        </a:rPr>
                        <a:t>Control</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Sona</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Denso</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89610">
                <a:tc>
                  <a:txBody>
                    <a:bodyPr lIns="85725" tIns="85725" rIns="85725" bIns="85725"/>
                    <a:lstStyle/>
                    <a:p>
                      <a:pPr algn="l"/>
                      <a:r>
                        <a:rPr sz="1800" b="0">
                          <a:solidFill>
                            <a:srgbClr val="101D2F"/>
                          </a:solidFill>
                          <a:latin typeface="Arial"/>
                          <a:ea typeface="Arial"/>
                          <a:cs typeface="Arial"/>
                        </a:rPr>
                        <a:t>IP royalty recipient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Sona</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Denso</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89610">
                <a:tc>
                  <a:txBody>
                    <a:bodyPr lIns="85725" tIns="85725" rIns="85725" bIns="85725"/>
                    <a:lstStyle/>
                    <a:p>
                      <a:pPr algn="l"/>
                      <a:r>
                        <a:rPr sz="1800" b="0">
                          <a:solidFill>
                            <a:srgbClr val="101D2F"/>
                          </a:solidFill>
                          <a:latin typeface="Arial"/>
                          <a:ea typeface="Arial"/>
                          <a:cs typeface="Arial"/>
                        </a:rPr>
                        <a:t>Accounting expectation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Consolidated + minority</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Equity-accounted</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09FDCC0A-D5FD-4A96-8410-42B09D7FAA9B}"/>
              </a:ext>
            </a:extLst>
          </p:cNvPr>
          <p:cNvSpPr>
            <a:spLocks xmlns:a="http://schemas.openxmlformats.org/drawingml/2006/main" noGrp="1"/>
          </p:cNvSpPr>
          <p:nvPr/>
        </p:nvSpPr>
        <p:spPr>
          <a:xfrm xmlns:a="http://schemas.openxmlformats.org/drawingml/2006/main">
            <a:off x="762000" y="642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009DDA"/>
                </a:solidFill>
                <a:latin typeface="Arial"/>
                <a:ea typeface="Arial"/>
                <a:cs typeface="Arial"/>
              </a:defRPr>
            </a:defPPr>
            <a:lvl1pPr algn="l">
              <a:defRPr sz="3525" b="1">
                <a:solidFill>
                  <a:srgbClr val="009DDA"/>
                </a:solidFill>
                <a:latin typeface="Arial"/>
                <a:ea typeface="Arial"/>
                <a:cs typeface="Arial"/>
              </a:defRPr>
            </a:lvl1pPr>
            <a:lvl2pPr algn="l">
              <a:defRPr sz="3525" b="1">
                <a:solidFill>
                  <a:srgbClr val="009DDA"/>
                </a:solidFill>
                <a:latin typeface="Arial"/>
                <a:ea typeface="Arial"/>
                <a:cs typeface="Arial"/>
              </a:defRPr>
            </a:lvl2pPr>
            <a:lvl3pPr algn="l">
              <a:defRPr sz="3525" b="1">
                <a:solidFill>
                  <a:srgbClr val="009DDA"/>
                </a:solidFill>
                <a:latin typeface="Arial"/>
                <a:ea typeface="Arial"/>
                <a:cs typeface="Arial"/>
              </a:defRPr>
            </a:lvl3pPr>
            <a:lvl4pPr algn="l">
              <a:defRPr sz="3525" b="1">
                <a:solidFill>
                  <a:srgbClr val="009DDA"/>
                </a:solidFill>
                <a:latin typeface="Arial"/>
                <a:ea typeface="Arial"/>
                <a:cs typeface="Arial"/>
              </a:defRPr>
            </a:lvl4pPr>
            <a:lvl5pPr algn="l">
              <a:defRPr sz="3525" b="1">
                <a:solidFill>
                  <a:srgbClr val="009DDA"/>
                </a:solidFill>
                <a:latin typeface="Arial"/>
                <a:ea typeface="Arial"/>
                <a:cs typeface="Arial"/>
              </a:defRPr>
            </a:lvl5pPr>
            <a:lvl6pPr algn="l">
              <a:defRPr sz="3525" b="1">
                <a:solidFill>
                  <a:srgbClr val="009DDA"/>
                </a:solidFill>
                <a:latin typeface="Arial"/>
                <a:ea typeface="Arial"/>
                <a:cs typeface="Arial"/>
              </a:defRPr>
            </a:lvl6pPr>
            <a:lvl7pPr algn="l">
              <a:defRPr sz="3525" b="1">
                <a:solidFill>
                  <a:srgbClr val="009DDA"/>
                </a:solidFill>
                <a:latin typeface="Arial"/>
                <a:ea typeface="Arial"/>
                <a:cs typeface="Arial"/>
              </a:defRPr>
            </a:lvl7pPr>
            <a:lvl8pPr algn="l">
              <a:defRPr sz="3525" b="1">
                <a:solidFill>
                  <a:srgbClr val="009DDA"/>
                </a:solidFill>
                <a:latin typeface="Arial"/>
                <a:ea typeface="Arial"/>
                <a:cs typeface="Arial"/>
              </a:defRPr>
            </a:lvl8pPr>
            <a:lvl9pPr algn="l">
              <a:defRPr sz="3525" b="1">
                <a:solidFill>
                  <a:srgbClr val="009DDA"/>
                </a:solidFill>
                <a:latin typeface="Arial"/>
                <a:ea typeface="Arial"/>
                <a:cs typeface="Arial"/>
              </a:defRPr>
            </a:lvl9pPr>
          </a:lstStyle>
          <a:p xmlns:a="http://schemas.openxmlformats.org/drawingml/2006/main">
            <a:pPr algn="l">
              <a:defRPr sz="3525" b="1">
                <a:solidFill>
                  <a:srgbClr val="009DDA"/>
                </a:solidFill>
                <a:latin typeface="Arial"/>
                <a:ea typeface="Arial"/>
                <a:cs typeface="Arial"/>
              </a:defRPr>
            </a:pPr>
            <a:r>
              <a:rPr sz="3525" b="1">
                <a:solidFill>
                  <a:srgbClr val="009DDA"/>
                </a:solidFill>
                <a:latin typeface="Arial"/>
                <a:ea typeface="Arial"/>
                <a:cs typeface="Arial"/>
              </a:rPr>
              <a:t>INR 17.5bn</a:t>
            </a:r>
          </a:p>
        </p:txBody>
      </p:sp>
      <p:sp>
        <p:nvSpPr>
          <p:cNvPr id="10" name="text-7">
            <a:extLst xmlns:a="http://schemas.openxmlformats.org/drawingml/2006/main">
              <a:ext uri="{FF2B5EF4-FFF2-40B4-BE49-F238E27FC236}">
                <a16:creationId xmlns:a16="http://schemas.microsoft.com/office/drawing/2014/main" id="{15CC8471-9E7D-4F23-87A6-1E801FEE8D9C}"/>
              </a:ext>
            </a:extLst>
          </p:cNvPr>
          <p:cNvSpPr>
            <a:spLocks xmlns:a="http://schemas.openxmlformats.org/drawingml/2006/main" noGrp="1"/>
          </p:cNvSpPr>
          <p:nvPr/>
        </p:nvSpPr>
        <p:spPr>
          <a:xfrm xmlns:a="http://schemas.openxmlformats.org/drawingml/2006/main">
            <a:off x="3886200" y="6438900"/>
            <a:ext cx="576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01D2F"/>
                </a:solidFill>
                <a:latin typeface="Arial"/>
                <a:ea typeface="Arial"/>
                <a:cs typeface="Arial"/>
              </a:defRPr>
            </a:defPPr>
            <a:lvl1pPr algn="l">
              <a:defRPr sz="2025" b="0">
                <a:solidFill>
                  <a:srgbClr val="101D2F"/>
                </a:solidFill>
                <a:latin typeface="Arial"/>
                <a:ea typeface="Arial"/>
                <a:cs typeface="Arial"/>
              </a:defRPr>
            </a:lvl1pPr>
            <a:lvl2pPr algn="l">
              <a:defRPr sz="2025" b="0">
                <a:solidFill>
                  <a:srgbClr val="101D2F"/>
                </a:solidFill>
                <a:latin typeface="Arial"/>
                <a:ea typeface="Arial"/>
                <a:cs typeface="Arial"/>
              </a:defRPr>
            </a:lvl2pPr>
            <a:lvl3pPr algn="l">
              <a:defRPr sz="2025" b="0">
                <a:solidFill>
                  <a:srgbClr val="101D2F"/>
                </a:solidFill>
                <a:latin typeface="Arial"/>
                <a:ea typeface="Arial"/>
                <a:cs typeface="Arial"/>
              </a:defRPr>
            </a:lvl3pPr>
            <a:lvl4pPr algn="l">
              <a:defRPr sz="2025" b="0">
                <a:solidFill>
                  <a:srgbClr val="101D2F"/>
                </a:solidFill>
                <a:latin typeface="Arial"/>
                <a:ea typeface="Arial"/>
                <a:cs typeface="Arial"/>
              </a:defRPr>
            </a:lvl4pPr>
            <a:lvl5pPr algn="l">
              <a:defRPr sz="2025" b="0">
                <a:solidFill>
                  <a:srgbClr val="101D2F"/>
                </a:solidFill>
                <a:latin typeface="Arial"/>
                <a:ea typeface="Arial"/>
                <a:cs typeface="Arial"/>
              </a:defRPr>
            </a:lvl5pPr>
            <a:lvl6pPr algn="l">
              <a:defRPr sz="2025" b="0">
                <a:solidFill>
                  <a:srgbClr val="101D2F"/>
                </a:solidFill>
                <a:latin typeface="Arial"/>
                <a:ea typeface="Arial"/>
                <a:cs typeface="Arial"/>
              </a:defRPr>
            </a:lvl6pPr>
            <a:lvl7pPr algn="l">
              <a:defRPr sz="2025" b="0">
                <a:solidFill>
                  <a:srgbClr val="101D2F"/>
                </a:solidFill>
                <a:latin typeface="Arial"/>
                <a:ea typeface="Arial"/>
                <a:cs typeface="Arial"/>
              </a:defRPr>
            </a:lvl7pPr>
            <a:lvl8pPr algn="l">
              <a:defRPr sz="2025" b="0">
                <a:solidFill>
                  <a:srgbClr val="101D2F"/>
                </a:solidFill>
                <a:latin typeface="Arial"/>
                <a:ea typeface="Arial"/>
                <a:cs typeface="Arial"/>
              </a:defRPr>
            </a:lvl8pPr>
            <a:lvl9pPr algn="l">
              <a:defRPr sz="2025" b="0">
                <a:solidFill>
                  <a:srgbClr val="101D2F"/>
                </a:solidFill>
                <a:latin typeface="Arial"/>
                <a:ea typeface="Arial"/>
                <a:cs typeface="Arial"/>
              </a:defRPr>
            </a:lvl9pPr>
          </a:lstStyle>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Enterprise value of the existing</a:t>
            </a:r>
          </a:p>
          <a:p xmlns:a="http://schemas.openxmlformats.org/drawingml/2006/main">
            <a:pPr algn="l">
              <a:defRPr sz="2025" b="0">
                <a:solidFill>
                  <a:srgbClr val="101D2F"/>
                </a:solidFill>
                <a:latin typeface="Arial"/>
                <a:ea typeface="Arial"/>
                <a:cs typeface="Arial"/>
              </a:defRPr>
            </a:pPr>
            <a:r>
              <a:rPr sz="2025" b="0">
                <a:solidFill>
                  <a:srgbClr val="101D2F"/>
                </a:solidFill>
                <a:latin typeface="Arial"/>
                <a:ea typeface="Arial"/>
                <a:cs typeface="Arial"/>
              </a:rPr>
              <a:t>2W / 3W business at transaction</a:t>
            </a:r>
          </a:p>
        </p:txBody>
      </p:sp>
      <p:sp>
        <p:nvSpPr>
          <p:cNvPr id="11" name="text-8">
            <a:extLst xmlns:a="http://schemas.openxmlformats.org/drawingml/2006/main">
              <a:ext uri="{FF2B5EF4-FFF2-40B4-BE49-F238E27FC236}">
                <a16:creationId xmlns:a16="http://schemas.microsoft.com/office/drawing/2014/main" id="{B505961B-A444-411D-B270-AA88DB7BE2B1}"/>
              </a:ext>
            </a:extLst>
          </p:cNvPr>
          <p:cNvSpPr>
            <a:spLocks xmlns:a="http://schemas.openxmlformats.org/drawingml/2006/main" noGrp="1"/>
          </p:cNvSpPr>
          <p:nvPr/>
        </p:nvSpPr>
        <p:spPr>
          <a:xfrm xmlns:a="http://schemas.openxmlformats.org/drawingml/2006/main">
            <a:off x="647700" y="74580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India comes first. Exports are a later opportunity. Forecast earnings remain before full JV ownership and cash-flow adjustments.</a:t>
            </a:r>
          </a:p>
        </p:txBody>
      </p:sp>
    </p:spTree>
    <p:extLst>
      <p:ext uri="{BB962C8B-B14F-4D97-AF65-F5344CB8AC3E}">
        <p14:creationId xmlns:p14="http://schemas.microsoft.com/office/powerpoint/2010/main" val="2674854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6D331C67-1B04-4E67-9D1D-E5C6A3054F1A}"/>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a:t>
            </a:r>
          </a:p>
        </p:txBody>
      </p:sp>
      <p:sp>
        <p:nvSpPr>
          <p:cNvPr id="2" name="text-1">
            <a:extLst xmlns:a="http://schemas.openxmlformats.org/drawingml/2006/main">
              <a:ext uri="{FF2B5EF4-FFF2-40B4-BE49-F238E27FC236}">
                <a16:creationId xmlns:a16="http://schemas.microsoft.com/office/drawing/2014/main" id="{00CC12C6-C758-4728-B440-E5C2691F7F7A}"/>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The model values Sona at INR 850 per share</a:t>
            </a:r>
          </a:p>
        </p:txBody>
      </p:sp>
      <p:sp>
        <p:nvSpPr>
          <p:cNvPr id="3" name="text-2">
            <a:extLst xmlns:a="http://schemas.openxmlformats.org/drawingml/2006/main">
              <a:ext uri="{FF2B5EF4-FFF2-40B4-BE49-F238E27FC236}">
                <a16:creationId xmlns:a16="http://schemas.microsoft.com/office/drawing/2014/main" id="{30549986-F7CF-4062-982B-8C93D3B86996}"/>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INR 660 reflects the core business. About INR 190 depends on the long-term 4W Denso opportunity.</a:t>
            </a:r>
          </a:p>
        </p:txBody>
      </p:sp>
      <p:sp>
        <p:nvSpPr>
          <p:cNvPr id="4" name="">
            <a:extLst xmlns:a="http://schemas.openxmlformats.org/drawingml/2006/main">
              <a:ext uri="{FF2B5EF4-FFF2-40B4-BE49-F238E27FC236}">
                <a16:creationId xmlns:a16="http://schemas.microsoft.com/office/drawing/2014/main" id="{CDE1308B-D1A8-4B80-9260-A96738085170}"/>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8546BCF-E4F8-404B-91E3-372EA23D69DB}"/>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DCF!F26:F36 and India EV Opportunity!P43:P48</a:t>
            </a:r>
          </a:p>
        </p:txBody>
      </p:sp>
      <p:sp>
        <p:nvSpPr>
          <p:cNvPr id="6" name="text-5">
            <a:extLst xmlns:a="http://schemas.openxmlformats.org/drawingml/2006/main">
              <a:ext uri="{FF2B5EF4-FFF2-40B4-BE49-F238E27FC236}">
                <a16:creationId xmlns:a16="http://schemas.microsoft.com/office/drawing/2014/main" id="{80FF00CD-44A6-486E-B3C5-857AAB449A36}"/>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12</a:t>
            </a:r>
          </a:p>
        </p:txBody>
      </p:sp>
      <p:graphicFrame>
        <p:nvGraphicFramePr>
          <p:cNvPr id="7" name="Chart">
            <a:extLst xmlns:a="http://schemas.openxmlformats.org/drawingml/2006/main">
              <a:ext uri="{FF2B5EF4-FFF2-40B4-BE49-F238E27FC236}">
                <a16:creationId xmlns:a16="http://schemas.microsoft.com/office/drawing/2014/main" id="{F0E6F66C-F176-416F-988E-248C58E4CE5D}"/>
              </a:ext>
            </a:extLst>
          </p:cNvPr>
          <p:cNvGraphicFramePr/>
          <p:nvPr/>
        </p:nvGraphicFramePr>
        <p:xfrm>
          <a:off xmlns:a="http://schemas.openxmlformats.org/drawingml/2006/main" x="619125" y="2667000"/>
          <a:ext xmlns:a="http://schemas.openxmlformats.org/drawingml/2006/main" cx="7239000" cy="3952875"/>
        </p:xfrm>
        <a:graphic xmlns:a="http://schemas.openxmlformats.org/drawingml/2006/main">
          <a:graphicData uri="http://schemas.openxmlformats.org/drawingml/2006/chart">
            <c:chart xmlns:r="http://schemas.openxmlformats.org/officeDocument/2006/relationships" xmlns:c="http://schemas.openxmlformats.org/drawingml/2006/chart" r:id="R43675372966b449d"/>
          </a:graphicData>
        </a:graphic>
      </p:graphicFrame>
      <p:sp>
        <p:nvSpPr>
          <p:cNvPr id="8" name="text-6">
            <a:extLst xmlns:a="http://schemas.openxmlformats.org/drawingml/2006/main">
              <a:ext uri="{FF2B5EF4-FFF2-40B4-BE49-F238E27FC236}">
                <a16:creationId xmlns:a16="http://schemas.microsoft.com/office/drawing/2014/main" id="{BFAA5155-5A19-41C5-841D-E8647A8FA283}"/>
              </a:ext>
            </a:extLst>
          </p:cNvPr>
          <p:cNvSpPr>
            <a:spLocks xmlns:a="http://schemas.openxmlformats.org/drawingml/2006/main" noGrp="1"/>
          </p:cNvSpPr>
          <p:nvPr/>
        </p:nvSpPr>
        <p:spPr>
          <a:xfrm xmlns:a="http://schemas.openxmlformats.org/drawingml/2006/main">
            <a:off x="8905875" y="2686050"/>
            <a:ext cx="533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11% / 5%</a:t>
            </a:r>
          </a:p>
        </p:txBody>
      </p:sp>
      <p:sp>
        <p:nvSpPr>
          <p:cNvPr id="9" name="text-7">
            <a:extLst xmlns:a="http://schemas.openxmlformats.org/drawingml/2006/main">
              <a:ext uri="{FF2B5EF4-FFF2-40B4-BE49-F238E27FC236}">
                <a16:creationId xmlns:a16="http://schemas.microsoft.com/office/drawing/2014/main" id="{8A63FCE8-D317-47D7-A6D7-A94B761A809A}"/>
              </a:ext>
            </a:extLst>
          </p:cNvPr>
          <p:cNvSpPr>
            <a:spLocks xmlns:a="http://schemas.openxmlformats.org/drawingml/2006/main" noGrp="1"/>
          </p:cNvSpPr>
          <p:nvPr/>
        </p:nvSpPr>
        <p:spPr>
          <a:xfrm xmlns:a="http://schemas.openxmlformats.org/drawingml/2006/main">
            <a:off x="8905875" y="34004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Core DCF assumptions</a:t>
            </a:r>
          </a:p>
        </p:txBody>
      </p:sp>
      <p:sp>
        <p:nvSpPr>
          <p:cNvPr id="10" name="text-8">
            <a:extLst xmlns:a="http://schemas.openxmlformats.org/drawingml/2006/main">
              <a:ext uri="{FF2B5EF4-FFF2-40B4-BE49-F238E27FC236}">
                <a16:creationId xmlns:a16="http://schemas.microsoft.com/office/drawing/2014/main" id="{14E38832-3DB7-463E-BFCF-A6A0B47A943D}"/>
              </a:ext>
            </a:extLst>
          </p:cNvPr>
          <p:cNvSpPr>
            <a:spLocks xmlns:a="http://schemas.openxmlformats.org/drawingml/2006/main" noGrp="1"/>
          </p:cNvSpPr>
          <p:nvPr/>
        </p:nvSpPr>
        <p:spPr>
          <a:xfrm xmlns:a="http://schemas.openxmlformats.org/drawingml/2006/main">
            <a:off x="8905875" y="379095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WACC / terminal growth</a:t>
            </a:r>
          </a:p>
        </p:txBody>
      </p:sp>
      <p:sp>
        <p:nvSpPr>
          <p:cNvPr id="11" name="text-9">
            <a:extLst xmlns:a="http://schemas.openxmlformats.org/drawingml/2006/main">
              <a:ext uri="{FF2B5EF4-FFF2-40B4-BE49-F238E27FC236}">
                <a16:creationId xmlns:a16="http://schemas.microsoft.com/office/drawing/2014/main" id="{79D4FB2E-FCB7-4B5B-A022-D83CF6ABB2BE}"/>
              </a:ext>
            </a:extLst>
          </p:cNvPr>
          <p:cNvSpPr>
            <a:spLocks xmlns:a="http://schemas.openxmlformats.org/drawingml/2006/main" noGrp="1"/>
          </p:cNvSpPr>
          <p:nvPr/>
        </p:nvSpPr>
        <p:spPr>
          <a:xfrm xmlns:a="http://schemas.openxmlformats.org/drawingml/2006/main">
            <a:off x="8905875" y="455295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9DDA"/>
                </a:solidFill>
                <a:latin typeface="Arial"/>
                <a:ea typeface="Arial"/>
                <a:cs typeface="Arial"/>
              </a:defRPr>
            </a:defPPr>
            <a:lvl1pPr algn="l">
              <a:defRPr sz="4125" b="1">
                <a:solidFill>
                  <a:srgbClr val="009DDA"/>
                </a:solidFill>
                <a:latin typeface="Arial"/>
                <a:ea typeface="Arial"/>
                <a:cs typeface="Arial"/>
              </a:defRPr>
            </a:lvl1pPr>
            <a:lvl2pPr algn="l">
              <a:defRPr sz="4125" b="1">
                <a:solidFill>
                  <a:srgbClr val="009DDA"/>
                </a:solidFill>
                <a:latin typeface="Arial"/>
                <a:ea typeface="Arial"/>
                <a:cs typeface="Arial"/>
              </a:defRPr>
            </a:lvl2pPr>
            <a:lvl3pPr algn="l">
              <a:defRPr sz="4125" b="1">
                <a:solidFill>
                  <a:srgbClr val="009DDA"/>
                </a:solidFill>
                <a:latin typeface="Arial"/>
                <a:ea typeface="Arial"/>
                <a:cs typeface="Arial"/>
              </a:defRPr>
            </a:lvl3pPr>
            <a:lvl4pPr algn="l">
              <a:defRPr sz="4125" b="1">
                <a:solidFill>
                  <a:srgbClr val="009DDA"/>
                </a:solidFill>
                <a:latin typeface="Arial"/>
                <a:ea typeface="Arial"/>
                <a:cs typeface="Arial"/>
              </a:defRPr>
            </a:lvl4pPr>
            <a:lvl5pPr algn="l">
              <a:defRPr sz="4125" b="1">
                <a:solidFill>
                  <a:srgbClr val="009DDA"/>
                </a:solidFill>
                <a:latin typeface="Arial"/>
                <a:ea typeface="Arial"/>
                <a:cs typeface="Arial"/>
              </a:defRPr>
            </a:lvl5pPr>
            <a:lvl6pPr algn="l">
              <a:defRPr sz="4125" b="1">
                <a:solidFill>
                  <a:srgbClr val="009DDA"/>
                </a:solidFill>
                <a:latin typeface="Arial"/>
                <a:ea typeface="Arial"/>
                <a:cs typeface="Arial"/>
              </a:defRPr>
            </a:lvl6pPr>
            <a:lvl7pPr algn="l">
              <a:defRPr sz="4125" b="1">
                <a:solidFill>
                  <a:srgbClr val="009DDA"/>
                </a:solidFill>
                <a:latin typeface="Arial"/>
                <a:ea typeface="Arial"/>
                <a:cs typeface="Arial"/>
              </a:defRPr>
            </a:lvl7pPr>
            <a:lvl8pPr algn="l">
              <a:defRPr sz="4125" b="1">
                <a:solidFill>
                  <a:srgbClr val="009DDA"/>
                </a:solidFill>
                <a:latin typeface="Arial"/>
                <a:ea typeface="Arial"/>
                <a:cs typeface="Arial"/>
              </a:defRPr>
            </a:lvl8pPr>
            <a:lvl9pPr algn="l">
              <a:defRPr sz="4125" b="1">
                <a:solidFill>
                  <a:srgbClr val="009DDA"/>
                </a:solidFill>
                <a:latin typeface="Arial"/>
                <a:ea typeface="Arial"/>
                <a:cs typeface="Arial"/>
              </a:defRPr>
            </a:lvl9pPr>
          </a:lstStyle>
          <a:p xmlns:a="http://schemas.openxmlformats.org/drawingml/2006/main">
            <a:pPr algn="l">
              <a:defRPr sz="4125" b="1">
                <a:solidFill>
                  <a:srgbClr val="009DDA"/>
                </a:solidFill>
                <a:latin typeface="Arial"/>
                <a:ea typeface="Arial"/>
                <a:cs typeface="Arial"/>
              </a:defRPr>
            </a:pPr>
            <a:r>
              <a:rPr sz="4125" b="1">
                <a:solidFill>
                  <a:srgbClr val="009DDA"/>
                </a:solidFill>
                <a:latin typeface="Arial"/>
                <a:ea typeface="Arial"/>
                <a:cs typeface="Arial"/>
              </a:rPr>
              <a:t>INR 48–190</a:t>
            </a:r>
          </a:p>
        </p:txBody>
      </p:sp>
      <p:sp>
        <p:nvSpPr>
          <p:cNvPr id="12" name="text-10">
            <a:extLst xmlns:a="http://schemas.openxmlformats.org/drawingml/2006/main">
              <a:ext uri="{FF2B5EF4-FFF2-40B4-BE49-F238E27FC236}">
                <a16:creationId xmlns:a16="http://schemas.microsoft.com/office/drawing/2014/main" id="{B6E08302-0E6A-42EE-988D-AF998E1A99C6}"/>
              </a:ext>
            </a:extLst>
          </p:cNvPr>
          <p:cNvSpPr>
            <a:spLocks xmlns:a="http://schemas.openxmlformats.org/drawingml/2006/main" noGrp="1"/>
          </p:cNvSpPr>
          <p:nvPr/>
        </p:nvSpPr>
        <p:spPr>
          <a:xfrm xmlns:a="http://schemas.openxmlformats.org/drawingml/2006/main">
            <a:off x="8905875" y="5267325"/>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1D2F"/>
                </a:solidFill>
                <a:latin typeface="Arial"/>
                <a:ea typeface="Arial"/>
                <a:cs typeface="Arial"/>
              </a:defRPr>
            </a:defPPr>
            <a:lvl1pPr algn="l">
              <a:defRPr sz="1875" b="1">
                <a:solidFill>
                  <a:srgbClr val="101D2F"/>
                </a:solidFill>
                <a:latin typeface="Arial"/>
                <a:ea typeface="Arial"/>
                <a:cs typeface="Arial"/>
              </a:defRPr>
            </a:lvl1pPr>
            <a:lvl2pPr algn="l">
              <a:defRPr sz="1875" b="1">
                <a:solidFill>
                  <a:srgbClr val="101D2F"/>
                </a:solidFill>
                <a:latin typeface="Arial"/>
                <a:ea typeface="Arial"/>
                <a:cs typeface="Arial"/>
              </a:defRPr>
            </a:lvl2pPr>
            <a:lvl3pPr algn="l">
              <a:defRPr sz="1875" b="1">
                <a:solidFill>
                  <a:srgbClr val="101D2F"/>
                </a:solidFill>
                <a:latin typeface="Arial"/>
                <a:ea typeface="Arial"/>
                <a:cs typeface="Arial"/>
              </a:defRPr>
            </a:lvl3pPr>
            <a:lvl4pPr algn="l">
              <a:defRPr sz="1875" b="1">
                <a:solidFill>
                  <a:srgbClr val="101D2F"/>
                </a:solidFill>
                <a:latin typeface="Arial"/>
                <a:ea typeface="Arial"/>
                <a:cs typeface="Arial"/>
              </a:defRPr>
            </a:lvl4pPr>
            <a:lvl5pPr algn="l">
              <a:defRPr sz="1875" b="1">
                <a:solidFill>
                  <a:srgbClr val="101D2F"/>
                </a:solidFill>
                <a:latin typeface="Arial"/>
                <a:ea typeface="Arial"/>
                <a:cs typeface="Arial"/>
              </a:defRPr>
            </a:lvl5pPr>
            <a:lvl6pPr algn="l">
              <a:defRPr sz="1875" b="1">
                <a:solidFill>
                  <a:srgbClr val="101D2F"/>
                </a:solidFill>
                <a:latin typeface="Arial"/>
                <a:ea typeface="Arial"/>
                <a:cs typeface="Arial"/>
              </a:defRPr>
            </a:lvl6pPr>
            <a:lvl7pPr algn="l">
              <a:defRPr sz="1875" b="1">
                <a:solidFill>
                  <a:srgbClr val="101D2F"/>
                </a:solidFill>
                <a:latin typeface="Arial"/>
                <a:ea typeface="Arial"/>
                <a:cs typeface="Arial"/>
              </a:defRPr>
            </a:lvl7pPr>
            <a:lvl8pPr algn="l">
              <a:defRPr sz="1875" b="1">
                <a:solidFill>
                  <a:srgbClr val="101D2F"/>
                </a:solidFill>
                <a:latin typeface="Arial"/>
                <a:ea typeface="Arial"/>
                <a:cs typeface="Arial"/>
              </a:defRPr>
            </a:lvl8pPr>
            <a:lvl9pPr algn="l">
              <a:defRPr sz="1875" b="1">
                <a:solidFill>
                  <a:srgbClr val="101D2F"/>
                </a:solidFill>
                <a:latin typeface="Arial"/>
                <a:ea typeface="Arial"/>
                <a:cs typeface="Arial"/>
              </a:defRPr>
            </a:lvl9pPr>
          </a:lstStyle>
          <a:p xmlns:a="http://schemas.openxmlformats.org/drawingml/2006/main">
            <a:pPr algn="l">
              <a:defRPr sz="1875" b="1">
                <a:solidFill>
                  <a:srgbClr val="101D2F"/>
                </a:solidFill>
                <a:latin typeface="Arial"/>
                <a:ea typeface="Arial"/>
                <a:cs typeface="Arial"/>
              </a:defRPr>
            </a:pPr>
            <a:r>
              <a:rPr sz="1875" b="1">
                <a:solidFill>
                  <a:srgbClr val="101D2F"/>
                </a:solidFill>
                <a:latin typeface="Arial"/>
                <a:ea typeface="Arial"/>
                <a:cs typeface="Arial"/>
              </a:rPr>
              <a:t>Denso value sensitivity</a:t>
            </a:r>
          </a:p>
        </p:txBody>
      </p:sp>
      <p:sp>
        <p:nvSpPr>
          <p:cNvPr id="13" name="text-11">
            <a:extLst xmlns:a="http://schemas.openxmlformats.org/drawingml/2006/main">
              <a:ext uri="{FF2B5EF4-FFF2-40B4-BE49-F238E27FC236}">
                <a16:creationId xmlns:a16="http://schemas.microsoft.com/office/drawing/2014/main" id="{3D359779-34B9-40D6-AC0E-0E895F0C28AF}"/>
              </a:ext>
            </a:extLst>
          </p:cNvPr>
          <p:cNvSpPr>
            <a:spLocks xmlns:a="http://schemas.openxmlformats.org/drawingml/2006/main" noGrp="1"/>
          </p:cNvSpPr>
          <p:nvPr/>
        </p:nvSpPr>
        <p:spPr>
          <a:xfrm xmlns:a="http://schemas.openxmlformats.org/drawingml/2006/main">
            <a:off x="8905875" y="565785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C6A78"/>
                </a:solidFill>
                <a:latin typeface="Arial"/>
                <a:ea typeface="Arial"/>
                <a:cs typeface="Arial"/>
              </a:defRPr>
            </a:defPPr>
            <a:lvl1pPr algn="l">
              <a:defRPr sz="1725" b="0">
                <a:solidFill>
                  <a:srgbClr val="5C6A78"/>
                </a:solidFill>
                <a:latin typeface="Arial"/>
                <a:ea typeface="Arial"/>
                <a:cs typeface="Arial"/>
              </a:defRPr>
            </a:lvl1pPr>
            <a:lvl2pPr algn="l">
              <a:defRPr sz="1725" b="0">
                <a:solidFill>
                  <a:srgbClr val="5C6A78"/>
                </a:solidFill>
                <a:latin typeface="Arial"/>
                <a:ea typeface="Arial"/>
                <a:cs typeface="Arial"/>
              </a:defRPr>
            </a:lvl2pPr>
            <a:lvl3pPr algn="l">
              <a:defRPr sz="1725" b="0">
                <a:solidFill>
                  <a:srgbClr val="5C6A78"/>
                </a:solidFill>
                <a:latin typeface="Arial"/>
                <a:ea typeface="Arial"/>
                <a:cs typeface="Arial"/>
              </a:defRPr>
            </a:lvl3pPr>
            <a:lvl4pPr algn="l">
              <a:defRPr sz="1725" b="0">
                <a:solidFill>
                  <a:srgbClr val="5C6A78"/>
                </a:solidFill>
                <a:latin typeface="Arial"/>
                <a:ea typeface="Arial"/>
                <a:cs typeface="Arial"/>
              </a:defRPr>
            </a:lvl4pPr>
            <a:lvl5pPr algn="l">
              <a:defRPr sz="1725" b="0">
                <a:solidFill>
                  <a:srgbClr val="5C6A78"/>
                </a:solidFill>
                <a:latin typeface="Arial"/>
                <a:ea typeface="Arial"/>
                <a:cs typeface="Arial"/>
              </a:defRPr>
            </a:lvl5pPr>
            <a:lvl6pPr algn="l">
              <a:defRPr sz="1725" b="0">
                <a:solidFill>
                  <a:srgbClr val="5C6A78"/>
                </a:solidFill>
                <a:latin typeface="Arial"/>
                <a:ea typeface="Arial"/>
                <a:cs typeface="Arial"/>
              </a:defRPr>
            </a:lvl6pPr>
            <a:lvl7pPr algn="l">
              <a:defRPr sz="1725" b="0">
                <a:solidFill>
                  <a:srgbClr val="5C6A78"/>
                </a:solidFill>
                <a:latin typeface="Arial"/>
                <a:ea typeface="Arial"/>
                <a:cs typeface="Arial"/>
              </a:defRPr>
            </a:lvl7pPr>
            <a:lvl8pPr algn="l">
              <a:defRPr sz="1725" b="0">
                <a:solidFill>
                  <a:srgbClr val="5C6A78"/>
                </a:solidFill>
                <a:latin typeface="Arial"/>
                <a:ea typeface="Arial"/>
                <a:cs typeface="Arial"/>
              </a:defRPr>
            </a:lvl8pPr>
            <a:lvl9pPr algn="l">
              <a:defRPr sz="1725" b="0">
                <a:solidFill>
                  <a:srgbClr val="5C6A78"/>
                </a:solidFill>
                <a:latin typeface="Arial"/>
                <a:ea typeface="Arial"/>
                <a:cs typeface="Arial"/>
              </a:defRPr>
            </a:lvl9pPr>
          </a:lstStyle>
          <a:p xmlns:a="http://schemas.openxmlformats.org/drawingml/2006/main">
            <a:pPr algn="l">
              <a:defRPr sz="1725" b="0">
                <a:solidFill>
                  <a:srgbClr val="5C6A78"/>
                </a:solidFill>
                <a:latin typeface="Arial"/>
                <a:ea typeface="Arial"/>
                <a:cs typeface="Arial"/>
              </a:defRPr>
            </a:pPr>
            <a:r>
              <a:rPr sz="1725" b="0">
                <a:solidFill>
                  <a:srgbClr val="5C6A78"/>
                </a:solidFill>
                <a:latin typeface="Arial"/>
                <a:ea typeface="Arial"/>
                <a:cs typeface="Arial"/>
              </a:rPr>
              <a:t>25–50% share, no exports to model exports</a:t>
            </a:r>
          </a:p>
        </p:txBody>
      </p:sp>
      <p:sp>
        <p:nvSpPr>
          <p:cNvPr id="14" name="text-12">
            <a:extLst xmlns:a="http://schemas.openxmlformats.org/drawingml/2006/main">
              <a:ext uri="{FF2B5EF4-FFF2-40B4-BE49-F238E27FC236}">
                <a16:creationId xmlns:a16="http://schemas.microsoft.com/office/drawing/2014/main" id="{C0D981B6-50AA-4684-B294-997721271202}"/>
              </a:ext>
            </a:extLst>
          </p:cNvPr>
          <p:cNvSpPr>
            <a:spLocks xmlns:a="http://schemas.openxmlformats.org/drawingml/2006/main" noGrp="1"/>
          </p:cNvSpPr>
          <p:nvPr/>
        </p:nvSpPr>
        <p:spPr>
          <a:xfrm xmlns:a="http://schemas.openxmlformats.org/drawingml/2006/main">
            <a:off x="714375" y="6486525"/>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vl1pPr algn="l">
              <a:defRPr sz="2325" b="1">
                <a:solidFill>
                  <a:srgbClr val="101D2F"/>
                </a:solidFill>
                <a:latin typeface="Arial"/>
                <a:ea typeface="Arial"/>
                <a:cs typeface="Arial"/>
              </a:defRPr>
            </a:lvl1pPr>
            <a:lvl2pPr algn="l">
              <a:defRPr sz="2325" b="1">
                <a:solidFill>
                  <a:srgbClr val="101D2F"/>
                </a:solidFill>
                <a:latin typeface="Arial"/>
                <a:ea typeface="Arial"/>
                <a:cs typeface="Arial"/>
              </a:defRPr>
            </a:lvl2pPr>
            <a:lvl3pPr algn="l">
              <a:defRPr sz="2325" b="1">
                <a:solidFill>
                  <a:srgbClr val="101D2F"/>
                </a:solidFill>
                <a:latin typeface="Arial"/>
                <a:ea typeface="Arial"/>
                <a:cs typeface="Arial"/>
              </a:defRPr>
            </a:lvl3pPr>
            <a:lvl4pPr algn="l">
              <a:defRPr sz="2325" b="1">
                <a:solidFill>
                  <a:srgbClr val="101D2F"/>
                </a:solidFill>
                <a:latin typeface="Arial"/>
                <a:ea typeface="Arial"/>
                <a:cs typeface="Arial"/>
              </a:defRPr>
            </a:lvl4pPr>
            <a:lvl5pPr algn="l">
              <a:defRPr sz="2325" b="1">
                <a:solidFill>
                  <a:srgbClr val="101D2F"/>
                </a:solidFill>
                <a:latin typeface="Arial"/>
                <a:ea typeface="Arial"/>
                <a:cs typeface="Arial"/>
              </a:defRPr>
            </a:lvl5pPr>
            <a:lvl6pPr algn="l">
              <a:defRPr sz="2325" b="1">
                <a:solidFill>
                  <a:srgbClr val="101D2F"/>
                </a:solidFill>
                <a:latin typeface="Arial"/>
                <a:ea typeface="Arial"/>
                <a:cs typeface="Arial"/>
              </a:defRPr>
            </a:lvl6pPr>
            <a:lvl7pPr algn="l">
              <a:defRPr sz="2325" b="1">
                <a:solidFill>
                  <a:srgbClr val="101D2F"/>
                </a:solidFill>
                <a:latin typeface="Arial"/>
                <a:ea typeface="Arial"/>
                <a:cs typeface="Arial"/>
              </a:defRPr>
            </a:lvl7pPr>
            <a:lvl8pPr algn="l">
              <a:defRPr sz="2325" b="1">
                <a:solidFill>
                  <a:srgbClr val="101D2F"/>
                </a:solidFill>
                <a:latin typeface="Arial"/>
                <a:ea typeface="Arial"/>
                <a:cs typeface="Arial"/>
              </a:defRPr>
            </a:lvl8pPr>
            <a:lvl9pPr algn="l">
              <a:defRPr sz="2325" b="1">
                <a:solidFill>
                  <a:srgbClr val="101D2F"/>
                </a:solidFill>
                <a:latin typeface="Arial"/>
                <a:ea typeface="Arial"/>
                <a:cs typeface="Arial"/>
              </a:defRPr>
            </a:lvl9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What needs to happen next</a:t>
            </a:r>
          </a:p>
        </p:txBody>
      </p:sp>
      <p:sp>
        <p:nvSpPr>
          <p:cNvPr id="15" name="text-13">
            <a:extLst xmlns:a="http://schemas.openxmlformats.org/drawingml/2006/main">
              <a:ext uri="{FF2B5EF4-FFF2-40B4-BE49-F238E27FC236}">
                <a16:creationId xmlns:a16="http://schemas.microsoft.com/office/drawing/2014/main" id="{F1A30CEC-4413-4D56-BDB7-1837284A5DB4}"/>
              </a:ext>
            </a:extLst>
          </p:cNvPr>
          <p:cNvSpPr>
            <a:spLocks xmlns:a="http://schemas.openxmlformats.org/drawingml/2006/main" noGrp="1"/>
          </p:cNvSpPr>
          <p:nvPr/>
        </p:nvSpPr>
        <p:spPr>
          <a:xfrm xmlns:a="http://schemas.openxmlformats.org/drawingml/2006/main">
            <a:off x="714375" y="7058025"/>
            <a:ext cx="138588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C6A78"/>
                </a:solidFill>
                <a:latin typeface="Arial"/>
                <a:ea typeface="Arial"/>
                <a:cs typeface="Arial"/>
              </a:defRPr>
            </a:defPPr>
            <a:lvl1pPr algn="l">
              <a:defRPr sz="2175" b="0">
                <a:solidFill>
                  <a:srgbClr val="5C6A78"/>
                </a:solidFill>
                <a:latin typeface="Arial"/>
                <a:ea typeface="Arial"/>
                <a:cs typeface="Arial"/>
              </a:defRPr>
            </a:lvl1pPr>
            <a:lvl2pPr algn="l">
              <a:defRPr sz="2175" b="0">
                <a:solidFill>
                  <a:srgbClr val="5C6A78"/>
                </a:solidFill>
                <a:latin typeface="Arial"/>
                <a:ea typeface="Arial"/>
                <a:cs typeface="Arial"/>
              </a:defRPr>
            </a:lvl2pPr>
            <a:lvl3pPr algn="l">
              <a:defRPr sz="2175" b="0">
                <a:solidFill>
                  <a:srgbClr val="5C6A78"/>
                </a:solidFill>
                <a:latin typeface="Arial"/>
                <a:ea typeface="Arial"/>
                <a:cs typeface="Arial"/>
              </a:defRPr>
            </a:lvl3pPr>
            <a:lvl4pPr algn="l">
              <a:defRPr sz="2175" b="0">
                <a:solidFill>
                  <a:srgbClr val="5C6A78"/>
                </a:solidFill>
                <a:latin typeface="Arial"/>
                <a:ea typeface="Arial"/>
                <a:cs typeface="Arial"/>
              </a:defRPr>
            </a:lvl4pPr>
            <a:lvl5pPr algn="l">
              <a:defRPr sz="2175" b="0">
                <a:solidFill>
                  <a:srgbClr val="5C6A78"/>
                </a:solidFill>
                <a:latin typeface="Arial"/>
                <a:ea typeface="Arial"/>
                <a:cs typeface="Arial"/>
              </a:defRPr>
            </a:lvl5pPr>
            <a:lvl6pPr algn="l">
              <a:defRPr sz="2175" b="0">
                <a:solidFill>
                  <a:srgbClr val="5C6A78"/>
                </a:solidFill>
                <a:latin typeface="Arial"/>
                <a:ea typeface="Arial"/>
                <a:cs typeface="Arial"/>
              </a:defRPr>
            </a:lvl6pPr>
            <a:lvl7pPr algn="l">
              <a:defRPr sz="2175" b="0">
                <a:solidFill>
                  <a:srgbClr val="5C6A78"/>
                </a:solidFill>
                <a:latin typeface="Arial"/>
                <a:ea typeface="Arial"/>
                <a:cs typeface="Arial"/>
              </a:defRPr>
            </a:lvl7pPr>
            <a:lvl8pPr algn="l">
              <a:defRPr sz="2175" b="0">
                <a:solidFill>
                  <a:srgbClr val="5C6A78"/>
                </a:solidFill>
                <a:latin typeface="Arial"/>
                <a:ea typeface="Arial"/>
                <a:cs typeface="Arial"/>
              </a:defRPr>
            </a:lvl8pPr>
            <a:lvl9pPr algn="l">
              <a:defRPr sz="2175" b="0">
                <a:solidFill>
                  <a:srgbClr val="5C6A78"/>
                </a:solidFill>
                <a:latin typeface="Arial"/>
                <a:ea typeface="Arial"/>
                <a:cs typeface="Arial"/>
              </a:defRPr>
            </a:lvl9pPr>
          </a:lstStyle>
          <a:p xmlns:a="http://schemas.openxmlformats.org/drawingml/2006/main">
            <a:pPr algn="l">
              <a:defRPr sz="2175" b="0">
                <a:solidFill>
                  <a:srgbClr val="5C6A78"/>
                </a:solidFill>
                <a:latin typeface="Arial"/>
                <a:ea typeface="Arial"/>
                <a:cs typeface="Arial"/>
              </a:defRPr>
            </a:pPr>
            <a:r>
              <a:rPr sz="2175" b="0">
                <a:solidFill>
                  <a:srgbClr val="5C6A78"/>
                </a:solidFill>
                <a:latin typeface="Arial"/>
                <a:ea typeface="Arial"/>
                <a:cs typeface="Arial"/>
              </a:rPr>
              <a:t>Next catalyst: Q2 FY27 results on 26 October. Program ramps, margins and Denso execution remain the key tests.</a:t>
            </a:r>
          </a:p>
        </p:txBody>
      </p:sp>
    </p:spTree>
    <p:extLst>
      <p:ext uri="{BB962C8B-B14F-4D97-AF65-F5344CB8AC3E}">
        <p14:creationId xmlns:p14="http://schemas.microsoft.com/office/powerpoint/2010/main" val="14557680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2272ED4-DF07-41B7-B01F-7657813958C5}"/>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5EA151F0-8F8C-42BD-A844-8D794E9D258F}"/>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A01   The latest quarter confirms strong EV momentum</a:t>
            </a:r>
          </a:p>
        </p:txBody>
      </p:sp>
      <p:sp>
        <p:nvSpPr>
          <p:cNvPr id="3" name="text-2">
            <a:extLst xmlns:a="http://schemas.openxmlformats.org/drawingml/2006/main">
              <a:ext uri="{FF2B5EF4-FFF2-40B4-BE49-F238E27FC236}">
                <a16:creationId xmlns:a16="http://schemas.microsoft.com/office/drawing/2014/main" id="{EBDFB7E0-F078-4EF6-AEA7-DC3ACE46C66E}"/>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Q1 FY27 is the latest reported quarter as of 16 October 2026.</a:t>
            </a:r>
          </a:p>
        </p:txBody>
      </p:sp>
      <p:sp>
        <p:nvSpPr>
          <p:cNvPr id="4" name="">
            <a:extLst xmlns:a="http://schemas.openxmlformats.org/drawingml/2006/main">
              <a:ext uri="{FF2B5EF4-FFF2-40B4-BE49-F238E27FC236}">
                <a16:creationId xmlns:a16="http://schemas.microsoft.com/office/drawing/2014/main" id="{46EFA222-1089-4FCB-A43F-66F6F450FECF}"/>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0524A058-C28C-4DBE-BFCF-0F0826BE458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Q1 FY27 presentation and board calendar</a:t>
            </a:r>
          </a:p>
        </p:txBody>
      </p:sp>
      <p:sp>
        <p:nvSpPr>
          <p:cNvPr id="6" name="text-5">
            <a:extLst xmlns:a="http://schemas.openxmlformats.org/drawingml/2006/main">
              <a:ext uri="{FF2B5EF4-FFF2-40B4-BE49-F238E27FC236}">
                <a16:creationId xmlns:a16="http://schemas.microsoft.com/office/drawing/2014/main" id="{BC19D2F9-5B38-42D7-9347-AF10164905B6}"/>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13</a:t>
            </a:r>
          </a:p>
        </p:txBody>
      </p:sp>
      <p:graphicFrame>
        <p:nvGraphicFramePr>
          <p:cNvPr id="7" name="Chart">
            <a:extLst xmlns:a="http://schemas.openxmlformats.org/drawingml/2006/main">
              <a:ext uri="{FF2B5EF4-FFF2-40B4-BE49-F238E27FC236}">
                <a16:creationId xmlns:a16="http://schemas.microsoft.com/office/drawing/2014/main" id="{2BB165D4-A5B1-48B1-90C3-A38EF15E50CA}"/>
              </a:ext>
            </a:extLst>
          </p:cNvPr>
          <p:cNvGraphicFramePr/>
          <p:nvPr/>
        </p:nvGraphicFramePr>
        <p:xfrm>
          <a:off xmlns:a="http://schemas.openxmlformats.org/drawingml/2006/main" x="619125" y="2667000"/>
          <a:ext xmlns:a="http://schemas.openxmlformats.org/drawingml/2006/main" cx="7858125" cy="4048125"/>
        </p:xfrm>
        <a:graphic xmlns:a="http://schemas.openxmlformats.org/drawingml/2006/main">
          <a:graphicData uri="http://schemas.openxmlformats.org/drawingml/2006/chart">
            <c:chart xmlns:r="http://schemas.openxmlformats.org/officeDocument/2006/relationships" xmlns:c="http://schemas.openxmlformats.org/drawingml/2006/chart" r:id="R327056678aa64c6c"/>
          </a:graphicData>
        </a:graphic>
      </p:graphicFrame>
      <p:graphicFrame>
        <p:nvGraphicFramePr>
          <p:cNvPr id="8" name="">
            <a:extLst xmlns:a="http://schemas.openxmlformats.org/drawingml/2006/main">
              <a:ext uri="{FF2B5EF4-FFF2-40B4-BE49-F238E27FC236}">
                <a16:creationId xmlns:a16="http://schemas.microsoft.com/office/drawing/2014/main" id="{68D187D3-7CFA-4E51-B158-82737CF9C91D}"/>
              </a:ext>
            </a:extLst>
          </p:cNvPr>
          <p:cNvGraphicFramePr/>
          <p:nvPr/>
        </p:nvGraphicFramePr>
        <p:xfrm>
          <a:off xmlns:a="http://schemas.openxmlformats.org/drawingml/2006/main" x="9144000" y="2714625"/>
          <a:ext xmlns:a="http://schemas.openxmlformats.org/drawingml/2006/main" cx="5476875" cy="3190875"/>
        </p:xfrm>
        <a:graphic xmlns:a="http://schemas.openxmlformats.org/drawingml/2006/main">
          <a:graphicData uri="http://schemas.openxmlformats.org/drawingml/2006/table">
            <a:tbl>
              <a:tblPr/>
              <a:tblGrid>
                <a:gridCol w="2333625"/>
                <a:gridCol w="1571625"/>
                <a:gridCol w="1571625"/>
              </a:tblGrid>
              <a:tr h="638175">
                <a:tc>
                  <a:txBody>
                    <a:bodyPr lIns="85725" tIns="85725" rIns="85725" bIns="85725"/>
                    <a:lstStyle/>
                    <a:p>
                      <a:pPr algn="l"/>
                      <a:r>
                        <a:rPr sz="1875" b="1">
                          <a:solidFill>
                            <a:srgbClr val="FFFFFF"/>
                          </a:solidFill>
                          <a:latin typeface="Arial"/>
                          <a:ea typeface="Arial"/>
                          <a:cs typeface="Arial"/>
                        </a:rPr>
                        <a:t>Metric</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Q1 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Q1 FY27</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38175">
                <a:tc>
                  <a:txBody>
                    <a:bodyPr lIns="85725" tIns="85725" rIns="85725" bIns="85725"/>
                    <a:lstStyle/>
                    <a:p>
                      <a:pPr algn="l"/>
                      <a:r>
                        <a:rPr sz="1875" b="0">
                          <a:solidFill>
                            <a:srgbClr val="101D2F"/>
                          </a:solidFill>
                          <a:latin typeface="Arial"/>
                          <a:ea typeface="Arial"/>
                          <a:cs typeface="Arial"/>
                        </a:rPr>
                        <a:t>EBITDA, INR bn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2.03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3.03</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8175">
                <a:tc>
                  <a:txBody>
                    <a:bodyPr lIns="85725" tIns="85725" rIns="85725" bIns="85725"/>
                    <a:lstStyle/>
                    <a:p>
                      <a:pPr algn="l"/>
                      <a:r>
                        <a:rPr sz="1875" b="0">
                          <a:solidFill>
                            <a:srgbClr val="101D2F"/>
                          </a:solidFill>
                          <a:latin typeface="Arial"/>
                          <a:ea typeface="Arial"/>
                          <a:cs typeface="Arial"/>
                        </a:rPr>
                        <a:t>EBITDA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23.8%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23.1%</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38175">
                <a:tc>
                  <a:txBody>
                    <a:bodyPr lIns="85725" tIns="85725" rIns="85725" bIns="85725"/>
                    <a:lstStyle/>
                    <a:p>
                      <a:pPr algn="l"/>
                      <a:r>
                        <a:rPr sz="1875" b="0">
                          <a:solidFill>
                            <a:srgbClr val="101D2F"/>
                          </a:solidFill>
                          <a:latin typeface="Arial"/>
                          <a:ea typeface="Arial"/>
                          <a:cs typeface="Arial"/>
                        </a:rPr>
                        <a:t>PAT incl. NCI, INR bn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1.25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8175">
                <a:tc>
                  <a:txBody>
                    <a:bodyPr lIns="85725" tIns="85725" rIns="85725" bIns="85725"/>
                    <a:lstStyle/>
                    <a:p>
                      <a:pPr algn="l"/>
                      <a:r>
                        <a:rPr sz="1875" b="0">
                          <a:solidFill>
                            <a:srgbClr val="101D2F"/>
                          </a:solidFill>
                          <a:latin typeface="Arial"/>
                          <a:ea typeface="Arial"/>
                          <a:cs typeface="Arial"/>
                        </a:rPr>
                        <a:t>BEV mix of auto sales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44%</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3C5F1FBB-8F9F-47BC-9320-969FE19C0FF8}"/>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Revenue growth was 54% on the company presentation basis. EBITDA grew 49% as margin declined by 70bp.</a:t>
            </a:r>
          </a:p>
        </p:txBody>
      </p:sp>
    </p:spTree>
    <p:extLst>
      <p:ext uri="{BB962C8B-B14F-4D97-AF65-F5344CB8AC3E}">
        <p14:creationId xmlns:p14="http://schemas.microsoft.com/office/powerpoint/2010/main" val="9432408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8FBE60F-BE3A-4F04-BDF1-23E420623A22}"/>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F5B77B11-B255-4C9E-A46D-C17ED0FE059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A02   India is now Sona’s largest revenue geography</a:t>
            </a:r>
          </a:p>
        </p:txBody>
      </p:sp>
      <p:sp>
        <p:nvSpPr>
          <p:cNvPr id="3" name="text-2">
            <a:extLst xmlns:a="http://schemas.openxmlformats.org/drawingml/2006/main">
              <a:ext uri="{FF2B5EF4-FFF2-40B4-BE49-F238E27FC236}">
                <a16:creationId xmlns:a16="http://schemas.microsoft.com/office/drawing/2014/main" id="{8B908A8D-31A8-4F8E-BA84-CAA95DD002CE}"/>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Diversification has increased, although customer-level concentration still needs monitoring.</a:t>
            </a:r>
          </a:p>
        </p:txBody>
      </p:sp>
      <p:sp>
        <p:nvSpPr>
          <p:cNvPr id="4" name="">
            <a:extLst xmlns:a="http://schemas.openxmlformats.org/drawingml/2006/main">
              <a:ext uri="{FF2B5EF4-FFF2-40B4-BE49-F238E27FC236}">
                <a16:creationId xmlns:a16="http://schemas.microsoft.com/office/drawing/2014/main" id="{888C5910-B2F3-4131-B402-599F165BEA2A}"/>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1F93D411-1CB3-4702-9F44-3BBC6A029CF1}"/>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presentations and supplied Charts 2.0 sheet</a:t>
            </a:r>
          </a:p>
        </p:txBody>
      </p:sp>
      <p:sp>
        <p:nvSpPr>
          <p:cNvPr id="6" name="text-5">
            <a:extLst xmlns:a="http://schemas.openxmlformats.org/drawingml/2006/main">
              <a:ext uri="{FF2B5EF4-FFF2-40B4-BE49-F238E27FC236}">
                <a16:creationId xmlns:a16="http://schemas.microsoft.com/office/drawing/2014/main" id="{F3946571-B2D6-4C6D-BB12-E9F19C09C7D3}"/>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14</a:t>
            </a:r>
          </a:p>
        </p:txBody>
      </p:sp>
      <p:graphicFrame>
        <p:nvGraphicFramePr>
          <p:cNvPr id="7" name="Chart">
            <a:extLst xmlns:a="http://schemas.openxmlformats.org/drawingml/2006/main">
              <a:ext uri="{FF2B5EF4-FFF2-40B4-BE49-F238E27FC236}">
                <a16:creationId xmlns:a16="http://schemas.microsoft.com/office/drawing/2014/main" id="{3BCF1B8D-3429-4A78-B43B-408CB2A1E089}"/>
              </a:ext>
            </a:extLst>
          </p:cNvPr>
          <p:cNvGraphicFramePr/>
          <p:nvPr/>
        </p:nvGraphicFramePr>
        <p:xfrm>
          <a:off xmlns:a="http://schemas.openxmlformats.org/drawingml/2006/main" x="619125" y="2667000"/>
          <a:ext xmlns:a="http://schemas.openxmlformats.org/drawingml/2006/main" cx="7429500" cy="4048125"/>
        </p:xfrm>
        <a:graphic xmlns:a="http://schemas.openxmlformats.org/drawingml/2006/main">
          <a:graphicData uri="http://schemas.openxmlformats.org/drawingml/2006/chart">
            <c:chart xmlns:r="http://schemas.openxmlformats.org/officeDocument/2006/relationships" xmlns:c="http://schemas.openxmlformats.org/drawingml/2006/chart" r:id="Rbcd547358fcd4704"/>
          </a:graphicData>
        </a:graphic>
      </p:graphicFrame>
      <p:graphicFrame>
        <p:nvGraphicFramePr>
          <p:cNvPr id="8" name="Chart">
            <a:extLst xmlns:a="http://schemas.openxmlformats.org/drawingml/2006/main">
              <a:ext uri="{FF2B5EF4-FFF2-40B4-BE49-F238E27FC236}">
                <a16:creationId xmlns:a16="http://schemas.microsoft.com/office/drawing/2014/main" id="{782CCD9D-E58A-4A2D-8252-5FFC46659C7F}"/>
              </a:ext>
            </a:extLst>
          </p:cNvPr>
          <p:cNvGraphicFramePr/>
          <p:nvPr/>
        </p:nvGraphicFramePr>
        <p:xfrm>
          <a:off xmlns:a="http://schemas.openxmlformats.org/drawingml/2006/main" x="8858250" y="2667000"/>
          <a:ext xmlns:a="http://schemas.openxmlformats.org/drawingml/2006/main" cx="5762625" cy="4000500"/>
        </p:xfrm>
        <a:graphic xmlns:a="http://schemas.openxmlformats.org/drawingml/2006/main">
          <a:graphicData uri="http://schemas.openxmlformats.org/drawingml/2006/chart">
            <c:chart xmlns:r="http://schemas.openxmlformats.org/officeDocument/2006/relationships" xmlns:c="http://schemas.openxmlformats.org/drawingml/2006/chart" r:id="Re8b868634b7641df"/>
          </a:graphicData>
        </a:graphic>
      </p:graphicFrame>
      <p:sp>
        <p:nvSpPr>
          <p:cNvPr id="9" name="text-6">
            <a:extLst xmlns:a="http://schemas.openxmlformats.org/drawingml/2006/main">
              <a:ext uri="{FF2B5EF4-FFF2-40B4-BE49-F238E27FC236}">
                <a16:creationId xmlns:a16="http://schemas.microsoft.com/office/drawing/2014/main" id="{4FC3D4EF-CE03-4A3A-91A4-61738F846C82}"/>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Europe is a smaller direct exposure. China offers customer growth while also intensifying competition for legacy OEMs.</a:t>
            </a:r>
          </a:p>
        </p:txBody>
      </p:sp>
    </p:spTree>
    <p:extLst>
      <p:ext uri="{BB962C8B-B14F-4D97-AF65-F5344CB8AC3E}">
        <p14:creationId xmlns:p14="http://schemas.microsoft.com/office/powerpoint/2010/main" val="15634763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44ED6E7-2228-405B-9DC6-2E2CA75F87FD}"/>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D8960CA4-203A-49AE-9A46-F42CBBE5D11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A03   The program pipeline spans several growth engines</a:t>
            </a:r>
          </a:p>
        </p:txBody>
      </p:sp>
      <p:sp>
        <p:nvSpPr>
          <p:cNvPr id="3" name="text-2">
            <a:extLst xmlns:a="http://schemas.openxmlformats.org/drawingml/2006/main">
              <a:ext uri="{FF2B5EF4-FFF2-40B4-BE49-F238E27FC236}">
                <a16:creationId xmlns:a16="http://schemas.microsoft.com/office/drawing/2014/main" id="{3C2E2010-9395-4F03-8847-0E157990E6C5}"/>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Named customer references below come from the supplied IR and management notes.</a:t>
            </a:r>
          </a:p>
        </p:txBody>
      </p:sp>
      <p:sp>
        <p:nvSpPr>
          <p:cNvPr id="4" name="">
            <a:extLst xmlns:a="http://schemas.openxmlformats.org/drawingml/2006/main">
              <a:ext uri="{FF2B5EF4-FFF2-40B4-BE49-F238E27FC236}">
                <a16:creationId xmlns:a16="http://schemas.microsoft.com/office/drawing/2014/main" id="{F10BBC0B-5CD7-44DD-8F73-1477999A6EDC}"/>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A6E2670C-EAE3-49BE-A096-6BF1B6319CF2}"/>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IR notes, company Q1 FY27 program / order-book disclosures</a:t>
            </a:r>
          </a:p>
        </p:txBody>
      </p:sp>
      <p:sp>
        <p:nvSpPr>
          <p:cNvPr id="6" name="text-5">
            <a:extLst xmlns:a="http://schemas.openxmlformats.org/drawingml/2006/main">
              <a:ext uri="{FF2B5EF4-FFF2-40B4-BE49-F238E27FC236}">
                <a16:creationId xmlns:a16="http://schemas.microsoft.com/office/drawing/2014/main" id="{43E019D4-A3DA-48FD-B09F-D83E9457F0DB}"/>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15</a:t>
            </a:r>
          </a:p>
        </p:txBody>
      </p:sp>
      <p:graphicFrame>
        <p:nvGraphicFramePr>
          <p:cNvPr id="7" name="">
            <a:extLst xmlns:a="http://schemas.openxmlformats.org/drawingml/2006/main">
              <a:ext uri="{FF2B5EF4-FFF2-40B4-BE49-F238E27FC236}">
                <a16:creationId xmlns:a16="http://schemas.microsoft.com/office/drawing/2014/main" id="{6DA80CE1-900F-46F4-92B7-2BB1811059B1}"/>
              </a:ext>
            </a:extLst>
          </p:cNvPr>
          <p:cNvGraphicFramePr/>
          <p:nvPr/>
        </p:nvGraphicFramePr>
        <p:xfrm>
          <a:off xmlns:a="http://schemas.openxmlformats.org/drawingml/2006/main" x="619125" y="2590800"/>
          <a:ext xmlns:a="http://schemas.openxmlformats.org/drawingml/2006/main" cx="14001750" cy="3476625"/>
        </p:xfrm>
        <a:graphic xmlns:a="http://schemas.openxmlformats.org/drawingml/2006/main">
          <a:graphicData uri="http://schemas.openxmlformats.org/drawingml/2006/table">
            <a:tbl>
              <a:tblPr/>
              <a:tblGrid>
                <a:gridCol w="2000250"/>
                <a:gridCol w="4000500"/>
                <a:gridCol w="4095750"/>
                <a:gridCol w="3905250"/>
              </a:tblGrid>
              <a:tr h="496661">
                <a:tc>
                  <a:txBody>
                    <a:bodyPr lIns="85725" tIns="85725" rIns="85725" bIns="85725"/>
                    <a:lstStyle/>
                    <a:p>
                      <a:pPr algn="l"/>
                      <a:r>
                        <a:rPr sz="1800" b="1">
                          <a:solidFill>
                            <a:srgbClr val="FFFFFF"/>
                          </a:solidFill>
                          <a:latin typeface="Arial"/>
                          <a:ea typeface="Arial"/>
                          <a:cs typeface="Arial"/>
                        </a:rPr>
                        <a:t>Engine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Customer / application</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Commercial driver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Timing / confidence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96661">
                <a:tc>
                  <a:txBody>
                    <a:bodyPr lIns="85725" tIns="85725" rIns="85725" bIns="85725"/>
                    <a:lstStyle/>
                    <a:p>
                      <a:pPr algn="l"/>
                      <a:r>
                        <a:rPr sz="1800" b="0">
                          <a:solidFill>
                            <a:srgbClr val="101D2F"/>
                          </a:solidFill>
                          <a:latin typeface="Arial"/>
                          <a:ea typeface="Arial"/>
                          <a:cs typeface="Arial"/>
                        </a:rPr>
                        <a:t>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M&amp;M BEVs / Valeo</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Localization of differentials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IR, ramp timing indicative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6661">
                <a:tc>
                  <a:txBody>
                    <a:bodyPr lIns="85725" tIns="85725" rIns="85725" bIns="85725"/>
                    <a:lstStyle/>
                    <a:p>
                      <a:pPr algn="l"/>
                      <a:r>
                        <a:rPr sz="1800" b="0">
                          <a:solidFill>
                            <a:srgbClr val="101D2F"/>
                          </a:solidFill>
                          <a:latin typeface="Arial"/>
                          <a:ea typeface="Arial"/>
                          <a:cs typeface="Arial"/>
                        </a:rPr>
                        <a:t>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JLR / Ford EVs</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New platform launches</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IR, Ford FY28 reference</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96661">
                <a:tc>
                  <a:txBody>
                    <a:bodyPr lIns="85725" tIns="85725" rIns="85725" bIns="85725"/>
                    <a:lstStyle/>
                    <a:p>
                      <a:pPr algn="l"/>
                      <a:r>
                        <a:rPr sz="1800" b="0">
                          <a:solidFill>
                            <a:srgbClr val="101D2F"/>
                          </a:solidFill>
                          <a:latin typeface="Arial"/>
                          <a:ea typeface="Arial"/>
                          <a:cs typeface="Arial"/>
                        </a:rPr>
                        <a:t>Traction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TVS / M&amp;M electric 3Ws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Volume ramp and sourcing share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IR, ongoing ramps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6661">
                <a:tc>
                  <a:txBody>
                    <a:bodyPr lIns="85725" tIns="85725" rIns="85725" bIns="85725"/>
                    <a:lstStyle/>
                    <a:p>
                      <a:pPr algn="l"/>
                      <a:r>
                        <a:rPr sz="1800" b="0">
                          <a:solidFill>
                            <a:srgbClr val="101D2F"/>
                          </a:solidFill>
                          <a:latin typeface="Arial"/>
                          <a:ea typeface="Arial"/>
                          <a:cs typeface="Arial"/>
                        </a:rPr>
                        <a:t>Integrated systems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TVS iQube / RE Flying Flea</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Motor + controller content</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IR, platform-specific</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96661">
                <a:tc>
                  <a:txBody>
                    <a:bodyPr lIns="85725" tIns="85725" rIns="85725" bIns="85725"/>
                    <a:lstStyle/>
                    <a:p>
                      <a:pPr algn="l"/>
                      <a:r>
                        <a:rPr sz="1800" b="0">
                          <a:solidFill>
                            <a:srgbClr val="101D2F"/>
                          </a:solidFill>
                          <a:latin typeface="Arial"/>
                          <a:ea typeface="Arial"/>
                          <a:cs typeface="Arial"/>
                        </a:rPr>
                        <a:t>Suspension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Nio premium EVs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More models and OEMs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IR + public ramp commentary</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6661">
                <a:tc>
                  <a:txBody>
                    <a:bodyPr lIns="85725" tIns="85725" rIns="85725" bIns="85725"/>
                    <a:lstStyle/>
                    <a:p>
                      <a:pPr algn="l"/>
                      <a:r>
                        <a:rPr sz="1800" b="0">
                          <a:solidFill>
                            <a:srgbClr val="101D2F"/>
                          </a:solidFill>
                          <a:latin typeface="Arial"/>
                          <a:ea typeface="Arial"/>
                          <a:cs typeface="Arial"/>
                        </a:rPr>
                        <a:t>Public award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North American hybrid PV</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INR 6.4bn lifetime order</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Public SOP H2 FY29</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67ED017E-46E9-435E-922F-A25983B46C19}"/>
              </a:ext>
            </a:extLst>
          </p:cNvPr>
          <p:cNvGraphicFramePr/>
          <p:nvPr/>
        </p:nvGraphicFramePr>
        <p:xfrm>
          <a:off xmlns:a="http://schemas.openxmlformats.org/drawingml/2006/main" x="647700" y="6296025"/>
          <a:ext xmlns:a="http://schemas.openxmlformats.org/drawingml/2006/main" cx="13954125" cy="1381125"/>
        </p:xfrm>
        <a:graphic xmlns:a="http://schemas.openxmlformats.org/drawingml/2006/main">
          <a:graphicData uri="http://schemas.openxmlformats.org/drawingml/2006/chart">
            <c:chart xmlns:r="http://schemas.openxmlformats.org/officeDocument/2006/relationships" xmlns:c="http://schemas.openxmlformats.org/drawingml/2006/chart" r:id="R6f6af00755f944fa"/>
          </a:graphicData>
        </a:graphic>
      </p:graphicFrame>
    </p:spTree>
    <p:extLst>
      <p:ext uri="{BB962C8B-B14F-4D97-AF65-F5344CB8AC3E}">
        <p14:creationId xmlns:p14="http://schemas.microsoft.com/office/powerpoint/2010/main" val="19523858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0787C1C2-A817-49C4-AC7A-57ED072ABAF0}"/>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FB171DE9-47F7-4E2C-A243-B0BDF0B1DDDF}"/>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A04   Content, share gains and integration determine the upside</a:t>
            </a:r>
          </a:p>
        </p:txBody>
      </p:sp>
      <p:sp>
        <p:nvSpPr>
          <p:cNvPr id="3" name="text-2">
            <a:extLst xmlns:a="http://schemas.openxmlformats.org/drawingml/2006/main">
              <a:ext uri="{FF2B5EF4-FFF2-40B4-BE49-F238E27FC236}">
                <a16:creationId xmlns:a16="http://schemas.microsoft.com/office/drawing/2014/main" id="{4ABE3A89-6F39-4D23-A0D4-176FE9A018A9}"/>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Sona’s market position is strongest in gears. New systems broaden the competitive set.</a:t>
            </a:r>
          </a:p>
        </p:txBody>
      </p:sp>
      <p:sp>
        <p:nvSpPr>
          <p:cNvPr id="4" name="">
            <a:extLst xmlns:a="http://schemas.openxmlformats.org/drawingml/2006/main">
              <a:ext uri="{FF2B5EF4-FFF2-40B4-BE49-F238E27FC236}">
                <a16:creationId xmlns:a16="http://schemas.microsoft.com/office/drawing/2014/main" id="{9FEF0EBF-B3E0-48D7-BF27-5AE79349DC38}"/>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4642C8D-F30A-4BBA-B27C-A74496892068}"/>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IR notes, supplied model and company market-share disclosures</a:t>
            </a:r>
          </a:p>
        </p:txBody>
      </p:sp>
      <p:sp>
        <p:nvSpPr>
          <p:cNvPr id="6" name="text-5">
            <a:extLst xmlns:a="http://schemas.openxmlformats.org/drawingml/2006/main">
              <a:ext uri="{FF2B5EF4-FFF2-40B4-BE49-F238E27FC236}">
                <a16:creationId xmlns:a16="http://schemas.microsoft.com/office/drawing/2014/main" id="{9335204E-A3AB-455C-8396-B673180BE3BB}"/>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16</a:t>
            </a:r>
          </a:p>
        </p:txBody>
      </p:sp>
      <p:graphicFrame>
        <p:nvGraphicFramePr>
          <p:cNvPr id="7" name="Chart">
            <a:extLst xmlns:a="http://schemas.openxmlformats.org/drawingml/2006/main">
              <a:ext uri="{FF2B5EF4-FFF2-40B4-BE49-F238E27FC236}">
                <a16:creationId xmlns:a16="http://schemas.microsoft.com/office/drawing/2014/main" id="{6951C402-BFDE-4F98-ADD7-C4CAFF084381}"/>
              </a:ext>
            </a:extLst>
          </p:cNvPr>
          <p:cNvGraphicFramePr/>
          <p:nvPr/>
        </p:nvGraphicFramePr>
        <p:xfrm>
          <a:off xmlns:a="http://schemas.openxmlformats.org/drawingml/2006/main" x="619125" y="2667000"/>
          <a:ext xmlns:a="http://schemas.openxmlformats.org/drawingml/2006/main" cx="8048625" cy="3705225"/>
        </p:xfrm>
        <a:graphic xmlns:a="http://schemas.openxmlformats.org/drawingml/2006/main">
          <a:graphicData uri="http://schemas.openxmlformats.org/drawingml/2006/chart">
            <c:chart xmlns:r="http://schemas.openxmlformats.org/officeDocument/2006/relationships" xmlns:c="http://schemas.openxmlformats.org/drawingml/2006/chart" r:id="Rdacdb3f7f61f48be"/>
          </a:graphicData>
        </a:graphic>
      </p:graphicFrame>
      <p:graphicFrame>
        <p:nvGraphicFramePr>
          <p:cNvPr id="8" name="">
            <a:extLst xmlns:a="http://schemas.openxmlformats.org/drawingml/2006/main">
              <a:ext uri="{FF2B5EF4-FFF2-40B4-BE49-F238E27FC236}">
                <a16:creationId xmlns:a16="http://schemas.microsoft.com/office/drawing/2014/main" id="{B188709E-18B9-4EF5-A07B-FAD3FFB1DF84}"/>
              </a:ext>
            </a:extLst>
          </p:cNvPr>
          <p:cNvGraphicFramePr/>
          <p:nvPr/>
        </p:nvGraphicFramePr>
        <p:xfrm>
          <a:off xmlns:a="http://schemas.openxmlformats.org/drawingml/2006/main" x="9191625" y="2695575"/>
          <a:ext xmlns:a="http://schemas.openxmlformats.org/drawingml/2006/main" cx="5429250" cy="2276475"/>
        </p:xfrm>
        <a:graphic xmlns:a="http://schemas.openxmlformats.org/drawingml/2006/main">
          <a:graphicData uri="http://schemas.openxmlformats.org/drawingml/2006/table">
            <a:tbl>
              <a:tblPr/>
              <a:tblGrid>
                <a:gridCol w="2333625"/>
                <a:gridCol w="3095625"/>
              </a:tblGrid>
              <a:tr h="569119">
                <a:tc>
                  <a:txBody>
                    <a:bodyPr lIns="85725" tIns="85725" rIns="85725" bIns="85725"/>
                    <a:lstStyle/>
                    <a:p>
                      <a:pPr algn="l"/>
                      <a:r>
                        <a:rPr sz="1875" b="1">
                          <a:solidFill>
                            <a:srgbClr val="FFFFFF"/>
                          </a:solidFill>
                          <a:latin typeface="Arial"/>
                          <a:ea typeface="Arial"/>
                          <a:cs typeface="Arial"/>
                        </a:rPr>
                        <a:t>Product</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Selected content example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69119">
                <a:tc>
                  <a:txBody>
                    <a:bodyPr lIns="85725" tIns="85725" rIns="85725" bIns="85725"/>
                    <a:lstStyle/>
                    <a:p>
                      <a:pPr algn="l"/>
                      <a:r>
                        <a:rPr sz="1875" b="0">
                          <a:solidFill>
                            <a:srgbClr val="101D2F"/>
                          </a:solidFill>
                          <a:latin typeface="Arial"/>
                          <a:ea typeface="Arial"/>
                          <a:cs typeface="Arial"/>
                        </a:rPr>
                        <a:t>Ford 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INR 0.0033–0.0066m</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9119">
                <a:tc>
                  <a:txBody>
                    <a:bodyPr lIns="85725" tIns="85725" rIns="85725" bIns="85725"/>
                    <a:lstStyle/>
                    <a:p>
                      <a:pPr algn="l"/>
                      <a:r>
                        <a:rPr sz="1875" b="0">
                          <a:solidFill>
                            <a:srgbClr val="101D2F"/>
                          </a:solidFill>
                          <a:latin typeface="Arial"/>
                          <a:ea typeface="Arial"/>
                          <a:cs typeface="Arial"/>
                        </a:rPr>
                        <a:t>2W motor system</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INR 0.012–0.018m</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9119">
                <a:tc>
                  <a:txBody>
                    <a:bodyPr lIns="85725" tIns="85725" rIns="85725" bIns="85725"/>
                    <a:lstStyle/>
                    <a:p>
                      <a:pPr algn="l"/>
                      <a:r>
                        <a:rPr sz="1875" b="0">
                          <a:solidFill>
                            <a:srgbClr val="101D2F"/>
                          </a:solidFill>
                          <a:latin typeface="Arial"/>
                          <a:ea typeface="Arial"/>
                          <a:cs typeface="Arial"/>
                        </a:rPr>
                        <a:t>3W integration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INR 0.004m extra</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9" name="text-6">
            <a:extLst xmlns:a="http://schemas.openxmlformats.org/drawingml/2006/main">
              <a:ext uri="{FF2B5EF4-FFF2-40B4-BE49-F238E27FC236}">
                <a16:creationId xmlns:a16="http://schemas.microsoft.com/office/drawing/2014/main" id="{724948CA-4190-4238-8BDD-CC763A67F1FF}"/>
              </a:ext>
            </a:extLst>
          </p:cNvPr>
          <p:cNvSpPr>
            <a:spLocks xmlns:a="http://schemas.openxmlformats.org/drawingml/2006/main" noGrp="1"/>
          </p:cNvSpPr>
          <p:nvPr/>
        </p:nvSpPr>
        <p:spPr>
          <a:xfrm xmlns:a="http://schemas.openxmlformats.org/drawingml/2006/main">
            <a:off x="9191625" y="5429250"/>
            <a:ext cx="5429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vl1pPr algn="l">
              <a:defRPr sz="2325" b="1">
                <a:solidFill>
                  <a:srgbClr val="101D2F"/>
                </a:solidFill>
                <a:latin typeface="Arial"/>
                <a:ea typeface="Arial"/>
                <a:cs typeface="Arial"/>
              </a:defRPr>
            </a:lvl1pPr>
            <a:lvl2pPr algn="l">
              <a:defRPr sz="2325" b="1">
                <a:solidFill>
                  <a:srgbClr val="101D2F"/>
                </a:solidFill>
                <a:latin typeface="Arial"/>
                <a:ea typeface="Arial"/>
                <a:cs typeface="Arial"/>
              </a:defRPr>
            </a:lvl2pPr>
            <a:lvl3pPr algn="l">
              <a:defRPr sz="2325" b="1">
                <a:solidFill>
                  <a:srgbClr val="101D2F"/>
                </a:solidFill>
                <a:latin typeface="Arial"/>
                <a:ea typeface="Arial"/>
                <a:cs typeface="Arial"/>
              </a:defRPr>
            </a:lvl3pPr>
            <a:lvl4pPr algn="l">
              <a:defRPr sz="2325" b="1">
                <a:solidFill>
                  <a:srgbClr val="101D2F"/>
                </a:solidFill>
                <a:latin typeface="Arial"/>
                <a:ea typeface="Arial"/>
                <a:cs typeface="Arial"/>
              </a:defRPr>
            </a:lvl4pPr>
            <a:lvl5pPr algn="l">
              <a:defRPr sz="2325" b="1">
                <a:solidFill>
                  <a:srgbClr val="101D2F"/>
                </a:solidFill>
                <a:latin typeface="Arial"/>
                <a:ea typeface="Arial"/>
                <a:cs typeface="Arial"/>
              </a:defRPr>
            </a:lvl5pPr>
            <a:lvl6pPr algn="l">
              <a:defRPr sz="2325" b="1">
                <a:solidFill>
                  <a:srgbClr val="101D2F"/>
                </a:solidFill>
                <a:latin typeface="Arial"/>
                <a:ea typeface="Arial"/>
                <a:cs typeface="Arial"/>
              </a:defRPr>
            </a:lvl6pPr>
            <a:lvl7pPr algn="l">
              <a:defRPr sz="2325" b="1">
                <a:solidFill>
                  <a:srgbClr val="101D2F"/>
                </a:solidFill>
                <a:latin typeface="Arial"/>
                <a:ea typeface="Arial"/>
                <a:cs typeface="Arial"/>
              </a:defRPr>
            </a:lvl7pPr>
            <a:lvl8pPr algn="l">
              <a:defRPr sz="2325" b="1">
                <a:solidFill>
                  <a:srgbClr val="101D2F"/>
                </a:solidFill>
                <a:latin typeface="Arial"/>
                <a:ea typeface="Arial"/>
                <a:cs typeface="Arial"/>
              </a:defRPr>
            </a:lvl8pPr>
            <a:lvl9pPr algn="l">
              <a:defRPr sz="2325" b="1">
                <a:solidFill>
                  <a:srgbClr val="101D2F"/>
                </a:solidFill>
                <a:latin typeface="Arial"/>
                <a:ea typeface="Arial"/>
                <a:cs typeface="Arial"/>
              </a:defRPr>
            </a:lvl9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Competitive alternatives</a:t>
            </a:r>
          </a:p>
        </p:txBody>
      </p:sp>
      <p:sp>
        <p:nvSpPr>
          <p:cNvPr id="10" name="text-7">
            <a:extLst xmlns:a="http://schemas.openxmlformats.org/drawingml/2006/main">
              <a:ext uri="{FF2B5EF4-FFF2-40B4-BE49-F238E27FC236}">
                <a16:creationId xmlns:a16="http://schemas.microsoft.com/office/drawing/2014/main" id="{AE0F9E4E-628B-4EA6-812E-ACC288A89FD7}"/>
              </a:ext>
            </a:extLst>
          </p:cNvPr>
          <p:cNvSpPr>
            <a:spLocks xmlns:a="http://schemas.openxmlformats.org/drawingml/2006/main" noGrp="1"/>
          </p:cNvSpPr>
          <p:nvPr/>
        </p:nvSpPr>
        <p:spPr>
          <a:xfrm xmlns:a="http://schemas.openxmlformats.org/drawingml/2006/main">
            <a:off x="9191625" y="6000750"/>
            <a:ext cx="5429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C6A78"/>
                </a:solidFill>
                <a:latin typeface="Arial"/>
                <a:ea typeface="Arial"/>
                <a:cs typeface="Arial"/>
              </a:defRPr>
            </a:defPPr>
            <a:lvl1pPr algn="l">
              <a:defRPr sz="2025" b="0">
                <a:solidFill>
                  <a:srgbClr val="5C6A78"/>
                </a:solidFill>
                <a:latin typeface="Arial"/>
                <a:ea typeface="Arial"/>
                <a:cs typeface="Arial"/>
              </a:defRPr>
            </a:lvl1pPr>
            <a:lvl2pPr algn="l">
              <a:defRPr sz="2025" b="0">
                <a:solidFill>
                  <a:srgbClr val="5C6A78"/>
                </a:solidFill>
                <a:latin typeface="Arial"/>
                <a:ea typeface="Arial"/>
                <a:cs typeface="Arial"/>
              </a:defRPr>
            </a:lvl2pPr>
            <a:lvl3pPr algn="l">
              <a:defRPr sz="2025" b="0">
                <a:solidFill>
                  <a:srgbClr val="5C6A78"/>
                </a:solidFill>
                <a:latin typeface="Arial"/>
                <a:ea typeface="Arial"/>
                <a:cs typeface="Arial"/>
              </a:defRPr>
            </a:lvl3pPr>
            <a:lvl4pPr algn="l">
              <a:defRPr sz="2025" b="0">
                <a:solidFill>
                  <a:srgbClr val="5C6A78"/>
                </a:solidFill>
                <a:latin typeface="Arial"/>
                <a:ea typeface="Arial"/>
                <a:cs typeface="Arial"/>
              </a:defRPr>
            </a:lvl4pPr>
            <a:lvl5pPr algn="l">
              <a:defRPr sz="2025" b="0">
                <a:solidFill>
                  <a:srgbClr val="5C6A78"/>
                </a:solidFill>
                <a:latin typeface="Arial"/>
                <a:ea typeface="Arial"/>
                <a:cs typeface="Arial"/>
              </a:defRPr>
            </a:lvl5pPr>
            <a:lvl6pPr algn="l">
              <a:defRPr sz="2025" b="0">
                <a:solidFill>
                  <a:srgbClr val="5C6A78"/>
                </a:solidFill>
                <a:latin typeface="Arial"/>
                <a:ea typeface="Arial"/>
                <a:cs typeface="Arial"/>
              </a:defRPr>
            </a:lvl6pPr>
            <a:lvl7pPr algn="l">
              <a:defRPr sz="2025" b="0">
                <a:solidFill>
                  <a:srgbClr val="5C6A78"/>
                </a:solidFill>
                <a:latin typeface="Arial"/>
                <a:ea typeface="Arial"/>
                <a:cs typeface="Arial"/>
              </a:defRPr>
            </a:lvl7pPr>
            <a:lvl8pPr algn="l">
              <a:defRPr sz="2025" b="0">
                <a:solidFill>
                  <a:srgbClr val="5C6A78"/>
                </a:solidFill>
                <a:latin typeface="Arial"/>
                <a:ea typeface="Arial"/>
                <a:cs typeface="Arial"/>
              </a:defRPr>
            </a:lvl8pPr>
            <a:lvl9pPr algn="l">
              <a:defRPr sz="2025" b="0">
                <a:solidFill>
                  <a:srgbClr val="5C6A78"/>
                </a:solidFill>
                <a:latin typeface="Arial"/>
                <a:ea typeface="Arial"/>
                <a:cs typeface="Arial"/>
              </a:defRPr>
            </a:lvl9pPr>
          </a:lstStyle>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Bosch / Nidec / Denso</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Tata AutoComp / Uno Minda–Inovance</a:t>
            </a:r>
          </a:p>
          <a:p xmlns:a="http://schemas.openxmlformats.org/drawingml/2006/main">
            <a:pPr algn="l">
              <a:defRPr sz="2025" b="0">
                <a:solidFill>
                  <a:srgbClr val="5C6A78"/>
                </a:solidFill>
                <a:latin typeface="Arial"/>
                <a:ea typeface="Arial"/>
                <a:cs typeface="Arial"/>
              </a:defRPr>
            </a:pPr>
            <a:r>
              <a:rPr sz="2025" b="0">
                <a:solidFill>
                  <a:srgbClr val="5C6A78"/>
                </a:solidFill>
                <a:latin typeface="Arial"/>
                <a:ea typeface="Arial"/>
                <a:cs typeface="Arial"/>
              </a:rPr>
              <a:t>Aisin / Mobis / OEM in-house</a:t>
            </a:r>
          </a:p>
        </p:txBody>
      </p:sp>
      <p:sp>
        <p:nvSpPr>
          <p:cNvPr id="11" name="text-8">
            <a:extLst xmlns:a="http://schemas.openxmlformats.org/drawingml/2006/main">
              <a:ext uri="{FF2B5EF4-FFF2-40B4-BE49-F238E27FC236}">
                <a16:creationId xmlns:a16="http://schemas.microsoft.com/office/drawing/2014/main" id="{845EA952-91C1-417B-A737-3E37B6C6D087}"/>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Selected content examples are from IR. They represent specific programs, rather than the average across Sona’s portfolio.</a:t>
            </a:r>
          </a:p>
        </p:txBody>
      </p:sp>
    </p:spTree>
    <p:extLst>
      <p:ext uri="{BB962C8B-B14F-4D97-AF65-F5344CB8AC3E}">
        <p14:creationId xmlns:p14="http://schemas.microsoft.com/office/powerpoint/2010/main" val="8555034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586DAC6-A23D-4162-AE5D-E9DB81A11CB6}"/>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D15EDD4A-0523-4283-8B6F-ED91FFF3D270}"/>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A05   The earnings model implies sustained operating growth</a:t>
            </a:r>
          </a:p>
        </p:txBody>
      </p:sp>
      <p:sp>
        <p:nvSpPr>
          <p:cNvPr id="3" name="text-2">
            <a:extLst xmlns:a="http://schemas.openxmlformats.org/drawingml/2006/main">
              <a:ext uri="{FF2B5EF4-FFF2-40B4-BE49-F238E27FC236}">
                <a16:creationId xmlns:a16="http://schemas.microsoft.com/office/drawing/2014/main" id="{E79E4348-24A1-4337-8E9F-2E578168F29A}"/>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Revenue grows 20% annually in FY26–30E. EPS grows 21% annually in FY27–30E.</a:t>
            </a:r>
          </a:p>
        </p:txBody>
      </p:sp>
      <p:sp>
        <p:nvSpPr>
          <p:cNvPr id="4" name="">
            <a:extLst xmlns:a="http://schemas.openxmlformats.org/drawingml/2006/main">
              <a:ext uri="{FF2B5EF4-FFF2-40B4-BE49-F238E27FC236}">
                <a16:creationId xmlns:a16="http://schemas.microsoft.com/office/drawing/2014/main" id="{2F0B9A93-6A7D-4E45-9B3F-BDD2AB23405D}"/>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05F16C32-83B5-4066-B98C-2BA8FD06D623}"/>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Annual!N67:R126</a:t>
            </a:r>
          </a:p>
        </p:txBody>
      </p:sp>
      <p:sp>
        <p:nvSpPr>
          <p:cNvPr id="6" name="text-5">
            <a:extLst xmlns:a="http://schemas.openxmlformats.org/drawingml/2006/main">
              <a:ext uri="{FF2B5EF4-FFF2-40B4-BE49-F238E27FC236}">
                <a16:creationId xmlns:a16="http://schemas.microsoft.com/office/drawing/2014/main" id="{9F44BDA6-DD62-470E-9B94-70B2D79EB42B}"/>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17</a:t>
            </a:r>
          </a:p>
        </p:txBody>
      </p:sp>
      <p:graphicFrame>
        <p:nvGraphicFramePr>
          <p:cNvPr id="7" name="">
            <a:extLst xmlns:a="http://schemas.openxmlformats.org/drawingml/2006/main">
              <a:ext uri="{FF2B5EF4-FFF2-40B4-BE49-F238E27FC236}">
                <a16:creationId xmlns:a16="http://schemas.microsoft.com/office/drawing/2014/main" id="{E23FD442-5B16-46E1-9EB8-558A587FBACD}"/>
              </a:ext>
            </a:extLst>
          </p:cNvPr>
          <p:cNvGraphicFramePr/>
          <p:nvPr/>
        </p:nvGraphicFramePr>
        <p:xfrm>
          <a:off xmlns:a="http://schemas.openxmlformats.org/drawingml/2006/main" x="619125" y="2619375"/>
          <a:ext xmlns:a="http://schemas.openxmlformats.org/drawingml/2006/main" cx="14001750" cy="3333750"/>
        </p:xfrm>
        <a:graphic xmlns:a="http://schemas.openxmlformats.org/drawingml/2006/main">
          <a:graphicData uri="http://schemas.openxmlformats.org/drawingml/2006/table">
            <a:tbl>
              <a:tblPr/>
              <a:tblGrid>
                <a:gridCol w="4000500"/>
                <a:gridCol w="2000250"/>
                <a:gridCol w="2000250"/>
                <a:gridCol w="2000250"/>
                <a:gridCol w="2000250"/>
                <a:gridCol w="2000250"/>
              </a:tblGrid>
              <a:tr h="476250">
                <a:tc>
                  <a:txBody>
                    <a:bodyPr lIns="85725" tIns="85725" rIns="85725" bIns="85725"/>
                    <a:lstStyle/>
                    <a:p>
                      <a:pPr algn="l"/>
                      <a:r>
                        <a:rPr sz="1875" b="1">
                          <a:solidFill>
                            <a:srgbClr val="FFFFFF"/>
                          </a:solidFill>
                          <a:latin typeface="Arial"/>
                          <a:ea typeface="Arial"/>
                          <a:cs typeface="Arial"/>
                        </a:rPr>
                        <a:t>INR bn, except EPS</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FY27E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FY28E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FY29E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FY30E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76250">
                <a:tc>
                  <a:txBody>
                    <a:bodyPr lIns="85725" tIns="85725" rIns="85725" bIns="85725"/>
                    <a:lstStyle/>
                    <a:p>
                      <a:pPr algn="l"/>
                      <a:r>
                        <a:rPr sz="1875" b="0">
                          <a:solidFill>
                            <a:srgbClr val="101D2F"/>
                          </a:solidFill>
                          <a:latin typeface="Arial"/>
                          <a:ea typeface="Arial"/>
                          <a:cs typeface="Arial"/>
                        </a:rPr>
                        <a:t>Revenue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44.49</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57.45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69.50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80.00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92.26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76250">
                <a:tc>
                  <a:txBody>
                    <a:bodyPr lIns="85725" tIns="85725" rIns="85725" bIns="85725"/>
                    <a:lstStyle/>
                    <a:p>
                      <a:pPr algn="l"/>
                      <a:r>
                        <a:rPr sz="1875" b="0">
                          <a:solidFill>
                            <a:srgbClr val="101D2F"/>
                          </a:solidFill>
                          <a:latin typeface="Arial"/>
                          <a:ea typeface="Arial"/>
                          <a:cs typeface="Arial"/>
                        </a:rPr>
                        <a:t>Revenue growth</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25.5%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29.1%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21.0%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15.1%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15.3%</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76250">
                <a:tc>
                  <a:txBody>
                    <a:bodyPr lIns="85725" tIns="85725" rIns="85725" bIns="85725"/>
                    <a:lstStyle/>
                    <a:p>
                      <a:pPr algn="l"/>
                      <a:r>
                        <a:rPr sz="1875" b="0">
                          <a:solidFill>
                            <a:srgbClr val="101D2F"/>
                          </a:solidFill>
                          <a:latin typeface="Arial"/>
                          <a:ea typeface="Arial"/>
                          <a:cs typeface="Arial"/>
                        </a:rPr>
                        <a:t>EBITDA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10.81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13.73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17.03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19.92</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23.06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76250">
                <a:tc>
                  <a:txBody>
                    <a:bodyPr lIns="85725" tIns="85725" rIns="85725" bIns="85725"/>
                    <a:lstStyle/>
                    <a:p>
                      <a:pPr algn="l"/>
                      <a:r>
                        <a:rPr sz="1875" b="0">
                          <a:solidFill>
                            <a:srgbClr val="101D2F"/>
                          </a:solidFill>
                          <a:latin typeface="Arial"/>
                          <a:ea typeface="Arial"/>
                          <a:cs typeface="Arial"/>
                        </a:rPr>
                        <a:t>EBITDA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24.3%</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23.9%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25.0%</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76250">
                <a:tc>
                  <a:txBody>
                    <a:bodyPr lIns="85725" tIns="85725" rIns="85725" bIns="85725"/>
                    <a:lstStyle/>
                    <a:p>
                      <a:pPr algn="l"/>
                      <a:r>
                        <a:rPr sz="1875" b="0">
                          <a:solidFill>
                            <a:srgbClr val="101D2F"/>
                          </a:solidFill>
                          <a:latin typeface="Arial"/>
                          <a:ea typeface="Arial"/>
                          <a:cs typeface="Arial"/>
                        </a:rPr>
                        <a:t>Model adjusted PAT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5.78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8.55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10.87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12.81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15.22</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76250">
                <a:tc>
                  <a:txBody>
                    <a:bodyPr lIns="85725" tIns="85725" rIns="85725" bIns="85725"/>
                    <a:lstStyle/>
                    <a:p>
                      <a:pPr algn="l"/>
                      <a:r>
                        <a:rPr sz="1875" b="0">
                          <a:solidFill>
                            <a:srgbClr val="101D2F"/>
                          </a:solidFill>
                          <a:latin typeface="Arial"/>
                          <a:ea typeface="Arial"/>
                          <a:cs typeface="Arial"/>
                        </a:rPr>
                        <a:t>EPS, INR </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9.30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13.74</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17.48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20.59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24.48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73A065C5-EC6D-4E94-A774-551FE2DEABA2}"/>
              </a:ext>
            </a:extLst>
          </p:cNvPr>
          <p:cNvGraphicFramePr/>
          <p:nvPr/>
        </p:nvGraphicFramePr>
        <p:xfrm>
          <a:off xmlns:a="http://schemas.openxmlformats.org/drawingml/2006/main" x="647700" y="6191250"/>
          <a:ext xmlns:a="http://schemas.openxmlformats.org/drawingml/2006/main" cx="13906500" cy="1323975"/>
        </p:xfrm>
        <a:graphic xmlns:a="http://schemas.openxmlformats.org/drawingml/2006/main">
          <a:graphicData uri="http://schemas.openxmlformats.org/drawingml/2006/chart">
            <c:chart xmlns:r="http://schemas.openxmlformats.org/officeDocument/2006/relationships" xmlns:c="http://schemas.openxmlformats.org/drawingml/2006/chart" r:id="Rb0dcbedf664b42af"/>
          </a:graphicData>
        </a:graphic>
      </p:graphicFrame>
    </p:spTree>
    <p:extLst>
      <p:ext uri="{BB962C8B-B14F-4D97-AF65-F5344CB8AC3E}">
        <p14:creationId xmlns:p14="http://schemas.microsoft.com/office/powerpoint/2010/main" val="21020126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8899EBA-ACE0-4988-85C5-2569984C3C35}"/>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9E0FFF59-EA56-4CB1-B30E-AE02C065F9F1}"/>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A06   Working capital and capex discipline matter for cash returns</a:t>
            </a:r>
          </a:p>
        </p:txBody>
      </p:sp>
      <p:sp>
        <p:nvSpPr>
          <p:cNvPr id="3" name="text-2">
            <a:extLst xmlns:a="http://schemas.openxmlformats.org/drawingml/2006/main">
              <a:ext uri="{FF2B5EF4-FFF2-40B4-BE49-F238E27FC236}">
                <a16:creationId xmlns:a16="http://schemas.microsoft.com/office/drawing/2014/main" id="{13A21766-F01A-4EC9-8C78-CE07E07A300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FY27E cash-flow improvement depends partly on working-capital normalization.</a:t>
            </a:r>
          </a:p>
        </p:txBody>
      </p:sp>
      <p:sp>
        <p:nvSpPr>
          <p:cNvPr id="4" name="">
            <a:extLst xmlns:a="http://schemas.openxmlformats.org/drawingml/2006/main">
              <a:ext uri="{FF2B5EF4-FFF2-40B4-BE49-F238E27FC236}">
                <a16:creationId xmlns:a16="http://schemas.microsoft.com/office/drawing/2014/main" id="{0CF3869B-442D-4891-A2F0-7FACAEDA61E2}"/>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3EA2BA6-1175-4346-B260-BE35B96E0FA8}"/>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Summary Financials!G19:I24, Annual and DCF sheets</a:t>
            </a:r>
          </a:p>
        </p:txBody>
      </p:sp>
      <p:sp>
        <p:nvSpPr>
          <p:cNvPr id="6" name="text-5">
            <a:extLst xmlns:a="http://schemas.openxmlformats.org/drawingml/2006/main">
              <a:ext uri="{FF2B5EF4-FFF2-40B4-BE49-F238E27FC236}">
                <a16:creationId xmlns:a16="http://schemas.microsoft.com/office/drawing/2014/main" id="{15A57B6A-6EAA-4E8E-A54D-B9D4C33219B6}"/>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18</a:t>
            </a:r>
          </a:p>
        </p:txBody>
      </p:sp>
      <p:graphicFrame>
        <p:nvGraphicFramePr>
          <p:cNvPr id="7" name="Chart">
            <a:extLst xmlns:a="http://schemas.openxmlformats.org/drawingml/2006/main">
              <a:ext uri="{FF2B5EF4-FFF2-40B4-BE49-F238E27FC236}">
                <a16:creationId xmlns:a16="http://schemas.microsoft.com/office/drawing/2014/main" id="{FBF7DDB5-7495-4299-BAA9-22D559F5C9C5}"/>
              </a:ext>
            </a:extLst>
          </p:cNvPr>
          <p:cNvGraphicFramePr/>
          <p:nvPr/>
        </p:nvGraphicFramePr>
        <p:xfrm>
          <a:off xmlns:a="http://schemas.openxmlformats.org/drawingml/2006/main" x="619125" y="2667000"/>
          <a:ext xmlns:a="http://schemas.openxmlformats.org/drawingml/2006/main" cx="8239125" cy="4000500"/>
        </p:xfrm>
        <a:graphic xmlns:a="http://schemas.openxmlformats.org/drawingml/2006/main">
          <a:graphicData uri="http://schemas.openxmlformats.org/drawingml/2006/chart">
            <c:chart xmlns:r="http://schemas.openxmlformats.org/officeDocument/2006/relationships" xmlns:c="http://schemas.openxmlformats.org/drawingml/2006/chart" r:id="R00a5b6338e0a4ec5"/>
          </a:graphicData>
        </a:graphic>
      </p:graphicFrame>
      <p:graphicFrame>
        <p:nvGraphicFramePr>
          <p:cNvPr id="8" name="">
            <a:extLst xmlns:a="http://schemas.openxmlformats.org/drawingml/2006/main">
              <a:ext uri="{FF2B5EF4-FFF2-40B4-BE49-F238E27FC236}">
                <a16:creationId xmlns:a16="http://schemas.microsoft.com/office/drawing/2014/main" id="{9648C943-DB52-4D17-A59C-BA31F5C976BE}"/>
              </a:ext>
            </a:extLst>
          </p:cNvPr>
          <p:cNvGraphicFramePr/>
          <p:nvPr/>
        </p:nvGraphicFramePr>
        <p:xfrm>
          <a:off xmlns:a="http://schemas.openxmlformats.org/drawingml/2006/main" x="9334500" y="2695575"/>
          <a:ext xmlns:a="http://schemas.openxmlformats.org/drawingml/2006/main" cx="5286375" cy="2667000"/>
        </p:xfrm>
        <a:graphic xmlns:a="http://schemas.openxmlformats.org/drawingml/2006/main">
          <a:graphicData uri="http://schemas.openxmlformats.org/drawingml/2006/table">
            <a:tbl>
              <a:tblPr/>
              <a:tblGrid>
                <a:gridCol w="2286000"/>
                <a:gridCol w="1000125"/>
                <a:gridCol w="1000125"/>
                <a:gridCol w="1000125"/>
              </a:tblGrid>
              <a:tr h="666750">
                <a:tc>
                  <a:txBody>
                    <a:bodyPr lIns="85725" tIns="85725" rIns="85725" bIns="85725"/>
                    <a:lstStyle/>
                    <a:p>
                      <a:pPr algn="l"/>
                      <a:r>
                        <a:rPr sz="1800" b="1">
                          <a:solidFill>
                            <a:srgbClr val="FFFFFF"/>
                          </a:solidFill>
                          <a:latin typeface="Arial"/>
                          <a:ea typeface="Arial"/>
                          <a:cs typeface="Arial"/>
                        </a:rPr>
                        <a:t>Assumption / metric</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FY27E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FY30E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66750">
                <a:tc>
                  <a:txBody>
                    <a:bodyPr lIns="85725" tIns="85725" rIns="85725" bIns="85725"/>
                    <a:lstStyle/>
                    <a:p>
                      <a:pPr algn="l"/>
                      <a:r>
                        <a:rPr sz="1800" b="0">
                          <a:solidFill>
                            <a:srgbClr val="101D2F"/>
                          </a:solidFill>
                          <a:latin typeface="Arial"/>
                          <a:ea typeface="Arial"/>
                          <a:cs typeface="Arial"/>
                        </a:rPr>
                        <a:t>Net WC days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118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87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86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66750">
                <a:tc>
                  <a:txBody>
                    <a:bodyPr lIns="85725" tIns="85725" rIns="85725" bIns="85725"/>
                    <a:lstStyle/>
                    <a:p>
                      <a:pPr algn="l"/>
                      <a:r>
                        <a:rPr sz="1800" b="0">
                          <a:solidFill>
                            <a:srgbClr val="101D2F"/>
                          </a:solidFill>
                          <a:latin typeface="Arial"/>
                          <a:ea typeface="Arial"/>
                          <a:cs typeface="Arial"/>
                        </a:rPr>
                        <a:t>Capex / revenue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11.1%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7.0%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4.9%</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66750">
                <a:tc>
                  <a:txBody>
                    <a:bodyPr lIns="85725" tIns="85725" rIns="85725" bIns="85725"/>
                    <a:lstStyle/>
                    <a:p>
                      <a:pPr algn="l"/>
                      <a:r>
                        <a:rPr sz="1800" b="0">
                          <a:solidFill>
                            <a:srgbClr val="101D2F"/>
                          </a:solidFill>
                          <a:latin typeface="Arial"/>
                          <a:ea typeface="Arial"/>
                          <a:cs typeface="Arial"/>
                        </a:rPr>
                        <a:t>EBITDA, INR bn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10.81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13.73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23.06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9" name="text-6">
            <a:extLst xmlns:a="http://schemas.openxmlformats.org/drawingml/2006/main">
              <a:ext uri="{FF2B5EF4-FFF2-40B4-BE49-F238E27FC236}">
                <a16:creationId xmlns:a16="http://schemas.microsoft.com/office/drawing/2014/main" id="{24B7C854-804B-4340-B245-0A62829520DC}"/>
              </a:ext>
            </a:extLst>
          </p:cNvPr>
          <p:cNvSpPr>
            <a:spLocks xmlns:a="http://schemas.openxmlformats.org/drawingml/2006/main" noGrp="1"/>
          </p:cNvSpPr>
          <p:nvPr/>
        </p:nvSpPr>
        <p:spPr>
          <a:xfrm xmlns:a="http://schemas.openxmlformats.org/drawingml/2006/main">
            <a:off x="9334500" y="5762625"/>
            <a:ext cx="5286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01D2F"/>
                </a:solidFill>
                <a:latin typeface="Arial"/>
                <a:ea typeface="Arial"/>
                <a:cs typeface="Arial"/>
              </a:defRPr>
            </a:defPPr>
            <a:lvl1pPr algn="l">
              <a:defRPr sz="2400" b="1">
                <a:solidFill>
                  <a:srgbClr val="101D2F"/>
                </a:solidFill>
                <a:latin typeface="Arial"/>
                <a:ea typeface="Arial"/>
                <a:cs typeface="Arial"/>
              </a:defRPr>
            </a:lvl1pPr>
            <a:lvl2pPr algn="l">
              <a:defRPr sz="2400" b="1">
                <a:solidFill>
                  <a:srgbClr val="101D2F"/>
                </a:solidFill>
                <a:latin typeface="Arial"/>
                <a:ea typeface="Arial"/>
                <a:cs typeface="Arial"/>
              </a:defRPr>
            </a:lvl2pPr>
            <a:lvl3pPr algn="l">
              <a:defRPr sz="2400" b="1">
                <a:solidFill>
                  <a:srgbClr val="101D2F"/>
                </a:solidFill>
                <a:latin typeface="Arial"/>
                <a:ea typeface="Arial"/>
                <a:cs typeface="Arial"/>
              </a:defRPr>
            </a:lvl3pPr>
            <a:lvl4pPr algn="l">
              <a:defRPr sz="2400" b="1">
                <a:solidFill>
                  <a:srgbClr val="101D2F"/>
                </a:solidFill>
                <a:latin typeface="Arial"/>
                <a:ea typeface="Arial"/>
                <a:cs typeface="Arial"/>
              </a:defRPr>
            </a:lvl4pPr>
            <a:lvl5pPr algn="l">
              <a:defRPr sz="2400" b="1">
                <a:solidFill>
                  <a:srgbClr val="101D2F"/>
                </a:solidFill>
                <a:latin typeface="Arial"/>
                <a:ea typeface="Arial"/>
                <a:cs typeface="Arial"/>
              </a:defRPr>
            </a:lvl5pPr>
            <a:lvl6pPr algn="l">
              <a:defRPr sz="2400" b="1">
                <a:solidFill>
                  <a:srgbClr val="101D2F"/>
                </a:solidFill>
                <a:latin typeface="Arial"/>
                <a:ea typeface="Arial"/>
                <a:cs typeface="Arial"/>
              </a:defRPr>
            </a:lvl6pPr>
            <a:lvl7pPr algn="l">
              <a:defRPr sz="2400" b="1">
                <a:solidFill>
                  <a:srgbClr val="101D2F"/>
                </a:solidFill>
                <a:latin typeface="Arial"/>
                <a:ea typeface="Arial"/>
                <a:cs typeface="Arial"/>
              </a:defRPr>
            </a:lvl7pPr>
            <a:lvl8pPr algn="l">
              <a:defRPr sz="2400" b="1">
                <a:solidFill>
                  <a:srgbClr val="101D2F"/>
                </a:solidFill>
                <a:latin typeface="Arial"/>
                <a:ea typeface="Arial"/>
                <a:cs typeface="Arial"/>
              </a:defRPr>
            </a:lvl8pPr>
            <a:lvl9pPr algn="l">
              <a:defRPr sz="2400" b="1">
                <a:solidFill>
                  <a:srgbClr val="101D2F"/>
                </a:solidFill>
                <a:latin typeface="Arial"/>
                <a:ea typeface="Arial"/>
                <a:cs typeface="Arial"/>
              </a:defRPr>
            </a:lvl9pPr>
          </a:lstStyle>
          <a:p xmlns:a="http://schemas.openxmlformats.org/drawingml/2006/main">
            <a:pPr algn="l">
              <a:defRPr sz="2400" b="1">
                <a:solidFill>
                  <a:srgbClr val="101D2F"/>
                </a:solidFill>
                <a:latin typeface="Arial"/>
                <a:ea typeface="Arial"/>
                <a:cs typeface="Arial"/>
              </a:defRPr>
            </a:pPr>
            <a:r>
              <a:rPr sz="2400" b="1">
                <a:solidFill>
                  <a:srgbClr val="101D2F"/>
                </a:solidFill>
                <a:latin typeface="Arial"/>
                <a:ea typeface="Arial"/>
                <a:cs typeface="Arial"/>
              </a:rPr>
              <a:t>Watch the cash conversion</a:t>
            </a:r>
          </a:p>
        </p:txBody>
      </p:sp>
      <p:sp>
        <p:nvSpPr>
          <p:cNvPr id="10" name="text-7">
            <a:extLst xmlns:a="http://schemas.openxmlformats.org/drawingml/2006/main">
              <a:ext uri="{FF2B5EF4-FFF2-40B4-BE49-F238E27FC236}">
                <a16:creationId xmlns:a16="http://schemas.microsoft.com/office/drawing/2014/main" id="{9CEAE09E-3379-4893-A88D-8BF93CEA5500}"/>
              </a:ext>
            </a:extLst>
          </p:cNvPr>
          <p:cNvSpPr>
            <a:spLocks xmlns:a="http://schemas.openxmlformats.org/drawingml/2006/main" noGrp="1"/>
          </p:cNvSpPr>
          <p:nvPr/>
        </p:nvSpPr>
        <p:spPr>
          <a:xfrm xmlns:a="http://schemas.openxmlformats.org/drawingml/2006/main">
            <a:off x="9334500" y="6362700"/>
            <a:ext cx="5286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C6A78"/>
                </a:solidFill>
                <a:latin typeface="Arial"/>
                <a:ea typeface="Arial"/>
                <a:cs typeface="Arial"/>
              </a:defRPr>
            </a:defPPr>
            <a:lvl1pPr algn="l">
              <a:defRPr sz="1950" b="0">
                <a:solidFill>
                  <a:srgbClr val="5C6A78"/>
                </a:solidFill>
                <a:latin typeface="Arial"/>
                <a:ea typeface="Arial"/>
                <a:cs typeface="Arial"/>
              </a:defRPr>
            </a:lvl1pPr>
            <a:lvl2pPr algn="l">
              <a:defRPr sz="1950" b="0">
                <a:solidFill>
                  <a:srgbClr val="5C6A78"/>
                </a:solidFill>
                <a:latin typeface="Arial"/>
                <a:ea typeface="Arial"/>
                <a:cs typeface="Arial"/>
              </a:defRPr>
            </a:lvl2pPr>
            <a:lvl3pPr algn="l">
              <a:defRPr sz="1950" b="0">
                <a:solidFill>
                  <a:srgbClr val="5C6A78"/>
                </a:solidFill>
                <a:latin typeface="Arial"/>
                <a:ea typeface="Arial"/>
                <a:cs typeface="Arial"/>
              </a:defRPr>
            </a:lvl3pPr>
            <a:lvl4pPr algn="l">
              <a:defRPr sz="1950" b="0">
                <a:solidFill>
                  <a:srgbClr val="5C6A78"/>
                </a:solidFill>
                <a:latin typeface="Arial"/>
                <a:ea typeface="Arial"/>
                <a:cs typeface="Arial"/>
              </a:defRPr>
            </a:lvl4pPr>
            <a:lvl5pPr algn="l">
              <a:defRPr sz="1950" b="0">
                <a:solidFill>
                  <a:srgbClr val="5C6A78"/>
                </a:solidFill>
                <a:latin typeface="Arial"/>
                <a:ea typeface="Arial"/>
                <a:cs typeface="Arial"/>
              </a:defRPr>
            </a:lvl5pPr>
            <a:lvl6pPr algn="l">
              <a:defRPr sz="1950" b="0">
                <a:solidFill>
                  <a:srgbClr val="5C6A78"/>
                </a:solidFill>
                <a:latin typeface="Arial"/>
                <a:ea typeface="Arial"/>
                <a:cs typeface="Arial"/>
              </a:defRPr>
            </a:lvl6pPr>
            <a:lvl7pPr algn="l">
              <a:defRPr sz="1950" b="0">
                <a:solidFill>
                  <a:srgbClr val="5C6A78"/>
                </a:solidFill>
                <a:latin typeface="Arial"/>
                <a:ea typeface="Arial"/>
                <a:cs typeface="Arial"/>
              </a:defRPr>
            </a:lvl7pPr>
            <a:lvl8pPr algn="l">
              <a:defRPr sz="1950" b="0">
                <a:solidFill>
                  <a:srgbClr val="5C6A78"/>
                </a:solidFill>
                <a:latin typeface="Arial"/>
                <a:ea typeface="Arial"/>
                <a:cs typeface="Arial"/>
              </a:defRPr>
            </a:lvl8pPr>
            <a:lvl9pPr algn="l">
              <a:defRPr sz="1950" b="0">
                <a:solidFill>
                  <a:srgbClr val="5C6A78"/>
                </a:solidFill>
                <a:latin typeface="Arial"/>
                <a:ea typeface="Arial"/>
                <a:cs typeface="Arial"/>
              </a:defRPr>
            </a:lvl9pPr>
          </a:lstStyle>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Lower working capital</a:t>
            </a:r>
          </a:p>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Capacity utilization</a:t>
            </a:r>
          </a:p>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JV funding requirements</a:t>
            </a:r>
          </a:p>
        </p:txBody>
      </p:sp>
    </p:spTree>
    <p:extLst>
      <p:ext uri="{BB962C8B-B14F-4D97-AF65-F5344CB8AC3E}">
        <p14:creationId xmlns:p14="http://schemas.microsoft.com/office/powerpoint/2010/main" val="11635154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4AF7506-6E95-4782-A0F2-EFB25A117FA5}"/>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A7C4BAAC-A01E-4F40-864E-227E343CD7BB}"/>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A07   Core value rests heavily on cash flow beyond FY37E</a:t>
            </a:r>
          </a:p>
        </p:txBody>
      </p:sp>
      <p:sp>
        <p:nvSpPr>
          <p:cNvPr id="3" name="text-2">
            <a:extLst xmlns:a="http://schemas.openxmlformats.org/drawingml/2006/main">
              <a:ext uri="{FF2B5EF4-FFF2-40B4-BE49-F238E27FC236}">
                <a16:creationId xmlns:a16="http://schemas.microsoft.com/office/drawing/2014/main" id="{6CDFC397-648C-494D-82BF-8DC82F048D44}"/>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Terminal value contributes 72% of core enterprise value.</a:t>
            </a:r>
          </a:p>
        </p:txBody>
      </p:sp>
      <p:sp>
        <p:nvSpPr>
          <p:cNvPr id="4" name="">
            <a:extLst xmlns:a="http://schemas.openxmlformats.org/drawingml/2006/main">
              <a:ext uri="{FF2B5EF4-FFF2-40B4-BE49-F238E27FC236}">
                <a16:creationId xmlns:a16="http://schemas.microsoft.com/office/drawing/2014/main" id="{D35C9C5B-F488-4C6B-88A6-0DFCD1088923}"/>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C4983D62-3C5A-4CA8-84C6-1BA742AEE501}"/>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DCF!F26:F34, H19:R22</a:t>
            </a:r>
          </a:p>
        </p:txBody>
      </p:sp>
      <p:sp>
        <p:nvSpPr>
          <p:cNvPr id="6" name="text-5">
            <a:extLst xmlns:a="http://schemas.openxmlformats.org/drawingml/2006/main">
              <a:ext uri="{FF2B5EF4-FFF2-40B4-BE49-F238E27FC236}">
                <a16:creationId xmlns:a16="http://schemas.microsoft.com/office/drawing/2014/main" id="{952704B0-86B6-4F07-8A16-BDB07C8F84FA}"/>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19</a:t>
            </a:r>
          </a:p>
        </p:txBody>
      </p:sp>
      <p:graphicFrame>
        <p:nvGraphicFramePr>
          <p:cNvPr id="7" name="Chart">
            <a:extLst xmlns:a="http://schemas.openxmlformats.org/drawingml/2006/main">
              <a:ext uri="{FF2B5EF4-FFF2-40B4-BE49-F238E27FC236}">
                <a16:creationId xmlns:a16="http://schemas.microsoft.com/office/drawing/2014/main" id="{5493D545-B613-4531-995C-3260A9985D54}"/>
              </a:ext>
            </a:extLst>
          </p:cNvPr>
          <p:cNvGraphicFramePr/>
          <p:nvPr/>
        </p:nvGraphicFramePr>
        <p:xfrm>
          <a:off xmlns:a="http://schemas.openxmlformats.org/drawingml/2006/main" x="619125" y="2667000"/>
          <a:ext xmlns:a="http://schemas.openxmlformats.org/drawingml/2006/main" cx="7620000" cy="3400425"/>
        </p:xfrm>
        <a:graphic xmlns:a="http://schemas.openxmlformats.org/drawingml/2006/main">
          <a:graphicData uri="http://schemas.openxmlformats.org/drawingml/2006/chart">
            <c:chart xmlns:r="http://schemas.openxmlformats.org/officeDocument/2006/relationships" xmlns:c="http://schemas.openxmlformats.org/drawingml/2006/chart" r:id="R0a822dc7d0df49b4"/>
          </a:graphicData>
        </a:graphic>
      </p:graphicFrame>
      <p:graphicFrame>
        <p:nvGraphicFramePr>
          <p:cNvPr id="8" name="">
            <a:extLst xmlns:a="http://schemas.openxmlformats.org/drawingml/2006/main">
              <a:ext uri="{FF2B5EF4-FFF2-40B4-BE49-F238E27FC236}">
                <a16:creationId xmlns:a16="http://schemas.microsoft.com/office/drawing/2014/main" id="{C24CD5DB-A964-4F92-AEBC-7CA29CE41F4E}"/>
              </a:ext>
            </a:extLst>
          </p:cNvPr>
          <p:cNvGraphicFramePr/>
          <p:nvPr/>
        </p:nvGraphicFramePr>
        <p:xfrm>
          <a:off xmlns:a="http://schemas.openxmlformats.org/drawingml/2006/main" x="9191625" y="2667000"/>
          <a:ext xmlns:a="http://schemas.openxmlformats.org/drawingml/2006/main" cx="5429250" cy="2857500"/>
        </p:xfrm>
        <a:graphic xmlns:a="http://schemas.openxmlformats.org/drawingml/2006/main">
          <a:graphicData uri="http://schemas.openxmlformats.org/drawingml/2006/table">
            <a:tbl>
              <a:tblPr/>
              <a:tblGrid>
                <a:gridCol w="3810000"/>
                <a:gridCol w="1619250"/>
              </a:tblGrid>
              <a:tr h="571500">
                <a:tc>
                  <a:txBody>
                    <a:bodyPr lIns="85725" tIns="85725" rIns="85725" bIns="85725"/>
                    <a:lstStyle/>
                    <a:p>
                      <a:pPr algn="l"/>
                      <a:r>
                        <a:rPr sz="1875" b="1">
                          <a:solidFill>
                            <a:srgbClr val="FFFFFF"/>
                          </a:solidFill>
                          <a:latin typeface="Arial"/>
                          <a:ea typeface="Arial"/>
                          <a:cs typeface="Arial"/>
                        </a:rPr>
                        <a:t>Core DCF bridge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INR  / share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71500">
                <a:tc>
                  <a:txBody>
                    <a:bodyPr lIns="85725" tIns="85725" rIns="85725" bIns="85725"/>
                    <a:lstStyle/>
                    <a:p>
                      <a:pPr algn="l"/>
                      <a:r>
                        <a:rPr sz="1875" b="0">
                          <a:solidFill>
                            <a:srgbClr val="101D2F"/>
                          </a:solidFill>
                          <a:latin typeface="Arial"/>
                          <a:ea typeface="Arial"/>
                          <a:cs typeface="Arial"/>
                        </a:rPr>
                        <a:t>PV of enterprise value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627</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71500">
                <a:tc>
                  <a:txBody>
                    <a:bodyPr lIns="85725" tIns="85725" rIns="85725" bIns="85725"/>
                    <a:lstStyle/>
                    <a:p>
                      <a:pPr algn="l"/>
                      <a:r>
                        <a:rPr sz="1875" b="0">
                          <a:solidFill>
                            <a:srgbClr val="101D2F"/>
                          </a:solidFill>
                          <a:latin typeface="Arial"/>
                          <a:ea typeface="Arial"/>
                          <a:cs typeface="Arial"/>
                        </a:rPr>
                        <a:t>Net funds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28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71500">
                <a:tc>
                  <a:txBody>
                    <a:bodyPr lIns="85725" tIns="85725" rIns="85725" bIns="85725"/>
                    <a:lstStyle/>
                    <a:p>
                      <a:pPr algn="l"/>
                      <a:r>
                        <a:rPr sz="1875" b="0">
                          <a:solidFill>
                            <a:srgbClr val="101D2F"/>
                          </a:solidFill>
                          <a:latin typeface="Arial"/>
                          <a:ea typeface="Arial"/>
                          <a:cs typeface="Arial"/>
                        </a:rPr>
                        <a:t>Equity value, unrounded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655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71500">
                <a:tc>
                  <a:txBody>
                    <a:bodyPr lIns="85725" tIns="85725" rIns="85725" bIns="85725"/>
                    <a:lstStyle/>
                    <a:p>
                      <a:pPr algn="l"/>
                      <a:r>
                        <a:rPr sz="1875" b="0">
                          <a:solidFill>
                            <a:srgbClr val="101D2F"/>
                          </a:solidFill>
                          <a:latin typeface="Arial"/>
                          <a:ea typeface="Arial"/>
                          <a:cs typeface="Arial"/>
                        </a:rPr>
                        <a:t>Model core value, rounded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660</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D50C93FD-D9D1-48F6-959E-D119F7C16096}"/>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11% WACC and 5% terminal growth. Forecast capex falls toward 2% of revenue by FY37E, with working-capital days also declining.</a:t>
            </a:r>
          </a:p>
        </p:txBody>
      </p:sp>
    </p:spTree>
    <p:extLst>
      <p:ext uri="{BB962C8B-B14F-4D97-AF65-F5344CB8AC3E}">
        <p14:creationId xmlns:p14="http://schemas.microsoft.com/office/powerpoint/2010/main" val="15720851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323EC9D-1A58-4018-B4F6-D6DEC53C91E8}"/>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892ABFDD-D73F-4581-95A8-BB19E87DEE7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A08   Denso’s INR 190/share value is a long-term scenario</a:t>
            </a:r>
          </a:p>
        </p:txBody>
      </p:sp>
      <p:sp>
        <p:nvSpPr>
          <p:cNvPr id="3" name="text-2">
            <a:extLst xmlns:a="http://schemas.openxmlformats.org/drawingml/2006/main">
              <a:ext uri="{FF2B5EF4-FFF2-40B4-BE49-F238E27FC236}">
                <a16:creationId xmlns:a16="http://schemas.microsoft.com/office/drawing/2014/main" id="{C384DA7A-BF39-4B43-A458-C83F0408B74F}"/>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model assumes a 50% share of India’s FY35E BEV motor market and a substantial export business.</a:t>
            </a:r>
          </a:p>
        </p:txBody>
      </p:sp>
      <p:sp>
        <p:nvSpPr>
          <p:cNvPr id="4" name="">
            <a:extLst xmlns:a="http://schemas.openxmlformats.org/drawingml/2006/main">
              <a:ext uri="{FF2B5EF4-FFF2-40B4-BE49-F238E27FC236}">
                <a16:creationId xmlns:a16="http://schemas.microsoft.com/office/drawing/2014/main" id="{8A3FF4E1-AB02-41B1-AB3C-600F06D664DE}"/>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5C7BFB81-69EA-40F5-8664-E5DB140FAAB3}"/>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India EV Opportunity!R5:X48</a:t>
            </a:r>
          </a:p>
        </p:txBody>
      </p:sp>
      <p:sp>
        <p:nvSpPr>
          <p:cNvPr id="6" name="text-5">
            <a:extLst xmlns:a="http://schemas.openxmlformats.org/drawingml/2006/main">
              <a:ext uri="{FF2B5EF4-FFF2-40B4-BE49-F238E27FC236}">
                <a16:creationId xmlns:a16="http://schemas.microsoft.com/office/drawing/2014/main" id="{21AC08D2-4EE5-4162-99B3-D2EB603FDCB0}"/>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20</a:t>
            </a:r>
          </a:p>
        </p:txBody>
      </p:sp>
      <p:graphicFrame>
        <p:nvGraphicFramePr>
          <p:cNvPr id="7" name="Chart">
            <a:extLst xmlns:a="http://schemas.openxmlformats.org/drawingml/2006/main">
              <a:ext uri="{FF2B5EF4-FFF2-40B4-BE49-F238E27FC236}">
                <a16:creationId xmlns:a16="http://schemas.microsoft.com/office/drawing/2014/main" id="{F41CE6DE-702B-4C13-BC5B-89D0B1E2CCFD}"/>
              </a:ext>
            </a:extLst>
          </p:cNvPr>
          <p:cNvGraphicFramePr/>
          <p:nvPr/>
        </p:nvGraphicFramePr>
        <p:xfrm>
          <a:off xmlns:a="http://schemas.openxmlformats.org/drawingml/2006/main" x="619125" y="2667000"/>
          <a:ext xmlns:a="http://schemas.openxmlformats.org/drawingml/2006/main" cx="8286750" cy="4000500"/>
        </p:xfrm>
        <a:graphic xmlns:a="http://schemas.openxmlformats.org/drawingml/2006/main">
          <a:graphicData uri="http://schemas.openxmlformats.org/drawingml/2006/chart">
            <c:chart xmlns:r="http://schemas.openxmlformats.org/officeDocument/2006/relationships" xmlns:c="http://schemas.openxmlformats.org/drawingml/2006/chart" r:id="R048173e417f743bd"/>
          </a:graphicData>
        </a:graphic>
      </p:graphicFrame>
      <p:graphicFrame>
        <p:nvGraphicFramePr>
          <p:cNvPr id="8" name="">
            <a:extLst xmlns:a="http://schemas.openxmlformats.org/drawingml/2006/main">
              <a:ext uri="{FF2B5EF4-FFF2-40B4-BE49-F238E27FC236}">
                <a16:creationId xmlns:a16="http://schemas.microsoft.com/office/drawing/2014/main" id="{A1BF1ED2-3CDE-4156-8F32-91DEC75951DF}"/>
              </a:ext>
            </a:extLst>
          </p:cNvPr>
          <p:cNvGraphicFramePr/>
          <p:nvPr/>
        </p:nvGraphicFramePr>
        <p:xfrm>
          <a:off xmlns:a="http://schemas.openxmlformats.org/drawingml/2006/main" x="9382125" y="2667000"/>
          <a:ext xmlns:a="http://schemas.openxmlformats.org/drawingml/2006/main" cx="5238750" cy="3619500"/>
        </p:xfrm>
        <a:graphic xmlns:a="http://schemas.openxmlformats.org/drawingml/2006/main">
          <a:graphicData uri="http://schemas.openxmlformats.org/drawingml/2006/table">
            <a:tbl>
              <a:tblPr/>
              <a:tblGrid>
                <a:gridCol w="3190875"/>
                <a:gridCol w="2047875"/>
              </a:tblGrid>
              <a:tr h="517071">
                <a:tc>
                  <a:txBody>
                    <a:bodyPr lIns="85725" tIns="85725" rIns="85725" bIns="85725"/>
                    <a:lstStyle/>
                    <a:p>
                      <a:pPr algn="l"/>
                      <a:r>
                        <a:rPr sz="1875" b="1">
                          <a:solidFill>
                            <a:srgbClr val="FFFFFF"/>
                          </a:solidFill>
                          <a:latin typeface="Arial"/>
                          <a:ea typeface="Arial"/>
                          <a:cs typeface="Arial"/>
                        </a:rPr>
                        <a:t>FY35E assumption</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Model</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17071">
                <a:tc>
                  <a:txBody>
                    <a:bodyPr lIns="85725" tIns="85725" rIns="85725" bIns="85725"/>
                    <a:lstStyle/>
                    <a:p>
                      <a:pPr algn="l"/>
                      <a:r>
                        <a:rPr sz="1875" b="0">
                          <a:solidFill>
                            <a:srgbClr val="101D2F"/>
                          </a:solidFill>
                          <a:latin typeface="Arial"/>
                          <a:ea typeface="Arial"/>
                          <a:cs typeface="Arial"/>
                        </a:rPr>
                        <a:t>India PV sales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8.43mn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17071">
                <a:tc>
                  <a:txBody>
                    <a:bodyPr lIns="85725" tIns="85725" rIns="85725" bIns="85725"/>
                    <a:lstStyle/>
                    <a:p>
                      <a:pPr algn="l"/>
                      <a:r>
                        <a:rPr sz="1875" b="0">
                          <a:solidFill>
                            <a:srgbClr val="101D2F"/>
                          </a:solidFill>
                          <a:latin typeface="Arial"/>
                          <a:ea typeface="Arial"/>
                          <a:cs typeface="Arial"/>
                        </a:rPr>
                        <a:t>BEV penetration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38%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17071">
                <a:tc>
                  <a:txBody>
                    <a:bodyPr lIns="85725" tIns="85725" rIns="85725" bIns="85725"/>
                    <a:lstStyle/>
                    <a:p>
                      <a:pPr algn="l"/>
                      <a:r>
                        <a:rPr sz="1875" b="0">
                          <a:solidFill>
                            <a:srgbClr val="101D2F"/>
                          </a:solidFill>
                          <a:latin typeface="Arial"/>
                          <a:ea typeface="Arial"/>
                          <a:cs typeface="Arial"/>
                        </a:rPr>
                        <a:t>Motors per BEV</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1.15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17071">
                <a:tc>
                  <a:txBody>
                    <a:bodyPr lIns="85725" tIns="85725" rIns="85725" bIns="85725"/>
                    <a:lstStyle/>
                    <a:p>
                      <a:pPr algn="l"/>
                      <a:r>
                        <a:rPr sz="1875" b="0">
                          <a:solidFill>
                            <a:srgbClr val="101D2F"/>
                          </a:solidFill>
                          <a:latin typeface="Arial"/>
                          <a:ea typeface="Arial"/>
                          <a:cs typeface="Arial"/>
                        </a:rPr>
                        <a:t>Motor ASP</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INR 0.101m</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17071">
                <a:tc>
                  <a:txBody>
                    <a:bodyPr lIns="85725" tIns="85725" rIns="85725" bIns="85725"/>
                    <a:lstStyle/>
                    <a:p>
                      <a:pPr algn="l"/>
                      <a:r>
                        <a:rPr sz="1875" b="0">
                          <a:solidFill>
                            <a:srgbClr val="101D2F"/>
                          </a:solidFill>
                          <a:latin typeface="Arial"/>
                          <a:ea typeface="Arial"/>
                          <a:cs typeface="Arial"/>
                        </a:rPr>
                        <a:t>JV share of TAM</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50%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17071">
                <a:tc>
                  <a:txBody>
                    <a:bodyPr lIns="85725" tIns="85725" rIns="85725" bIns="85725"/>
                    <a:lstStyle/>
                    <a:p>
                      <a:pPr algn="l"/>
                      <a:r>
                        <a:rPr sz="1875" b="0">
                          <a:solidFill>
                            <a:srgbClr val="101D2F"/>
                          </a:solidFill>
                          <a:latin typeface="Arial"/>
                          <a:ea typeface="Arial"/>
                          <a:cs typeface="Arial"/>
                        </a:rPr>
                        <a:t>India / export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15% / 18%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9" name="text-6">
            <a:extLst xmlns:a="http://schemas.openxmlformats.org/drawingml/2006/main">
              <a:ext uri="{FF2B5EF4-FFF2-40B4-BE49-F238E27FC236}">
                <a16:creationId xmlns:a16="http://schemas.microsoft.com/office/drawing/2014/main" id="{FE3F5ABC-7831-4E3F-89CC-5F0B791D5CE8}"/>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INR 190/share values the 49% stake via a 10× FY35E EBITDA terminal value discounted by 0.433×. This is not a committed revenue plan.</a:t>
            </a:r>
          </a:p>
        </p:txBody>
      </p:sp>
    </p:spTree>
    <p:extLst>
      <p:ext uri="{BB962C8B-B14F-4D97-AF65-F5344CB8AC3E}">
        <p14:creationId xmlns:p14="http://schemas.microsoft.com/office/powerpoint/2010/main" val="10930830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40A2A64-6E12-41D2-966F-1492D21600A1}"/>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07315033-E728-40D4-AFD8-543BEC27881C}"/>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A09   Denso value is sensitive to share and export assumptions</a:t>
            </a:r>
          </a:p>
        </p:txBody>
      </p:sp>
      <p:sp>
        <p:nvSpPr>
          <p:cNvPr id="3" name="text-2">
            <a:extLst xmlns:a="http://schemas.openxmlformats.org/drawingml/2006/main">
              <a:ext uri="{FF2B5EF4-FFF2-40B4-BE49-F238E27FC236}">
                <a16:creationId xmlns:a16="http://schemas.microsoft.com/office/drawing/2014/main" id="{FB2F1754-BEC2-4D53-A9CB-DDFAF2612CE7}"/>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India-only economics support materially less value than the full model scenario.</a:t>
            </a:r>
          </a:p>
        </p:txBody>
      </p:sp>
      <p:sp>
        <p:nvSpPr>
          <p:cNvPr id="4" name="">
            <a:extLst xmlns:a="http://schemas.openxmlformats.org/drawingml/2006/main">
              <a:ext uri="{FF2B5EF4-FFF2-40B4-BE49-F238E27FC236}">
                <a16:creationId xmlns:a16="http://schemas.microsoft.com/office/drawing/2014/main" id="{253CF4C5-4734-46A8-B75A-29038F8F9420}"/>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06ECABB5-3753-4EA1-9047-4349A37A2E89}"/>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Calculations from supplied India EV Opportunity model</a:t>
            </a:r>
          </a:p>
        </p:txBody>
      </p:sp>
      <p:sp>
        <p:nvSpPr>
          <p:cNvPr id="6" name="text-5">
            <a:extLst xmlns:a="http://schemas.openxmlformats.org/drawingml/2006/main">
              <a:ext uri="{FF2B5EF4-FFF2-40B4-BE49-F238E27FC236}">
                <a16:creationId xmlns:a16="http://schemas.microsoft.com/office/drawing/2014/main" id="{AAB5E3B9-B674-44E5-9A59-E4F3FEBB4F92}"/>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21</a:t>
            </a:r>
          </a:p>
        </p:txBody>
      </p:sp>
      <p:graphicFrame>
        <p:nvGraphicFramePr>
          <p:cNvPr id="7" name="">
            <a:extLst xmlns:a="http://schemas.openxmlformats.org/drawingml/2006/main">
              <a:ext uri="{FF2B5EF4-FFF2-40B4-BE49-F238E27FC236}">
                <a16:creationId xmlns:a16="http://schemas.microsoft.com/office/drawing/2014/main" id="{2BD5C13F-A1DC-4499-8EDD-AC8D9835DEC6}"/>
              </a:ext>
            </a:extLst>
          </p:cNvPr>
          <p:cNvGraphicFramePr/>
          <p:nvPr/>
        </p:nvGraphicFramePr>
        <p:xfrm>
          <a:off xmlns:a="http://schemas.openxmlformats.org/drawingml/2006/main" x="619125" y="2686050"/>
          <a:ext xmlns:a="http://schemas.openxmlformats.org/drawingml/2006/main" cx="14001750" cy="2543175"/>
        </p:xfrm>
        <a:graphic xmlns:a="http://schemas.openxmlformats.org/drawingml/2006/main">
          <a:graphicData uri="http://schemas.openxmlformats.org/drawingml/2006/table">
            <a:tbl>
              <a:tblPr/>
              <a:tblGrid>
                <a:gridCol w="3333750"/>
                <a:gridCol w="2667000"/>
                <a:gridCol w="2667000"/>
                <a:gridCol w="2667000"/>
                <a:gridCol w="2667000"/>
              </a:tblGrid>
              <a:tr h="635794">
                <a:tc>
                  <a:txBody>
                    <a:bodyPr lIns="85725" tIns="85725" rIns="85725" bIns="85725"/>
                    <a:lstStyle/>
                    <a:p>
                      <a:pPr algn="l"/>
                      <a:r>
                        <a:rPr sz="2025" b="1">
                          <a:solidFill>
                            <a:srgbClr val="FFFFFF"/>
                          </a:solidFill>
                          <a:latin typeface="Arial"/>
                          <a:ea typeface="Arial"/>
                          <a:cs typeface="Arial"/>
                        </a:rPr>
                        <a:t>INR  per Sona share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No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30%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60%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83%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35794">
                <a:tc>
                  <a:txBody>
                    <a:bodyPr lIns="85725" tIns="85725" rIns="85725" bIns="85725"/>
                    <a:lstStyle/>
                    <a:p>
                      <a:pPr algn="l"/>
                      <a:r>
                        <a:rPr sz="2025" b="0">
                          <a:solidFill>
                            <a:srgbClr val="101D2F"/>
                          </a:solidFill>
                          <a:latin typeface="Arial"/>
                          <a:ea typeface="Arial"/>
                          <a:cs typeface="Arial"/>
                        </a:rPr>
                        <a:t>25%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48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65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82</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95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5794">
                <a:tc>
                  <a:txBody>
                    <a:bodyPr lIns="85725" tIns="85725" rIns="85725" bIns="85725"/>
                    <a:lstStyle/>
                    <a:p>
                      <a:pPr algn="l"/>
                      <a:r>
                        <a:rPr sz="2025" b="0">
                          <a:solidFill>
                            <a:srgbClr val="101D2F"/>
                          </a:solidFill>
                          <a:latin typeface="Arial"/>
                          <a:ea typeface="Arial"/>
                          <a:cs typeface="Arial"/>
                        </a:rPr>
                        <a:t>35%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67</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91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114</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133</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35794">
                <a:tc>
                  <a:txBody>
                    <a:bodyPr lIns="85725" tIns="85725" rIns="85725" bIns="85725"/>
                    <a:lstStyle/>
                    <a:p>
                      <a:pPr algn="l"/>
                      <a:r>
                        <a:rPr sz="2025" b="0">
                          <a:solidFill>
                            <a:srgbClr val="101D2F"/>
                          </a:solidFill>
                          <a:latin typeface="Arial"/>
                          <a:ea typeface="Arial"/>
                          <a:cs typeface="Arial"/>
                        </a:rPr>
                        <a:t>50%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95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129</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164</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190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FE948748-045B-43ED-B73A-7881C1C43407}"/>
              </a:ext>
            </a:extLst>
          </p:cNvPr>
          <p:cNvGraphicFramePr/>
          <p:nvPr/>
        </p:nvGraphicFramePr>
        <p:xfrm>
          <a:off xmlns:a="http://schemas.openxmlformats.org/drawingml/2006/main" x="666750" y="5581650"/>
          <a:ext xmlns:a="http://schemas.openxmlformats.org/drawingml/2006/main" cx="13906500" cy="1905000"/>
        </p:xfrm>
        <a:graphic xmlns:a="http://schemas.openxmlformats.org/drawingml/2006/main">
          <a:graphicData uri="http://schemas.openxmlformats.org/drawingml/2006/chart">
            <c:chart xmlns:r="http://schemas.openxmlformats.org/officeDocument/2006/relationships" xmlns:c="http://schemas.openxmlformats.org/drawingml/2006/chart" r:id="R3a4f9ac102dd4b18"/>
          </a:graphicData>
        </a:graphic>
      </p:graphicFrame>
    </p:spTree>
    <p:extLst>
      <p:ext uri="{BB962C8B-B14F-4D97-AF65-F5344CB8AC3E}">
        <p14:creationId xmlns:p14="http://schemas.microsoft.com/office/powerpoint/2010/main" val="10495926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29D1AA8-4B46-471F-A3A0-0FC61B13F676}"/>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00EEB23D-D5DC-495A-8AA6-208E0DBB0C2A}"/>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A10   Railway products broaden the addressable wallet</a:t>
            </a:r>
          </a:p>
        </p:txBody>
      </p:sp>
      <p:sp>
        <p:nvSpPr>
          <p:cNvPr id="3" name="text-2">
            <a:extLst xmlns:a="http://schemas.openxmlformats.org/drawingml/2006/main">
              <a:ext uri="{FF2B5EF4-FFF2-40B4-BE49-F238E27FC236}">
                <a16:creationId xmlns:a16="http://schemas.microsoft.com/office/drawing/2014/main" id="{DF82C9B6-15D3-467C-8D47-CC76D74A30C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Established safety products support entry into additional systems and maintenance.</a:t>
            </a:r>
          </a:p>
        </p:txBody>
      </p:sp>
      <p:sp>
        <p:nvSpPr>
          <p:cNvPr id="4" name="">
            <a:extLst xmlns:a="http://schemas.openxmlformats.org/drawingml/2006/main">
              <a:ext uri="{FF2B5EF4-FFF2-40B4-BE49-F238E27FC236}">
                <a16:creationId xmlns:a16="http://schemas.microsoft.com/office/drawing/2014/main" id="{CA8EDADA-0B9B-48B8-A1D3-D64F19B7E81C}"/>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86E176CD-B226-45B0-A0CC-97ED374034E6}"/>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railway product materials, supplied model and IR notes</a:t>
            </a:r>
          </a:p>
        </p:txBody>
      </p:sp>
      <p:sp>
        <p:nvSpPr>
          <p:cNvPr id="6" name="text-5">
            <a:extLst xmlns:a="http://schemas.openxmlformats.org/drawingml/2006/main">
              <a:ext uri="{FF2B5EF4-FFF2-40B4-BE49-F238E27FC236}">
                <a16:creationId xmlns:a16="http://schemas.microsoft.com/office/drawing/2014/main" id="{44D2DEA8-838F-4B71-8FAB-EE5114EB7609}"/>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22</a:t>
            </a:r>
          </a:p>
        </p:txBody>
      </p:sp>
      <p:pic>
        <p:nvPicPr>
          <p:cNvPr id="7" name="">
            <a:extLst xmlns:a="http://schemas.openxmlformats.org/drawingml/2006/main">
              <a:ext uri="{FF2B5EF4-FFF2-40B4-BE49-F238E27FC236}">
                <a16:creationId xmlns:a16="http://schemas.microsoft.com/office/drawing/2014/main" id="{C31515DA-B777-419E-9598-B90803651590}"/>
              </a:ext>
            </a:extLst>
          </p:cNvPr>
          <p:cNvPicPr>
            <a:picLocks xmlns:a="http://schemas.openxmlformats.org/drawingml/2006/main" noChangeAspect="1"/>
          </p:cNvPicPr>
          <p:nvPr/>
        </p:nvPicPr>
        <p:blipFill>
          <a:blip xmlns:r="http://schemas.openxmlformats.org/officeDocument/2006/relationships" xmlns:a="http://schemas.openxmlformats.org/drawingml/2006/main" r:embed="R8dfbc7233fe64316"/>
          <a:stretch xmlns:a="http://schemas.openxmlformats.org/drawingml/2006/main"/>
        </p:blipFill>
        <p:spPr>
          <a:xfrm xmlns:a="http://schemas.openxmlformats.org/drawingml/2006/main">
            <a:off x="1484674" y="2657475"/>
            <a:ext cx="7317651" cy="3790950"/>
          </a:xfrm>
          <a:prstGeom xmlns:a="http://schemas.openxmlformats.org/drawingml/2006/main" prst="rect">
            <a:avLst/>
          </a:prstGeom>
        </p:spPr>
      </p:pic>
      <p:graphicFrame>
        <p:nvGraphicFramePr>
          <p:cNvPr id="8" name="Chart">
            <a:extLst xmlns:a="http://schemas.openxmlformats.org/drawingml/2006/main">
              <a:ext uri="{FF2B5EF4-FFF2-40B4-BE49-F238E27FC236}">
                <a16:creationId xmlns:a16="http://schemas.microsoft.com/office/drawing/2014/main" id="{771C3DEA-4511-4A43-B398-EAE0464C0CA3}"/>
              </a:ext>
            </a:extLst>
          </p:cNvPr>
          <p:cNvGraphicFramePr/>
          <p:nvPr/>
        </p:nvGraphicFramePr>
        <p:xfrm>
          <a:off xmlns:a="http://schemas.openxmlformats.org/drawingml/2006/main" x="10096500" y="2724150"/>
          <a:ext xmlns:a="http://schemas.openxmlformats.org/drawingml/2006/main" cx="4476750" cy="3000375"/>
        </p:xfrm>
        <a:graphic xmlns:a="http://schemas.openxmlformats.org/drawingml/2006/main">
          <a:graphicData uri="http://schemas.openxmlformats.org/drawingml/2006/chart">
            <c:chart xmlns:r="http://schemas.openxmlformats.org/officeDocument/2006/relationships" xmlns:c="http://schemas.openxmlformats.org/drawingml/2006/chart" r:id="R0797b2ffbc49474e"/>
          </a:graphicData>
        </a:graphic>
      </p:graphicFrame>
      <p:sp>
        <p:nvSpPr>
          <p:cNvPr id="9" name="text-6">
            <a:extLst xmlns:a="http://schemas.openxmlformats.org/drawingml/2006/main">
              <a:ext uri="{FF2B5EF4-FFF2-40B4-BE49-F238E27FC236}">
                <a16:creationId xmlns:a16="http://schemas.microsoft.com/office/drawing/2014/main" id="{67A971CF-4488-41BC-931A-E8B5873323E3}"/>
              </a:ext>
            </a:extLst>
          </p:cNvPr>
          <p:cNvSpPr>
            <a:spLocks xmlns:a="http://schemas.openxmlformats.org/drawingml/2006/main" noGrp="1"/>
          </p:cNvSpPr>
          <p:nvPr/>
        </p:nvSpPr>
        <p:spPr>
          <a:xfrm xmlns:a="http://schemas.openxmlformats.org/drawingml/2006/main">
            <a:off x="10191750" y="61341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01D2F"/>
                </a:solidFill>
                <a:latin typeface="Arial"/>
                <a:ea typeface="Arial"/>
                <a:cs typeface="Arial"/>
              </a:defRPr>
            </a:defPPr>
            <a:lvl1pPr algn="l">
              <a:defRPr sz="2325" b="1">
                <a:solidFill>
                  <a:srgbClr val="101D2F"/>
                </a:solidFill>
                <a:latin typeface="Arial"/>
                <a:ea typeface="Arial"/>
                <a:cs typeface="Arial"/>
              </a:defRPr>
            </a:lvl1pPr>
            <a:lvl2pPr algn="l">
              <a:defRPr sz="2325" b="1">
                <a:solidFill>
                  <a:srgbClr val="101D2F"/>
                </a:solidFill>
                <a:latin typeface="Arial"/>
                <a:ea typeface="Arial"/>
                <a:cs typeface="Arial"/>
              </a:defRPr>
            </a:lvl2pPr>
            <a:lvl3pPr algn="l">
              <a:defRPr sz="2325" b="1">
                <a:solidFill>
                  <a:srgbClr val="101D2F"/>
                </a:solidFill>
                <a:latin typeface="Arial"/>
                <a:ea typeface="Arial"/>
                <a:cs typeface="Arial"/>
              </a:defRPr>
            </a:lvl3pPr>
            <a:lvl4pPr algn="l">
              <a:defRPr sz="2325" b="1">
                <a:solidFill>
                  <a:srgbClr val="101D2F"/>
                </a:solidFill>
                <a:latin typeface="Arial"/>
                <a:ea typeface="Arial"/>
                <a:cs typeface="Arial"/>
              </a:defRPr>
            </a:lvl4pPr>
            <a:lvl5pPr algn="l">
              <a:defRPr sz="2325" b="1">
                <a:solidFill>
                  <a:srgbClr val="101D2F"/>
                </a:solidFill>
                <a:latin typeface="Arial"/>
                <a:ea typeface="Arial"/>
                <a:cs typeface="Arial"/>
              </a:defRPr>
            </a:lvl5pPr>
            <a:lvl6pPr algn="l">
              <a:defRPr sz="2325" b="1">
                <a:solidFill>
                  <a:srgbClr val="101D2F"/>
                </a:solidFill>
                <a:latin typeface="Arial"/>
                <a:ea typeface="Arial"/>
                <a:cs typeface="Arial"/>
              </a:defRPr>
            </a:lvl6pPr>
            <a:lvl7pPr algn="l">
              <a:defRPr sz="2325" b="1">
                <a:solidFill>
                  <a:srgbClr val="101D2F"/>
                </a:solidFill>
                <a:latin typeface="Arial"/>
                <a:ea typeface="Arial"/>
                <a:cs typeface="Arial"/>
              </a:defRPr>
            </a:lvl7pPr>
            <a:lvl8pPr algn="l">
              <a:defRPr sz="2325" b="1">
                <a:solidFill>
                  <a:srgbClr val="101D2F"/>
                </a:solidFill>
                <a:latin typeface="Arial"/>
                <a:ea typeface="Arial"/>
                <a:cs typeface="Arial"/>
              </a:defRPr>
            </a:lvl8pPr>
            <a:lvl9pPr algn="l">
              <a:defRPr sz="2325" b="1">
                <a:solidFill>
                  <a:srgbClr val="101D2F"/>
                </a:solidFill>
                <a:latin typeface="Arial"/>
                <a:ea typeface="Arial"/>
                <a:cs typeface="Arial"/>
              </a:defRPr>
            </a:lvl9pPr>
          </a:lstStyle>
          <a:p xmlns:a="http://schemas.openxmlformats.org/drawingml/2006/main">
            <a:pPr algn="l">
              <a:defRPr sz="2325" b="1">
                <a:solidFill>
                  <a:srgbClr val="101D2F"/>
                </a:solidFill>
                <a:latin typeface="Arial"/>
                <a:ea typeface="Arial"/>
                <a:cs typeface="Arial"/>
              </a:defRPr>
            </a:pPr>
            <a:r>
              <a:rPr sz="2325" b="1">
                <a:solidFill>
                  <a:srgbClr val="101D2F"/>
                </a:solidFill>
                <a:latin typeface="Arial"/>
                <a:ea typeface="Arial"/>
                <a:cs typeface="Arial"/>
              </a:rPr>
              <a:t>AMC opportunity</a:t>
            </a:r>
          </a:p>
        </p:txBody>
      </p:sp>
      <p:sp>
        <p:nvSpPr>
          <p:cNvPr id="10" name="text-7">
            <a:extLst xmlns:a="http://schemas.openxmlformats.org/drawingml/2006/main">
              <a:ext uri="{FF2B5EF4-FFF2-40B4-BE49-F238E27FC236}">
                <a16:creationId xmlns:a16="http://schemas.microsoft.com/office/drawing/2014/main" id="{E44B6369-3BC2-4801-9242-EB73E53B1F79}"/>
              </a:ext>
            </a:extLst>
          </p:cNvPr>
          <p:cNvSpPr>
            <a:spLocks xmlns:a="http://schemas.openxmlformats.org/drawingml/2006/main" noGrp="1"/>
          </p:cNvSpPr>
          <p:nvPr/>
        </p:nvSpPr>
        <p:spPr>
          <a:xfrm xmlns:a="http://schemas.openxmlformats.org/drawingml/2006/main">
            <a:off x="10191750" y="6715125"/>
            <a:ext cx="4381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C6A78"/>
                </a:solidFill>
                <a:latin typeface="Arial"/>
                <a:ea typeface="Arial"/>
                <a:cs typeface="Arial"/>
              </a:defRPr>
            </a:defPPr>
            <a:lvl1pPr algn="l">
              <a:defRPr sz="1950" b="0">
                <a:solidFill>
                  <a:srgbClr val="5C6A78"/>
                </a:solidFill>
                <a:latin typeface="Arial"/>
                <a:ea typeface="Arial"/>
                <a:cs typeface="Arial"/>
              </a:defRPr>
            </a:lvl1pPr>
            <a:lvl2pPr algn="l">
              <a:defRPr sz="1950" b="0">
                <a:solidFill>
                  <a:srgbClr val="5C6A78"/>
                </a:solidFill>
                <a:latin typeface="Arial"/>
                <a:ea typeface="Arial"/>
                <a:cs typeface="Arial"/>
              </a:defRPr>
            </a:lvl2pPr>
            <a:lvl3pPr algn="l">
              <a:defRPr sz="1950" b="0">
                <a:solidFill>
                  <a:srgbClr val="5C6A78"/>
                </a:solidFill>
                <a:latin typeface="Arial"/>
                <a:ea typeface="Arial"/>
                <a:cs typeface="Arial"/>
              </a:defRPr>
            </a:lvl3pPr>
            <a:lvl4pPr algn="l">
              <a:defRPr sz="1950" b="0">
                <a:solidFill>
                  <a:srgbClr val="5C6A78"/>
                </a:solidFill>
                <a:latin typeface="Arial"/>
                <a:ea typeface="Arial"/>
                <a:cs typeface="Arial"/>
              </a:defRPr>
            </a:lvl4pPr>
            <a:lvl5pPr algn="l">
              <a:defRPr sz="1950" b="0">
                <a:solidFill>
                  <a:srgbClr val="5C6A78"/>
                </a:solidFill>
                <a:latin typeface="Arial"/>
                <a:ea typeface="Arial"/>
                <a:cs typeface="Arial"/>
              </a:defRPr>
            </a:lvl5pPr>
            <a:lvl6pPr algn="l">
              <a:defRPr sz="1950" b="0">
                <a:solidFill>
                  <a:srgbClr val="5C6A78"/>
                </a:solidFill>
                <a:latin typeface="Arial"/>
                <a:ea typeface="Arial"/>
                <a:cs typeface="Arial"/>
              </a:defRPr>
            </a:lvl6pPr>
            <a:lvl7pPr algn="l">
              <a:defRPr sz="1950" b="0">
                <a:solidFill>
                  <a:srgbClr val="5C6A78"/>
                </a:solidFill>
                <a:latin typeface="Arial"/>
                <a:ea typeface="Arial"/>
                <a:cs typeface="Arial"/>
              </a:defRPr>
            </a:lvl7pPr>
            <a:lvl8pPr algn="l">
              <a:defRPr sz="1950" b="0">
                <a:solidFill>
                  <a:srgbClr val="5C6A78"/>
                </a:solidFill>
                <a:latin typeface="Arial"/>
                <a:ea typeface="Arial"/>
                <a:cs typeface="Arial"/>
              </a:defRPr>
            </a:lvl8pPr>
            <a:lvl9pPr algn="l">
              <a:defRPr sz="1950" b="0">
                <a:solidFill>
                  <a:srgbClr val="5C6A78"/>
                </a:solidFill>
                <a:latin typeface="Arial"/>
                <a:ea typeface="Arial"/>
                <a:cs typeface="Arial"/>
              </a:defRPr>
            </a:lvl9pPr>
          </a:lstStyle>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More outsourced maintenance</a:t>
            </a:r>
          </a:p>
          <a:p xmlns:a="http://schemas.openxmlformats.org/drawingml/2006/main">
            <a:pPr algn="l">
              <a:defRPr sz="1950" b="0">
                <a:solidFill>
                  <a:srgbClr val="5C6A78"/>
                </a:solidFill>
                <a:latin typeface="Arial"/>
                <a:ea typeface="Arial"/>
                <a:cs typeface="Arial"/>
              </a:defRPr>
            </a:pPr>
            <a:r>
              <a:rPr sz="1950" b="0">
                <a:solidFill>
                  <a:srgbClr val="5C6A78"/>
                </a:solidFill>
                <a:latin typeface="Arial"/>
                <a:ea typeface="Arial"/>
                <a:cs typeface="Arial"/>
              </a:rPr>
              <a:t>may improve recurring content</a:t>
            </a:r>
          </a:p>
        </p:txBody>
      </p:sp>
      <p:sp>
        <p:nvSpPr>
          <p:cNvPr id="11" name="text-8">
            <a:extLst xmlns:a="http://schemas.openxmlformats.org/drawingml/2006/main">
              <a:ext uri="{FF2B5EF4-FFF2-40B4-BE49-F238E27FC236}">
                <a16:creationId xmlns:a16="http://schemas.microsoft.com/office/drawing/2014/main" id="{F19114B7-C547-40B5-93BA-C1C2BADEA49A}"/>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The acquisition diversifies end demand, while tender timing and rail capital spending remain important drivers.</a:t>
            </a:r>
          </a:p>
        </p:txBody>
      </p:sp>
    </p:spTree>
    <p:extLst>
      <p:ext uri="{BB962C8B-B14F-4D97-AF65-F5344CB8AC3E}">
        <p14:creationId xmlns:p14="http://schemas.microsoft.com/office/powerpoint/2010/main" val="16576305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ACCFA6C-EFCE-4ECF-9718-FC5188386E65}"/>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BC8A0580-846B-4B94-A17C-1AF7F760DDB2}"/>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A11   Novelic connects sensing hardware with perception software</a:t>
            </a:r>
          </a:p>
        </p:txBody>
      </p:sp>
      <p:sp>
        <p:nvSpPr>
          <p:cNvPr id="3" name="text-2">
            <a:extLst xmlns:a="http://schemas.openxmlformats.org/drawingml/2006/main">
              <a:ext uri="{FF2B5EF4-FFF2-40B4-BE49-F238E27FC236}">
                <a16:creationId xmlns:a16="http://schemas.microsoft.com/office/drawing/2014/main" id="{86D5370F-ED08-439A-9C84-C1169C47C1CF}"/>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In-cabin monitoring, exterior radar and AMR software create several routes to monetization.</a:t>
            </a:r>
          </a:p>
        </p:txBody>
      </p:sp>
      <p:sp>
        <p:nvSpPr>
          <p:cNvPr id="4" name="">
            <a:extLst xmlns:a="http://schemas.openxmlformats.org/drawingml/2006/main">
              <a:ext uri="{FF2B5EF4-FFF2-40B4-BE49-F238E27FC236}">
                <a16:creationId xmlns:a16="http://schemas.microsoft.com/office/drawing/2014/main" id="{FA42F590-8DD1-41E8-BE05-E35A25901122}"/>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F6925556-8187-4845-B040-5F4B8B0B275B}"/>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Novelic acquisition presentation, Euro NCAP protocol and supplied model</a:t>
            </a:r>
          </a:p>
        </p:txBody>
      </p:sp>
      <p:sp>
        <p:nvSpPr>
          <p:cNvPr id="6" name="text-5">
            <a:extLst xmlns:a="http://schemas.openxmlformats.org/drawingml/2006/main">
              <a:ext uri="{FF2B5EF4-FFF2-40B4-BE49-F238E27FC236}">
                <a16:creationId xmlns:a16="http://schemas.microsoft.com/office/drawing/2014/main" id="{5F3F9E41-FB90-4507-8D57-23A4829FD071}"/>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23</a:t>
            </a:r>
          </a:p>
        </p:txBody>
      </p:sp>
      <p:graphicFrame>
        <p:nvGraphicFramePr>
          <p:cNvPr id="7" name="">
            <a:extLst xmlns:a="http://schemas.openxmlformats.org/drawingml/2006/main">
              <a:ext uri="{FF2B5EF4-FFF2-40B4-BE49-F238E27FC236}">
                <a16:creationId xmlns:a16="http://schemas.microsoft.com/office/drawing/2014/main" id="{DFDCEC5D-75A6-4942-BFBB-DAF54DD2336D}"/>
              </a:ext>
            </a:extLst>
          </p:cNvPr>
          <p:cNvGraphicFramePr/>
          <p:nvPr/>
        </p:nvGraphicFramePr>
        <p:xfrm>
          <a:off xmlns:a="http://schemas.openxmlformats.org/drawingml/2006/main" x="619125" y="2667000"/>
          <a:ext xmlns:a="http://schemas.openxmlformats.org/drawingml/2006/main" cx="8382000" cy="3000375"/>
        </p:xfrm>
        <a:graphic xmlns:a="http://schemas.openxmlformats.org/drawingml/2006/main">
          <a:graphicData uri="http://schemas.openxmlformats.org/drawingml/2006/table">
            <a:tbl>
              <a:tblPr/>
              <a:tblGrid>
                <a:gridCol w="2286000"/>
                <a:gridCol w="3333750"/>
                <a:gridCol w="2762250"/>
              </a:tblGrid>
              <a:tr h="750094">
                <a:tc>
                  <a:txBody>
                    <a:bodyPr lIns="85725" tIns="85725" rIns="85725" bIns="85725"/>
                    <a:lstStyle/>
                    <a:p>
                      <a:pPr algn="l"/>
                      <a:r>
                        <a:rPr sz="2025" b="1">
                          <a:solidFill>
                            <a:srgbClr val="FFFFFF"/>
                          </a:solidFill>
                          <a:latin typeface="Arial"/>
                          <a:ea typeface="Arial"/>
                          <a:cs typeface="Arial"/>
                        </a:rPr>
                        <a:t>Application</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Product / service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Monetization</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750094">
                <a:tc>
                  <a:txBody>
                    <a:bodyPr lIns="85725" tIns="85725" rIns="85725" bIns="85725"/>
                    <a:lstStyle/>
                    <a:p>
                      <a:pPr algn="l"/>
                      <a:r>
                        <a:rPr sz="2025" b="0">
                          <a:solidFill>
                            <a:srgbClr val="101D2F"/>
                          </a:solidFill>
                          <a:latin typeface="Arial"/>
                          <a:ea typeface="Arial"/>
                          <a:cs typeface="Arial"/>
                        </a:rPr>
                        <a:t>Cabin safety</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Occupant and child sensing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Sensors + software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750094">
                <a:tc>
                  <a:txBody>
                    <a:bodyPr lIns="85725" tIns="85725" rIns="85725" bIns="85725"/>
                    <a:lstStyle/>
                    <a:p>
                      <a:pPr algn="l"/>
                      <a:r>
                        <a:rPr sz="2025" b="0">
                          <a:solidFill>
                            <a:srgbClr val="101D2F"/>
                          </a:solidFill>
                          <a:latin typeface="Arial"/>
                          <a:ea typeface="Arial"/>
                          <a:cs typeface="Arial"/>
                        </a:rPr>
                        <a:t>Exterior ADAS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Short-range radar</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Hardware + perception</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750094">
                <a:tc>
                  <a:txBody>
                    <a:bodyPr lIns="85725" tIns="85725" rIns="85725" bIns="85725"/>
                    <a:lstStyle/>
                    <a:p>
                      <a:pPr algn="l"/>
                      <a:r>
                        <a:rPr sz="2025" b="0">
                          <a:solidFill>
                            <a:srgbClr val="101D2F"/>
                          </a:solidFill>
                          <a:latin typeface="Arial"/>
                          <a:ea typeface="Arial"/>
                          <a:cs typeface="Arial"/>
                        </a:rPr>
                        <a:t>Industrial AMR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Navigation / scene perception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Engineering + software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CA7A41D2-9774-4FC5-AC42-7C1CDAAA5204}"/>
              </a:ext>
            </a:extLst>
          </p:cNvPr>
          <p:cNvGraphicFramePr/>
          <p:nvPr/>
        </p:nvGraphicFramePr>
        <p:xfrm>
          <a:off xmlns:a="http://schemas.openxmlformats.org/drawingml/2006/main" x="9620250" y="2667000"/>
          <a:ext xmlns:a="http://schemas.openxmlformats.org/drawingml/2006/main" cx="5000625" cy="3505200"/>
        </p:xfrm>
        <a:graphic xmlns:a="http://schemas.openxmlformats.org/drawingml/2006/main">
          <a:graphicData uri="http://schemas.openxmlformats.org/drawingml/2006/chart">
            <c:chart xmlns:r="http://schemas.openxmlformats.org/officeDocument/2006/relationships" xmlns:c="http://schemas.openxmlformats.org/drawingml/2006/chart" r:id="Re498c6edcc5d44de"/>
          </a:graphicData>
        </a:graphic>
      </p:graphicFrame>
      <p:sp>
        <p:nvSpPr>
          <p:cNvPr id="9" name="text-6">
            <a:extLst xmlns:a="http://schemas.openxmlformats.org/drawingml/2006/main">
              <a:ext uri="{FF2B5EF4-FFF2-40B4-BE49-F238E27FC236}">
                <a16:creationId xmlns:a16="http://schemas.microsoft.com/office/drawing/2014/main" id="{990E2B88-6B38-49DB-9F49-1EA1842E43E6}"/>
              </a:ext>
            </a:extLst>
          </p:cNvPr>
          <p:cNvSpPr>
            <a:spLocks xmlns:a="http://schemas.openxmlformats.org/drawingml/2006/main" noGrp="1"/>
          </p:cNvSpPr>
          <p:nvPr/>
        </p:nvSpPr>
        <p:spPr>
          <a:xfrm xmlns:a="http://schemas.openxmlformats.org/drawingml/2006/main">
            <a:off x="685800" y="6219825"/>
            <a:ext cx="8286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01D2F"/>
                </a:solidFill>
                <a:latin typeface="Arial"/>
                <a:ea typeface="Arial"/>
                <a:cs typeface="Arial"/>
              </a:defRPr>
            </a:defPPr>
            <a:lvl1pPr algn="l">
              <a:defRPr sz="2550" b="1">
                <a:solidFill>
                  <a:srgbClr val="101D2F"/>
                </a:solidFill>
                <a:latin typeface="Arial"/>
                <a:ea typeface="Arial"/>
                <a:cs typeface="Arial"/>
              </a:defRPr>
            </a:lvl1pPr>
            <a:lvl2pPr algn="l">
              <a:defRPr sz="2550" b="1">
                <a:solidFill>
                  <a:srgbClr val="101D2F"/>
                </a:solidFill>
                <a:latin typeface="Arial"/>
                <a:ea typeface="Arial"/>
                <a:cs typeface="Arial"/>
              </a:defRPr>
            </a:lvl2pPr>
            <a:lvl3pPr algn="l">
              <a:defRPr sz="2550" b="1">
                <a:solidFill>
                  <a:srgbClr val="101D2F"/>
                </a:solidFill>
                <a:latin typeface="Arial"/>
                <a:ea typeface="Arial"/>
                <a:cs typeface="Arial"/>
              </a:defRPr>
            </a:lvl3pPr>
            <a:lvl4pPr algn="l">
              <a:defRPr sz="2550" b="1">
                <a:solidFill>
                  <a:srgbClr val="101D2F"/>
                </a:solidFill>
                <a:latin typeface="Arial"/>
                <a:ea typeface="Arial"/>
                <a:cs typeface="Arial"/>
              </a:defRPr>
            </a:lvl4pPr>
            <a:lvl5pPr algn="l">
              <a:defRPr sz="2550" b="1">
                <a:solidFill>
                  <a:srgbClr val="101D2F"/>
                </a:solidFill>
                <a:latin typeface="Arial"/>
                <a:ea typeface="Arial"/>
                <a:cs typeface="Arial"/>
              </a:defRPr>
            </a:lvl5pPr>
            <a:lvl6pPr algn="l">
              <a:defRPr sz="2550" b="1">
                <a:solidFill>
                  <a:srgbClr val="101D2F"/>
                </a:solidFill>
                <a:latin typeface="Arial"/>
                <a:ea typeface="Arial"/>
                <a:cs typeface="Arial"/>
              </a:defRPr>
            </a:lvl6pPr>
            <a:lvl7pPr algn="l">
              <a:defRPr sz="2550" b="1">
                <a:solidFill>
                  <a:srgbClr val="101D2F"/>
                </a:solidFill>
                <a:latin typeface="Arial"/>
                <a:ea typeface="Arial"/>
                <a:cs typeface="Arial"/>
              </a:defRPr>
            </a:lvl7pPr>
            <a:lvl8pPr algn="l">
              <a:defRPr sz="2550" b="1">
                <a:solidFill>
                  <a:srgbClr val="101D2F"/>
                </a:solidFill>
                <a:latin typeface="Arial"/>
                <a:ea typeface="Arial"/>
                <a:cs typeface="Arial"/>
              </a:defRPr>
            </a:lvl8pPr>
            <a:lvl9pPr algn="l">
              <a:defRPr sz="2550" b="1">
                <a:solidFill>
                  <a:srgbClr val="101D2F"/>
                </a:solidFill>
                <a:latin typeface="Arial"/>
                <a:ea typeface="Arial"/>
                <a:cs typeface="Arial"/>
              </a:defRPr>
            </a:lvl9pPr>
          </a:lstStyle>
          <a:p xmlns:a="http://schemas.openxmlformats.org/drawingml/2006/main">
            <a:pPr algn="l">
              <a:defRPr sz="2550" b="1">
                <a:solidFill>
                  <a:srgbClr val="101D2F"/>
                </a:solidFill>
                <a:latin typeface="Arial"/>
                <a:ea typeface="Arial"/>
                <a:cs typeface="Arial"/>
              </a:defRPr>
            </a:pPr>
            <a:r>
              <a:rPr sz="2550" b="1">
                <a:solidFill>
                  <a:srgbClr val="101D2F"/>
                </a:solidFill>
                <a:latin typeface="Arial"/>
                <a:ea typeface="Arial"/>
                <a:cs typeface="Arial"/>
              </a:rPr>
              <a:t>Safety ratings support adoption</a:t>
            </a:r>
          </a:p>
        </p:txBody>
      </p:sp>
      <p:sp>
        <p:nvSpPr>
          <p:cNvPr id="10" name="text-7">
            <a:extLst xmlns:a="http://schemas.openxmlformats.org/drawingml/2006/main">
              <a:ext uri="{FF2B5EF4-FFF2-40B4-BE49-F238E27FC236}">
                <a16:creationId xmlns:a16="http://schemas.microsoft.com/office/drawing/2014/main" id="{F1AE301D-E3D9-47CF-9342-12D9F868460B}"/>
              </a:ext>
            </a:extLst>
          </p:cNvPr>
          <p:cNvSpPr>
            <a:spLocks xmlns:a="http://schemas.openxmlformats.org/drawingml/2006/main" noGrp="1"/>
          </p:cNvSpPr>
          <p:nvPr/>
        </p:nvSpPr>
        <p:spPr>
          <a:xfrm xmlns:a="http://schemas.openxmlformats.org/drawingml/2006/main">
            <a:off x="685800" y="6819900"/>
            <a:ext cx="131445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C6A78"/>
                </a:solidFill>
                <a:latin typeface="Arial"/>
                <a:ea typeface="Arial"/>
                <a:cs typeface="Arial"/>
              </a:defRPr>
            </a:defPPr>
            <a:lvl1pPr algn="l">
              <a:defRPr sz="2100" b="0">
                <a:solidFill>
                  <a:srgbClr val="5C6A78"/>
                </a:solidFill>
                <a:latin typeface="Arial"/>
                <a:ea typeface="Arial"/>
                <a:cs typeface="Arial"/>
              </a:defRPr>
            </a:lvl1pPr>
            <a:lvl2pPr algn="l">
              <a:defRPr sz="2100" b="0">
                <a:solidFill>
                  <a:srgbClr val="5C6A78"/>
                </a:solidFill>
                <a:latin typeface="Arial"/>
                <a:ea typeface="Arial"/>
                <a:cs typeface="Arial"/>
              </a:defRPr>
            </a:lvl2pPr>
            <a:lvl3pPr algn="l">
              <a:defRPr sz="2100" b="0">
                <a:solidFill>
                  <a:srgbClr val="5C6A78"/>
                </a:solidFill>
                <a:latin typeface="Arial"/>
                <a:ea typeface="Arial"/>
                <a:cs typeface="Arial"/>
              </a:defRPr>
            </a:lvl3pPr>
            <a:lvl4pPr algn="l">
              <a:defRPr sz="2100" b="0">
                <a:solidFill>
                  <a:srgbClr val="5C6A78"/>
                </a:solidFill>
                <a:latin typeface="Arial"/>
                <a:ea typeface="Arial"/>
                <a:cs typeface="Arial"/>
              </a:defRPr>
            </a:lvl4pPr>
            <a:lvl5pPr algn="l">
              <a:defRPr sz="2100" b="0">
                <a:solidFill>
                  <a:srgbClr val="5C6A78"/>
                </a:solidFill>
                <a:latin typeface="Arial"/>
                <a:ea typeface="Arial"/>
                <a:cs typeface="Arial"/>
              </a:defRPr>
            </a:lvl5pPr>
            <a:lvl6pPr algn="l">
              <a:defRPr sz="2100" b="0">
                <a:solidFill>
                  <a:srgbClr val="5C6A78"/>
                </a:solidFill>
                <a:latin typeface="Arial"/>
                <a:ea typeface="Arial"/>
                <a:cs typeface="Arial"/>
              </a:defRPr>
            </a:lvl6pPr>
            <a:lvl7pPr algn="l">
              <a:defRPr sz="2100" b="0">
                <a:solidFill>
                  <a:srgbClr val="5C6A78"/>
                </a:solidFill>
                <a:latin typeface="Arial"/>
                <a:ea typeface="Arial"/>
                <a:cs typeface="Arial"/>
              </a:defRPr>
            </a:lvl7pPr>
            <a:lvl8pPr algn="l">
              <a:defRPr sz="2100" b="0">
                <a:solidFill>
                  <a:srgbClr val="5C6A78"/>
                </a:solidFill>
                <a:latin typeface="Arial"/>
                <a:ea typeface="Arial"/>
                <a:cs typeface="Arial"/>
              </a:defRPr>
            </a:lvl8pPr>
            <a:lvl9pPr algn="l">
              <a:defRPr sz="2100" b="0">
                <a:solidFill>
                  <a:srgbClr val="5C6A78"/>
                </a:solidFill>
                <a:latin typeface="Arial"/>
                <a:ea typeface="Arial"/>
                <a:cs typeface="Arial"/>
              </a:defRPr>
            </a:lvl9pPr>
          </a:lstStyle>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Euro NCAP evaluates direct child-presence sensing.</a:t>
            </a:r>
          </a:p>
          <a:p xmlns:a="http://schemas.openxmlformats.org/drawingml/2006/main">
            <a:pPr algn="l">
              <a:defRPr sz="2100" b="0">
                <a:solidFill>
                  <a:srgbClr val="5C6A78"/>
                </a:solidFill>
                <a:latin typeface="Arial"/>
                <a:ea typeface="Arial"/>
                <a:cs typeface="Arial"/>
              </a:defRPr>
            </a:pPr>
            <a:r>
              <a:rPr sz="2100" b="0">
                <a:solidFill>
                  <a:srgbClr val="5C6A78"/>
                </a:solidFill>
                <a:latin typeface="Arial"/>
                <a:ea typeface="Arial"/>
                <a:cs typeface="Arial"/>
              </a:rPr>
              <a:t>It does not specify radar as the only qualifying technology.</a:t>
            </a:r>
          </a:p>
        </p:txBody>
      </p:sp>
    </p:spTree>
    <p:extLst>
      <p:ext uri="{BB962C8B-B14F-4D97-AF65-F5344CB8AC3E}">
        <p14:creationId xmlns:p14="http://schemas.microsoft.com/office/powerpoint/2010/main" val="13713564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3437E1F-A9A0-49C0-B938-DECD3DD19539}"/>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A91498DD-F177-4782-9EAA-0662B213169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A12   Humanoids are one application of a broader robotics portfolio</a:t>
            </a:r>
          </a:p>
        </p:txBody>
      </p:sp>
      <p:sp>
        <p:nvSpPr>
          <p:cNvPr id="3" name="text-2">
            <a:extLst xmlns:a="http://schemas.openxmlformats.org/drawingml/2006/main">
              <a:ext uri="{FF2B5EF4-FFF2-40B4-BE49-F238E27FC236}">
                <a16:creationId xmlns:a16="http://schemas.microsoft.com/office/drawing/2014/main" id="{C77FADFB-C95E-4A80-9613-93F0C4520076}"/>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Sona can supply components and perception across several robot formats.</a:t>
            </a:r>
          </a:p>
        </p:txBody>
      </p:sp>
      <p:sp>
        <p:nvSpPr>
          <p:cNvPr id="4" name="">
            <a:extLst xmlns:a="http://schemas.openxmlformats.org/drawingml/2006/main">
              <a:ext uri="{FF2B5EF4-FFF2-40B4-BE49-F238E27FC236}">
                <a16:creationId xmlns:a16="http://schemas.microsoft.com/office/drawing/2014/main" id="{A1DE0499-B4E3-4FB6-944C-45537A4208C2}"/>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31D015A7-BF92-4CD2-ACB1-BFE4AA941DBB}"/>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Company Q1 FY27 product summary and earnings call</a:t>
            </a:r>
          </a:p>
        </p:txBody>
      </p:sp>
      <p:sp>
        <p:nvSpPr>
          <p:cNvPr id="6" name="text-5">
            <a:extLst xmlns:a="http://schemas.openxmlformats.org/drawingml/2006/main">
              <a:ext uri="{FF2B5EF4-FFF2-40B4-BE49-F238E27FC236}">
                <a16:creationId xmlns:a16="http://schemas.microsoft.com/office/drawing/2014/main" id="{7CDAE52E-2D74-4254-A509-319C9122454E}"/>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24</a:t>
            </a:r>
          </a:p>
        </p:txBody>
      </p:sp>
      <p:pic>
        <p:nvPicPr>
          <p:cNvPr id="7" name="">
            <a:extLst xmlns:a="http://schemas.openxmlformats.org/drawingml/2006/main">
              <a:ext uri="{FF2B5EF4-FFF2-40B4-BE49-F238E27FC236}">
                <a16:creationId xmlns:a16="http://schemas.microsoft.com/office/drawing/2014/main" id="{D0D9608D-DBC6-40CE-966A-8B34CCC49F7D}"/>
              </a:ext>
            </a:extLst>
          </p:cNvPr>
          <p:cNvPicPr>
            <a:picLocks xmlns:a="http://schemas.openxmlformats.org/drawingml/2006/main" noChangeAspect="1"/>
          </p:cNvPicPr>
          <p:nvPr/>
        </p:nvPicPr>
        <p:blipFill>
          <a:blip xmlns:r="http://schemas.openxmlformats.org/officeDocument/2006/relationships" xmlns:a="http://schemas.openxmlformats.org/drawingml/2006/main" r:embed="R633e70c7f2c9452f"/>
          <a:stretch xmlns:a="http://schemas.openxmlformats.org/drawingml/2006/main"/>
        </p:blipFill>
        <p:spPr>
          <a:xfrm xmlns:a="http://schemas.openxmlformats.org/drawingml/2006/main">
            <a:off x="2571953" y="2609850"/>
            <a:ext cx="1809345" cy="4572000"/>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C53708AF-FD70-4BC5-916A-8FE963D89100}"/>
              </a:ext>
            </a:extLst>
          </p:cNvPr>
          <p:cNvGraphicFramePr/>
          <p:nvPr/>
        </p:nvGraphicFramePr>
        <p:xfrm>
          <a:off xmlns:a="http://schemas.openxmlformats.org/drawingml/2006/main" x="7239000" y="2676525"/>
          <a:ext xmlns:a="http://schemas.openxmlformats.org/drawingml/2006/main" cx="7381875" cy="3000375"/>
        </p:xfrm>
        <a:graphic xmlns:a="http://schemas.openxmlformats.org/drawingml/2006/main">
          <a:graphicData uri="http://schemas.openxmlformats.org/drawingml/2006/table">
            <a:tbl>
              <a:tblPr/>
              <a:tblGrid>
                <a:gridCol w="2762250"/>
                <a:gridCol w="4619625"/>
              </a:tblGrid>
              <a:tr h="600075">
                <a:tc>
                  <a:txBody>
                    <a:bodyPr lIns="85725" tIns="85725" rIns="85725" bIns="85725"/>
                    <a:lstStyle/>
                    <a:p>
                      <a:pPr algn="l"/>
                      <a:r>
                        <a:rPr sz="2025" b="1">
                          <a:solidFill>
                            <a:srgbClr val="FFFFFF"/>
                          </a:solidFill>
                          <a:latin typeface="Arial"/>
                          <a:ea typeface="Arial"/>
                          <a:cs typeface="Arial"/>
                        </a:rPr>
                        <a:t>Capability</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Relevant applications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00075">
                <a:tc>
                  <a:txBody>
                    <a:bodyPr lIns="85725" tIns="85725" rIns="85725" bIns="85725"/>
                    <a:lstStyle/>
                    <a:p>
                      <a:pPr algn="l"/>
                      <a:r>
                        <a:rPr sz="2025" b="0">
                          <a:solidFill>
                            <a:srgbClr val="101D2F"/>
                          </a:solidFill>
                          <a:latin typeface="Arial"/>
                          <a:ea typeface="Arial"/>
                          <a:cs typeface="Arial"/>
                        </a:rPr>
                        <a:t>Gears / actuators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Robot joints and motion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00075">
                <a:tc>
                  <a:txBody>
                    <a:bodyPr lIns="85725" tIns="85725" rIns="85725" bIns="85725"/>
                    <a:lstStyle/>
                    <a:p>
                      <a:pPr algn="l"/>
                      <a:r>
                        <a:rPr sz="2025" b="0">
                          <a:solidFill>
                            <a:srgbClr val="101D2F"/>
                          </a:solidFill>
                          <a:latin typeface="Arial"/>
                          <a:ea typeface="Arial"/>
                          <a:cs typeface="Arial"/>
                        </a:rPr>
                        <a:t>Frameless motors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Compact motion systems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00075">
                <a:tc>
                  <a:txBody>
                    <a:bodyPr lIns="85725" tIns="85725" rIns="85725" bIns="85725"/>
                    <a:lstStyle/>
                    <a:p>
                      <a:pPr algn="l"/>
                      <a:r>
                        <a:rPr sz="2025" b="0">
                          <a:solidFill>
                            <a:srgbClr val="101D2F"/>
                          </a:solidFill>
                          <a:latin typeface="Arial"/>
                          <a:ea typeface="Arial"/>
                          <a:cs typeface="Arial"/>
                        </a:rPr>
                        <a:t>Radar / perception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Navigation and obstacle sensing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00075">
                <a:tc>
                  <a:txBody>
                    <a:bodyPr lIns="85725" tIns="85725" rIns="85725" bIns="85725"/>
                    <a:lstStyle/>
                    <a:p>
                      <a:pPr algn="l"/>
                      <a:r>
                        <a:rPr sz="2025" b="0">
                          <a:solidFill>
                            <a:srgbClr val="101D2F"/>
                          </a:solidFill>
                          <a:latin typeface="Arial"/>
                          <a:ea typeface="Arial"/>
                          <a:cs typeface="Arial"/>
                        </a:rPr>
                        <a:t>Drive units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AMRs and mobile platforms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9" name="Chart">
            <a:extLst xmlns:a="http://schemas.openxmlformats.org/drawingml/2006/main">
              <a:ext uri="{FF2B5EF4-FFF2-40B4-BE49-F238E27FC236}">
                <a16:creationId xmlns:a16="http://schemas.microsoft.com/office/drawing/2014/main" id="{17AB4AE8-CAF7-4A87-AC53-68115BABE658}"/>
              </a:ext>
            </a:extLst>
          </p:cNvPr>
          <p:cNvGraphicFramePr/>
          <p:nvPr/>
        </p:nvGraphicFramePr>
        <p:xfrm>
          <a:off xmlns:a="http://schemas.openxmlformats.org/drawingml/2006/main" x="7429500" y="6115050"/>
          <a:ext xmlns:a="http://schemas.openxmlformats.org/drawingml/2006/main" cx="7000875" cy="1266825"/>
        </p:xfrm>
        <a:graphic xmlns:a="http://schemas.openxmlformats.org/drawingml/2006/main">
          <a:graphicData uri="http://schemas.openxmlformats.org/drawingml/2006/chart">
            <c:chart xmlns:r="http://schemas.openxmlformats.org/officeDocument/2006/relationships" xmlns:c="http://schemas.openxmlformats.org/drawingml/2006/chart" r:id="Rc81f10b53a91476f"/>
          </a:graphicData>
        </a:graphic>
      </p:graphicFrame>
      <p:sp>
        <p:nvSpPr>
          <p:cNvPr id="10" name="text-6">
            <a:extLst xmlns:a="http://schemas.openxmlformats.org/drawingml/2006/main">
              <a:ext uri="{FF2B5EF4-FFF2-40B4-BE49-F238E27FC236}">
                <a16:creationId xmlns:a16="http://schemas.microsoft.com/office/drawing/2014/main" id="{D1AFCBF8-15A2-4B9D-91CA-89F3A2630CB3}"/>
              </a:ext>
            </a:extLst>
          </p:cNvPr>
          <p:cNvSpPr>
            <a:spLocks xmlns:a="http://schemas.openxmlformats.org/drawingml/2006/main" noGrp="1"/>
          </p:cNvSpPr>
          <p:nvPr/>
        </p:nvSpPr>
        <p:spPr>
          <a:xfrm xmlns:a="http://schemas.openxmlformats.org/drawingml/2006/main">
            <a:off x="647700" y="72675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Product illustrations from Sona. Several products remain under development. No separate humanoid revenue or value is assumed.</a:t>
            </a:r>
          </a:p>
        </p:txBody>
      </p:sp>
    </p:spTree>
    <p:extLst>
      <p:ext uri="{BB962C8B-B14F-4D97-AF65-F5344CB8AC3E}">
        <p14:creationId xmlns:p14="http://schemas.microsoft.com/office/powerpoint/2010/main" val="7806720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CF60BE7-E61D-4233-9DC8-476DF9D8B046}"/>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16A03DD4-E146-4F56-B1AE-76FECE39E947}"/>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A13   Execution and margin mix are the near-term tests</a:t>
            </a:r>
          </a:p>
        </p:txBody>
      </p:sp>
      <p:sp>
        <p:nvSpPr>
          <p:cNvPr id="3" name="text-2">
            <a:extLst xmlns:a="http://schemas.openxmlformats.org/drawingml/2006/main">
              <a:ext uri="{FF2B5EF4-FFF2-40B4-BE49-F238E27FC236}">
                <a16:creationId xmlns:a16="http://schemas.microsoft.com/office/drawing/2014/main" id="{BD9B9B0C-ECAA-4DAD-9EEF-E833F0AEA63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A strong pipeline still needs to convert into revenue, cash and attributable earnings.</a:t>
            </a:r>
          </a:p>
        </p:txBody>
      </p:sp>
      <p:sp>
        <p:nvSpPr>
          <p:cNvPr id="4" name="">
            <a:extLst xmlns:a="http://schemas.openxmlformats.org/drawingml/2006/main">
              <a:ext uri="{FF2B5EF4-FFF2-40B4-BE49-F238E27FC236}">
                <a16:creationId xmlns:a16="http://schemas.microsoft.com/office/drawing/2014/main" id="{62269BDC-993F-4FD8-8A12-CEB45B8E4089}"/>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25A2E2FA-9283-47A6-8AB7-9A7C9BB2761D}"/>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company Q1 FY27 call and analyst sensitivities</a:t>
            </a:r>
          </a:p>
        </p:txBody>
      </p:sp>
      <p:sp>
        <p:nvSpPr>
          <p:cNvPr id="6" name="text-5">
            <a:extLst xmlns:a="http://schemas.openxmlformats.org/drawingml/2006/main">
              <a:ext uri="{FF2B5EF4-FFF2-40B4-BE49-F238E27FC236}">
                <a16:creationId xmlns:a16="http://schemas.microsoft.com/office/drawing/2014/main" id="{A343B1EE-D12E-4318-86AF-96FC1F62E1B6}"/>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25</a:t>
            </a:r>
          </a:p>
        </p:txBody>
      </p:sp>
      <p:graphicFrame>
        <p:nvGraphicFramePr>
          <p:cNvPr id="7" name="">
            <a:extLst xmlns:a="http://schemas.openxmlformats.org/drawingml/2006/main">
              <a:ext uri="{FF2B5EF4-FFF2-40B4-BE49-F238E27FC236}">
                <a16:creationId xmlns:a16="http://schemas.microsoft.com/office/drawing/2014/main" id="{42CE0E98-8522-4331-B2CB-5D4D076D780C}"/>
              </a:ext>
            </a:extLst>
          </p:cNvPr>
          <p:cNvGraphicFramePr/>
          <p:nvPr/>
        </p:nvGraphicFramePr>
        <p:xfrm>
          <a:off xmlns:a="http://schemas.openxmlformats.org/drawingml/2006/main" x="619125" y="2619375"/>
          <a:ext xmlns:a="http://schemas.openxmlformats.org/drawingml/2006/main" cx="14001750" cy="3381375"/>
        </p:xfrm>
        <a:graphic xmlns:a="http://schemas.openxmlformats.org/drawingml/2006/main">
          <a:graphicData uri="http://schemas.openxmlformats.org/drawingml/2006/table">
            <a:tbl>
              <a:tblPr/>
              <a:tblGrid>
                <a:gridCol w="2476500"/>
                <a:gridCol w="5000625"/>
                <a:gridCol w="6524625"/>
              </a:tblGrid>
              <a:tr h="563563">
                <a:tc>
                  <a:txBody>
                    <a:bodyPr lIns="85725" tIns="85725" rIns="85725" bIns="85725"/>
                    <a:lstStyle/>
                    <a:p>
                      <a:pPr algn="l"/>
                      <a:r>
                        <a:rPr sz="1875" b="1">
                          <a:solidFill>
                            <a:srgbClr val="FFFFFF"/>
                          </a:solidFill>
                          <a:latin typeface="Arial"/>
                          <a:ea typeface="Arial"/>
                          <a:cs typeface="Arial"/>
                        </a:rPr>
                        <a:t>Risk</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What to monitor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75" b="1">
                          <a:solidFill>
                            <a:srgbClr val="FFFFFF"/>
                          </a:solidFill>
                          <a:latin typeface="Arial"/>
                          <a:ea typeface="Arial"/>
                          <a:cs typeface="Arial"/>
                        </a:rPr>
                        <a:t>What would weaken the thesis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563563">
                <a:tc>
                  <a:txBody>
                    <a:bodyPr lIns="85725" tIns="85725" rIns="85725" bIns="85725"/>
                    <a:lstStyle/>
                    <a:p>
                      <a:pPr algn="l"/>
                      <a:r>
                        <a:rPr sz="1875" b="0">
                          <a:solidFill>
                            <a:srgbClr val="101D2F"/>
                          </a:solidFill>
                          <a:latin typeface="Arial"/>
                          <a:ea typeface="Arial"/>
                          <a:cs typeface="Arial"/>
                        </a:rPr>
                        <a:t>EV programs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SOP and production ramps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Repeated launch delays / volume cuts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3563">
                <a:tc>
                  <a:txBody>
                    <a:bodyPr lIns="85725" tIns="85725" rIns="85725" bIns="85725"/>
                    <a:lstStyle/>
                    <a:p>
                      <a:pPr algn="l"/>
                      <a:r>
                        <a:rPr sz="1875" b="0">
                          <a:solidFill>
                            <a:srgbClr val="101D2F"/>
                          </a:solidFill>
                          <a:latin typeface="Arial"/>
                          <a:ea typeface="Arial"/>
                          <a:cs typeface="Arial"/>
                        </a:rPr>
                        <a:t>Margin mix</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Material recovery + traction mix</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EBITDA margin below forecast persistently</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3563">
                <a:tc>
                  <a:txBody>
                    <a:bodyPr lIns="85725" tIns="85725" rIns="85725" bIns="85725"/>
                    <a:lstStyle/>
                    <a:p>
                      <a:pPr algn="l"/>
                      <a:r>
                        <a:rPr sz="1875" b="0">
                          <a:solidFill>
                            <a:srgbClr val="101D2F"/>
                          </a:solidFill>
                          <a:latin typeface="Arial"/>
                          <a:ea typeface="Arial"/>
                          <a:cs typeface="Arial"/>
                        </a:rPr>
                        <a:t>Denso execution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Orders, JV closing and investment</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Slow wins or high funding / royalty burden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3563">
                <a:tc>
                  <a:txBody>
                    <a:bodyPr lIns="85725" tIns="85725" rIns="85725" bIns="85725"/>
                    <a:lstStyle/>
                    <a:p>
                      <a:pPr algn="l"/>
                      <a:r>
                        <a:rPr sz="1875" b="0">
                          <a:solidFill>
                            <a:srgbClr val="101D2F"/>
                          </a:solidFill>
                          <a:latin typeface="Arial"/>
                          <a:ea typeface="Arial"/>
                          <a:cs typeface="Arial"/>
                        </a:rPr>
                        <a:t>Competition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Make versus buy and localization</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75" b="0">
                          <a:solidFill>
                            <a:srgbClr val="101D2F"/>
                          </a:solidFill>
                          <a:latin typeface="Arial"/>
                          <a:ea typeface="Arial"/>
                          <a:cs typeface="Arial"/>
                        </a:rPr>
                        <a:t>Share assumptions fail to materialize</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3563">
                <a:tc>
                  <a:txBody>
                    <a:bodyPr lIns="85725" tIns="85725" rIns="85725" bIns="85725"/>
                    <a:lstStyle/>
                    <a:p>
                      <a:pPr algn="l"/>
                      <a:r>
                        <a:rPr sz="1875" b="0">
                          <a:solidFill>
                            <a:srgbClr val="101D2F"/>
                          </a:solidFill>
                          <a:latin typeface="Arial"/>
                          <a:ea typeface="Arial"/>
                          <a:cs typeface="Arial"/>
                        </a:rPr>
                        <a:t>Railways / robotics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Tender conversion and repeat wins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75" b="0">
                          <a:solidFill>
                            <a:srgbClr val="101D2F"/>
                          </a:solidFill>
                          <a:latin typeface="Arial"/>
                          <a:ea typeface="Arial"/>
                          <a:cs typeface="Arial"/>
                        </a:rPr>
                        <a:t>Revenue conversion trails order headlines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F3815D6F-D948-4E0C-BDA4-F165D9699E22}"/>
              </a:ext>
            </a:extLst>
          </p:cNvPr>
          <p:cNvGraphicFramePr/>
          <p:nvPr/>
        </p:nvGraphicFramePr>
        <p:xfrm>
          <a:off xmlns:a="http://schemas.openxmlformats.org/drawingml/2006/main" x="666750" y="6305550"/>
          <a:ext xmlns:a="http://schemas.openxmlformats.org/drawingml/2006/main" cx="13906500" cy="1381125"/>
        </p:xfrm>
        <a:graphic xmlns:a="http://schemas.openxmlformats.org/drawingml/2006/main">
          <a:graphicData uri="http://schemas.openxmlformats.org/drawingml/2006/chart">
            <c:chart xmlns:r="http://schemas.openxmlformats.org/officeDocument/2006/relationships" xmlns:c="http://schemas.openxmlformats.org/drawingml/2006/chart" r:id="R8f579b27c18e4921"/>
          </a:graphicData>
        </a:graphic>
      </p:graphicFrame>
    </p:spTree>
    <p:extLst>
      <p:ext uri="{BB962C8B-B14F-4D97-AF65-F5344CB8AC3E}">
        <p14:creationId xmlns:p14="http://schemas.microsoft.com/office/powerpoint/2010/main" val="8966946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FEE1247-ADE5-466F-9924-611852C2AD76}"/>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A3D281E1-29CA-4034-B572-C395D65E9238}"/>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A14   Definitions and forecast boundaries</a:t>
            </a:r>
          </a:p>
        </p:txBody>
      </p:sp>
      <p:sp>
        <p:nvSpPr>
          <p:cNvPr id="3" name="text-2">
            <a:extLst xmlns:a="http://schemas.openxmlformats.org/drawingml/2006/main">
              <a:ext uri="{FF2B5EF4-FFF2-40B4-BE49-F238E27FC236}">
                <a16:creationId xmlns:a16="http://schemas.microsoft.com/office/drawing/2014/main" id="{136D6D57-D073-44F0-A237-5466C3C3CF72}"/>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The pitch separates company disclosures, model estimates and management commentary.</a:t>
            </a:r>
          </a:p>
        </p:txBody>
      </p:sp>
      <p:sp>
        <p:nvSpPr>
          <p:cNvPr id="4" name="">
            <a:extLst xmlns:a="http://schemas.openxmlformats.org/drawingml/2006/main">
              <a:ext uri="{FF2B5EF4-FFF2-40B4-BE49-F238E27FC236}">
                <a16:creationId xmlns:a16="http://schemas.microsoft.com/office/drawing/2014/main" id="{DAAD4D27-8110-4F04-B457-749BE4920C6A}"/>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82E8441-773C-4310-BD1E-70F853F517DA}"/>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Supplied model, investor presentations, IR notes and analyst calculations</a:t>
            </a:r>
          </a:p>
        </p:txBody>
      </p:sp>
      <p:sp>
        <p:nvSpPr>
          <p:cNvPr id="6" name="text-5">
            <a:extLst xmlns:a="http://schemas.openxmlformats.org/drawingml/2006/main">
              <a:ext uri="{FF2B5EF4-FFF2-40B4-BE49-F238E27FC236}">
                <a16:creationId xmlns:a16="http://schemas.microsoft.com/office/drawing/2014/main" id="{1A797782-7FAE-45F3-992E-AF80560FA121}"/>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26</a:t>
            </a:r>
          </a:p>
        </p:txBody>
      </p:sp>
      <p:graphicFrame>
        <p:nvGraphicFramePr>
          <p:cNvPr id="7" name="">
            <a:extLst xmlns:a="http://schemas.openxmlformats.org/drawingml/2006/main">
              <a:ext uri="{FF2B5EF4-FFF2-40B4-BE49-F238E27FC236}">
                <a16:creationId xmlns:a16="http://schemas.microsoft.com/office/drawing/2014/main" id="{0444927E-3178-4E6C-896B-B873F83A0F22}"/>
              </a:ext>
            </a:extLst>
          </p:cNvPr>
          <p:cNvGraphicFramePr/>
          <p:nvPr/>
        </p:nvGraphicFramePr>
        <p:xfrm>
          <a:off xmlns:a="http://schemas.openxmlformats.org/drawingml/2006/main" x="619125" y="2571750"/>
          <a:ext xmlns:a="http://schemas.openxmlformats.org/drawingml/2006/main" cx="14001750" cy="3714750"/>
        </p:xfrm>
        <a:graphic xmlns:a="http://schemas.openxmlformats.org/drawingml/2006/main">
          <a:graphicData uri="http://schemas.openxmlformats.org/drawingml/2006/table">
            <a:tbl>
              <a:tblPr/>
              <a:tblGrid>
                <a:gridCol w="3190875"/>
                <a:gridCol w="10810875"/>
              </a:tblGrid>
              <a:tr h="464344">
                <a:tc>
                  <a:txBody>
                    <a:bodyPr lIns="85725" tIns="85725" rIns="85725" bIns="85725"/>
                    <a:lstStyle/>
                    <a:p>
                      <a:pPr algn="l"/>
                      <a:r>
                        <a:rPr sz="1800" b="1">
                          <a:solidFill>
                            <a:srgbClr val="FFFFFF"/>
                          </a:solidFill>
                          <a:latin typeface="Arial"/>
                          <a:ea typeface="Arial"/>
                          <a:cs typeface="Arial"/>
                        </a:rPr>
                        <a:t>Area</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1800" b="1">
                          <a:solidFill>
                            <a:srgbClr val="FFFFFF"/>
                          </a:solidFill>
                          <a:latin typeface="Arial"/>
                          <a:ea typeface="Arial"/>
                          <a:cs typeface="Arial"/>
                        </a:rPr>
                        <a:t>Interpretation used in this deck</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464344">
                <a:tc>
                  <a:txBody>
                    <a:bodyPr lIns="85725" tIns="85725" rIns="85725" bIns="85725"/>
                    <a:lstStyle/>
                    <a:p>
                      <a:pPr algn="l"/>
                      <a:r>
                        <a:rPr sz="1800" b="0">
                          <a:solidFill>
                            <a:srgbClr val="101D2F"/>
                          </a:solidFill>
                          <a:latin typeface="Arial"/>
                          <a:ea typeface="Arial"/>
                          <a:cs typeface="Arial"/>
                        </a:rPr>
                        <a:t>Actuals versus estimates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Company Q1 FY27 actuals. Supplied model for forecasts.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4344">
                <a:tc>
                  <a:txBody>
                    <a:bodyPr lIns="85725" tIns="85725" rIns="85725" bIns="85725"/>
                    <a:lstStyle/>
                    <a:p>
                      <a:pPr algn="l"/>
                      <a:r>
                        <a:rPr sz="1800" b="0">
                          <a:solidFill>
                            <a:srgbClr val="101D2F"/>
                          </a:solidFill>
                          <a:latin typeface="Arial"/>
                          <a:ea typeface="Arial"/>
                          <a:cs typeface="Arial"/>
                        </a:rPr>
                        <a:t>BEV mix</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Share of automotive product revenue, excludes railways.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64344">
                <a:tc>
                  <a:txBody>
                    <a:bodyPr lIns="85725" tIns="85725" rIns="85725" bIns="85725"/>
                    <a:lstStyle/>
                    <a:p>
                      <a:pPr algn="l"/>
                      <a:r>
                        <a:rPr sz="1800" b="0">
                          <a:solidFill>
                            <a:srgbClr val="101D2F"/>
                          </a:solidFill>
                          <a:latin typeface="Arial"/>
                          <a:ea typeface="Arial"/>
                          <a:cs typeface="Arial"/>
                        </a:rPr>
                        <a:t>Order-book visibility</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Auto lifetime programs. Rail purchase orders largely within 12 months.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4344">
                <a:tc>
                  <a:txBody>
                    <a:bodyPr lIns="85725" tIns="85725" rIns="85725" bIns="85725"/>
                    <a:lstStyle/>
                    <a:p>
                      <a:pPr algn="l"/>
                      <a:r>
                        <a:rPr sz="1800" b="0">
                          <a:solidFill>
                            <a:srgbClr val="101D2F"/>
                          </a:solidFill>
                          <a:latin typeface="Arial"/>
                          <a:ea typeface="Arial"/>
                          <a:cs typeface="Arial"/>
                        </a:rPr>
                        <a:t>Earnings attribution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Forecasts precede full Denso JV minority / funding adjustments.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64344">
                <a:tc>
                  <a:txBody>
                    <a:bodyPr lIns="85725" tIns="85725" rIns="85725" bIns="85725"/>
                    <a:lstStyle/>
                    <a:p>
                      <a:pPr algn="l"/>
                      <a:r>
                        <a:rPr sz="1800" b="0">
                          <a:solidFill>
                            <a:srgbClr val="101D2F"/>
                          </a:solidFill>
                          <a:latin typeface="Arial"/>
                          <a:ea typeface="Arial"/>
                          <a:cs typeface="Arial"/>
                        </a:rPr>
                        <a:t>Denso add-on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Discounted terminal enterprise value attributable to Sona’s 49% stake.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4344">
                <a:tc>
                  <a:txBody>
                    <a:bodyPr lIns="85725" tIns="85725" rIns="85725" bIns="85725"/>
                    <a:lstStyle/>
                    <a:p>
                      <a:pPr algn="l"/>
                      <a:r>
                        <a:rPr sz="1800" b="0">
                          <a:solidFill>
                            <a:srgbClr val="101D2F"/>
                          </a:solidFill>
                          <a:latin typeface="Arial"/>
                          <a:ea typeface="Arial"/>
                          <a:cs typeface="Arial"/>
                        </a:rPr>
                        <a:t>Historical PAT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1800" b="0">
                          <a:solidFill>
                            <a:srgbClr val="101D2F"/>
                          </a:solidFill>
                          <a:latin typeface="Arial"/>
                          <a:ea typeface="Arial"/>
                          <a:cs typeface="Arial"/>
                        </a:rPr>
                        <a:t>Model FY26 adjusted PAT differs from company adjusted PAT.</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64344">
                <a:tc>
                  <a:txBody>
                    <a:bodyPr lIns="85725" tIns="85725" rIns="85725" bIns="85725"/>
                    <a:lstStyle/>
                    <a:p>
                      <a:pPr algn="l"/>
                      <a:r>
                        <a:rPr sz="1800" b="0">
                          <a:solidFill>
                            <a:srgbClr val="101D2F"/>
                          </a:solidFill>
                          <a:latin typeface="Arial"/>
                          <a:ea typeface="Arial"/>
                          <a:cs typeface="Arial"/>
                        </a:rPr>
                        <a:t>Price reference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1800" b="0">
                          <a:solidFill>
                            <a:srgbClr val="101D2F"/>
                          </a:solidFill>
                          <a:latin typeface="Arial"/>
                          <a:ea typeface="Arial"/>
                          <a:cs typeface="Arial"/>
                        </a:rPr>
                        <a:t>No live upside shown. Model’s INR 662 stock-price input is stale.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5F5F6780-1450-4098-99F0-648DE81C92F2}"/>
              </a:ext>
            </a:extLst>
          </p:cNvPr>
          <p:cNvGraphicFramePr/>
          <p:nvPr/>
        </p:nvGraphicFramePr>
        <p:xfrm>
          <a:off xmlns:a="http://schemas.openxmlformats.org/drawingml/2006/main" x="704850" y="6543675"/>
          <a:ext xmlns:a="http://schemas.openxmlformats.org/drawingml/2006/main" cx="13811250" cy="1143000"/>
        </p:xfrm>
        <a:graphic xmlns:a="http://schemas.openxmlformats.org/drawingml/2006/main">
          <a:graphicData uri="http://schemas.openxmlformats.org/drawingml/2006/chart">
            <c:chart xmlns:r="http://schemas.openxmlformats.org/officeDocument/2006/relationships" xmlns:c="http://schemas.openxmlformats.org/drawingml/2006/chart" r:id="Rba9afb8219874309"/>
          </a:graphicData>
        </a:graphic>
      </p:graphicFrame>
    </p:spTree>
    <p:extLst>
      <p:ext uri="{BB962C8B-B14F-4D97-AF65-F5344CB8AC3E}">
        <p14:creationId xmlns:p14="http://schemas.microsoft.com/office/powerpoint/2010/main" val="1081754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5D9A686-C41A-4DCE-912E-E20EDF713850}"/>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6306F521-516F-4331-BF21-E28857F49A71}"/>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A15   Core DCF sensitivity highlights the terminal assumptions</a:t>
            </a:r>
          </a:p>
        </p:txBody>
      </p:sp>
      <p:sp>
        <p:nvSpPr>
          <p:cNvPr id="3" name="text-2">
            <a:extLst xmlns:a="http://schemas.openxmlformats.org/drawingml/2006/main">
              <a:ext uri="{FF2B5EF4-FFF2-40B4-BE49-F238E27FC236}">
                <a16:creationId xmlns:a16="http://schemas.microsoft.com/office/drawing/2014/main" id="{2FA1EEE3-CF30-4F11-A6AD-B93D004D7002}"/>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A 100bp change in WACC has a large impact because most value lies beyond the explicit forecast.</a:t>
            </a:r>
          </a:p>
        </p:txBody>
      </p:sp>
      <p:sp>
        <p:nvSpPr>
          <p:cNvPr id="4" name="">
            <a:extLst xmlns:a="http://schemas.openxmlformats.org/drawingml/2006/main">
              <a:ext uri="{FF2B5EF4-FFF2-40B4-BE49-F238E27FC236}">
                <a16:creationId xmlns:a16="http://schemas.microsoft.com/office/drawing/2014/main" id="{FD0C8EFB-F8AB-4E86-85A6-6B28FC99FF67}"/>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B72D981C-119B-45E1-AC31-EBD4247ABBE2}"/>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Recalculation using supplied DCF cash flows and discount convention</a:t>
            </a:r>
          </a:p>
        </p:txBody>
      </p:sp>
      <p:sp>
        <p:nvSpPr>
          <p:cNvPr id="6" name="text-5">
            <a:extLst xmlns:a="http://schemas.openxmlformats.org/drawingml/2006/main">
              <a:ext uri="{FF2B5EF4-FFF2-40B4-BE49-F238E27FC236}">
                <a16:creationId xmlns:a16="http://schemas.microsoft.com/office/drawing/2014/main" id="{7B07C93C-5C77-4C48-895A-D1CCAB5AEA3D}"/>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27</a:t>
            </a:r>
          </a:p>
        </p:txBody>
      </p:sp>
      <p:graphicFrame>
        <p:nvGraphicFramePr>
          <p:cNvPr id="7" name="">
            <a:extLst xmlns:a="http://schemas.openxmlformats.org/drawingml/2006/main">
              <a:ext uri="{FF2B5EF4-FFF2-40B4-BE49-F238E27FC236}">
                <a16:creationId xmlns:a16="http://schemas.microsoft.com/office/drawing/2014/main" id="{020DE4BB-1665-4191-8450-9498B52DE966}"/>
              </a:ext>
            </a:extLst>
          </p:cNvPr>
          <p:cNvGraphicFramePr/>
          <p:nvPr/>
        </p:nvGraphicFramePr>
        <p:xfrm>
          <a:off xmlns:a="http://schemas.openxmlformats.org/drawingml/2006/main" x="619125" y="2667000"/>
          <a:ext xmlns:a="http://schemas.openxmlformats.org/drawingml/2006/main" cx="14001750" cy="2552700"/>
        </p:xfrm>
        <a:graphic xmlns:a="http://schemas.openxmlformats.org/drawingml/2006/main">
          <a:graphicData uri="http://schemas.openxmlformats.org/drawingml/2006/table">
            <a:tbl>
              <a:tblPr/>
              <a:tblGrid>
                <a:gridCol w="4000500"/>
                <a:gridCol w="3333750"/>
                <a:gridCol w="3333750"/>
                <a:gridCol w="3333750"/>
              </a:tblGrid>
              <a:tr h="638175">
                <a:tc>
                  <a:txBody>
                    <a:bodyPr lIns="85725" tIns="85725" rIns="85725" bIns="85725"/>
                    <a:lstStyle/>
                    <a:p>
                      <a:pPr algn="l"/>
                      <a:r>
                        <a:rPr sz="2100" b="1">
                          <a:solidFill>
                            <a:srgbClr val="FFFFFF"/>
                          </a:solidFill>
                          <a:latin typeface="Arial"/>
                          <a:ea typeface="Arial"/>
                          <a:cs typeface="Arial"/>
                        </a:rPr>
                        <a:t>Core value, INR  / share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100" b="1">
                          <a:solidFill>
                            <a:srgbClr val="FFFFFF"/>
                          </a:solidFill>
                          <a:latin typeface="Arial"/>
                          <a:ea typeface="Arial"/>
                          <a:cs typeface="Arial"/>
                        </a:rPr>
                        <a:t>4%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100" b="1">
                          <a:solidFill>
                            <a:srgbClr val="FFFFFF"/>
                          </a:solidFill>
                          <a:latin typeface="Arial"/>
                          <a:ea typeface="Arial"/>
                          <a:cs typeface="Arial"/>
                        </a:rPr>
                        <a:t>5%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100" b="1">
                          <a:solidFill>
                            <a:srgbClr val="FFFFFF"/>
                          </a:solidFill>
                          <a:latin typeface="Arial"/>
                          <a:ea typeface="Arial"/>
                          <a:cs typeface="Arial"/>
                        </a:rPr>
                        <a:t>6%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38175">
                <a:tc>
                  <a:txBody>
                    <a:bodyPr lIns="85725" tIns="85725" rIns="85725" bIns="85725"/>
                    <a:lstStyle/>
                    <a:p>
                      <a:pPr algn="l"/>
                      <a:r>
                        <a:rPr sz="2100" b="0">
                          <a:solidFill>
                            <a:srgbClr val="101D2F"/>
                          </a:solidFill>
                          <a:latin typeface="Arial"/>
                          <a:ea typeface="Arial"/>
                          <a:cs typeface="Arial"/>
                        </a:rPr>
                        <a:t>10%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698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800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953</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38175">
                <a:tc>
                  <a:txBody>
                    <a:bodyPr lIns="85725" tIns="85725" rIns="85725" bIns="85725"/>
                    <a:lstStyle/>
                    <a:p>
                      <a:pPr algn="l"/>
                      <a:r>
                        <a:rPr sz="2100" b="0">
                          <a:solidFill>
                            <a:srgbClr val="101D2F"/>
                          </a:solidFill>
                          <a:latin typeface="Arial"/>
                          <a:ea typeface="Arial"/>
                          <a:cs typeface="Arial"/>
                        </a:rPr>
                        <a:t>11%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100" b="0">
                          <a:solidFill>
                            <a:srgbClr val="101D2F"/>
                          </a:solidFill>
                          <a:latin typeface="Arial"/>
                          <a:ea typeface="Arial"/>
                          <a:cs typeface="Arial"/>
                        </a:rPr>
                        <a:t>588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100" b="0">
                          <a:solidFill>
                            <a:srgbClr val="101D2F"/>
                          </a:solidFill>
                          <a:latin typeface="Arial"/>
                          <a:ea typeface="Arial"/>
                          <a:cs typeface="Arial"/>
                        </a:rPr>
                        <a:t>655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100" b="0">
                          <a:solidFill>
                            <a:srgbClr val="101D2F"/>
                          </a:solidFill>
                          <a:latin typeface="Arial"/>
                          <a:ea typeface="Arial"/>
                          <a:cs typeface="Arial"/>
                        </a:rPr>
                        <a:t>751</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38175">
                <a:tc>
                  <a:txBody>
                    <a:bodyPr lIns="85725" tIns="85725" rIns="85725" bIns="85725"/>
                    <a:lstStyle/>
                    <a:p>
                      <a:pPr algn="l"/>
                      <a:r>
                        <a:rPr sz="2100" b="0">
                          <a:solidFill>
                            <a:srgbClr val="101D2F"/>
                          </a:solidFill>
                          <a:latin typeface="Arial"/>
                          <a:ea typeface="Arial"/>
                          <a:cs typeface="Arial"/>
                        </a:rPr>
                        <a:t>12%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506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553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100" b="0">
                          <a:solidFill>
                            <a:srgbClr val="101D2F"/>
                          </a:solidFill>
                          <a:latin typeface="Arial"/>
                          <a:ea typeface="Arial"/>
                          <a:cs typeface="Arial"/>
                        </a:rPr>
                        <a:t>616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834189B8-D593-474F-845D-59851C60B811}"/>
              </a:ext>
            </a:extLst>
          </p:cNvPr>
          <p:cNvGraphicFramePr/>
          <p:nvPr/>
        </p:nvGraphicFramePr>
        <p:xfrm>
          <a:off xmlns:a="http://schemas.openxmlformats.org/drawingml/2006/main" x="666750" y="5648325"/>
          <a:ext xmlns:a="http://schemas.openxmlformats.org/drawingml/2006/main" cx="13906500" cy="1952625"/>
        </p:xfrm>
        <a:graphic xmlns:a="http://schemas.openxmlformats.org/drawingml/2006/main">
          <a:graphicData uri="http://schemas.openxmlformats.org/drawingml/2006/chart">
            <c:chart xmlns:r="http://schemas.openxmlformats.org/officeDocument/2006/relationships" xmlns:c="http://schemas.openxmlformats.org/drawingml/2006/chart" r:id="R908575e705e54d28"/>
          </a:graphicData>
        </a:graphic>
      </p:graphicFrame>
    </p:spTree>
    <p:extLst>
      <p:ext uri="{BB962C8B-B14F-4D97-AF65-F5344CB8AC3E}">
        <p14:creationId xmlns:p14="http://schemas.microsoft.com/office/powerpoint/2010/main" val="126103166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5743C93-579C-4A64-80EA-34F8BCBA2FDC}"/>
              </a:ext>
            </a:extLst>
          </p:cNvPr>
          <p:cNvSpPr>
            <a:spLocks xmlns:a="http://schemas.openxmlformats.org/drawingml/2006/main" noGrp="1"/>
          </p:cNvSpPr>
          <p:nvPr/>
        </p:nvSpPr>
        <p:spPr>
          <a:xfrm xmlns:a="http://schemas.openxmlformats.org/drawingml/2006/main">
            <a:off x="609600" y="276225"/>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9DDA"/>
                </a:solidFill>
                <a:latin typeface="Arial"/>
                <a:ea typeface="Arial"/>
                <a:cs typeface="Arial"/>
              </a:defRPr>
            </a:defPPr>
            <a:lvl1pPr algn="l">
              <a:defRPr sz="1350" b="1">
                <a:solidFill>
                  <a:srgbClr val="009DDA"/>
                </a:solidFill>
                <a:latin typeface="Arial"/>
                <a:ea typeface="Arial"/>
                <a:cs typeface="Arial"/>
              </a:defRPr>
            </a:lvl1pPr>
            <a:lvl2pPr algn="l">
              <a:defRPr sz="1350" b="1">
                <a:solidFill>
                  <a:srgbClr val="009DDA"/>
                </a:solidFill>
                <a:latin typeface="Arial"/>
                <a:ea typeface="Arial"/>
                <a:cs typeface="Arial"/>
              </a:defRPr>
            </a:lvl2pPr>
            <a:lvl3pPr algn="l">
              <a:defRPr sz="1350" b="1">
                <a:solidFill>
                  <a:srgbClr val="009DDA"/>
                </a:solidFill>
                <a:latin typeface="Arial"/>
                <a:ea typeface="Arial"/>
                <a:cs typeface="Arial"/>
              </a:defRPr>
            </a:lvl3pPr>
            <a:lvl4pPr algn="l">
              <a:defRPr sz="1350" b="1">
                <a:solidFill>
                  <a:srgbClr val="009DDA"/>
                </a:solidFill>
                <a:latin typeface="Arial"/>
                <a:ea typeface="Arial"/>
                <a:cs typeface="Arial"/>
              </a:defRPr>
            </a:lvl4pPr>
            <a:lvl5pPr algn="l">
              <a:defRPr sz="1350" b="1">
                <a:solidFill>
                  <a:srgbClr val="009DDA"/>
                </a:solidFill>
                <a:latin typeface="Arial"/>
                <a:ea typeface="Arial"/>
                <a:cs typeface="Arial"/>
              </a:defRPr>
            </a:lvl5pPr>
            <a:lvl6pPr algn="l">
              <a:defRPr sz="1350" b="1">
                <a:solidFill>
                  <a:srgbClr val="009DDA"/>
                </a:solidFill>
                <a:latin typeface="Arial"/>
                <a:ea typeface="Arial"/>
                <a:cs typeface="Arial"/>
              </a:defRPr>
            </a:lvl6pPr>
            <a:lvl7pPr algn="l">
              <a:defRPr sz="1350" b="1">
                <a:solidFill>
                  <a:srgbClr val="009DDA"/>
                </a:solidFill>
                <a:latin typeface="Arial"/>
                <a:ea typeface="Arial"/>
                <a:cs typeface="Arial"/>
              </a:defRPr>
            </a:lvl7pPr>
            <a:lvl8pPr algn="l">
              <a:defRPr sz="1350" b="1">
                <a:solidFill>
                  <a:srgbClr val="009DDA"/>
                </a:solidFill>
                <a:latin typeface="Arial"/>
                <a:ea typeface="Arial"/>
                <a:cs typeface="Arial"/>
              </a:defRPr>
            </a:lvl8pPr>
            <a:lvl9pPr algn="l">
              <a:defRPr sz="1350" b="1">
                <a:solidFill>
                  <a:srgbClr val="009DDA"/>
                </a:solidFill>
                <a:latin typeface="Arial"/>
                <a:ea typeface="Arial"/>
                <a:cs typeface="Arial"/>
              </a:defRPr>
            </a:lvl9pPr>
          </a:lstStyle>
          <a:p xmlns:a="http://schemas.openxmlformats.org/drawingml/2006/main">
            <a:pPr algn="l">
              <a:defRPr sz="1350" b="1">
                <a:solidFill>
                  <a:srgbClr val="009DDA"/>
                </a:solidFill>
                <a:latin typeface="Arial"/>
                <a:ea typeface="Arial"/>
                <a:cs typeface="Arial"/>
              </a:defRPr>
            </a:pPr>
            <a:r>
              <a:rPr sz="1350" b="1">
                <a:solidFill>
                  <a:srgbClr val="009DDA"/>
                </a:solidFill>
                <a:latin typeface="Arial"/>
                <a:ea typeface="Arial"/>
                <a:cs typeface="Arial"/>
              </a:rPr>
              <a:t>SONA COMSTAR   /   APPENDIX</a:t>
            </a:r>
          </a:p>
        </p:txBody>
      </p:sp>
      <p:sp>
        <p:nvSpPr>
          <p:cNvPr id="2" name="text-1">
            <a:extLst xmlns:a="http://schemas.openxmlformats.org/drawingml/2006/main">
              <a:ext uri="{FF2B5EF4-FFF2-40B4-BE49-F238E27FC236}">
                <a16:creationId xmlns:a16="http://schemas.microsoft.com/office/drawing/2014/main" id="{3979F56F-A236-425C-94D2-F2FA585EDB73}"/>
              </a:ext>
            </a:extLst>
          </p:cNvPr>
          <p:cNvSpPr>
            <a:spLocks xmlns:a="http://schemas.openxmlformats.org/drawingml/2006/main" noGrp="1"/>
          </p:cNvSpPr>
          <p:nvPr/>
        </p:nvSpPr>
        <p:spPr>
          <a:xfrm xmlns:a="http://schemas.openxmlformats.org/drawingml/2006/main">
            <a:off x="609600" y="723900"/>
            <a:ext cx="13982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1D2F"/>
                </a:solidFill>
                <a:latin typeface="Arial"/>
                <a:ea typeface="Arial"/>
                <a:cs typeface="Arial"/>
              </a:defRPr>
            </a:defPPr>
            <a:lvl1pPr algn="l">
              <a:defRPr sz="3225" b="1">
                <a:solidFill>
                  <a:srgbClr val="101D2F"/>
                </a:solidFill>
                <a:latin typeface="Arial"/>
                <a:ea typeface="Arial"/>
                <a:cs typeface="Arial"/>
              </a:defRPr>
            </a:lvl1pPr>
            <a:lvl2pPr algn="l">
              <a:defRPr sz="3225" b="1">
                <a:solidFill>
                  <a:srgbClr val="101D2F"/>
                </a:solidFill>
                <a:latin typeface="Arial"/>
                <a:ea typeface="Arial"/>
                <a:cs typeface="Arial"/>
              </a:defRPr>
            </a:lvl2pPr>
            <a:lvl3pPr algn="l">
              <a:defRPr sz="3225" b="1">
                <a:solidFill>
                  <a:srgbClr val="101D2F"/>
                </a:solidFill>
                <a:latin typeface="Arial"/>
                <a:ea typeface="Arial"/>
                <a:cs typeface="Arial"/>
              </a:defRPr>
            </a:lvl3pPr>
            <a:lvl4pPr algn="l">
              <a:defRPr sz="3225" b="1">
                <a:solidFill>
                  <a:srgbClr val="101D2F"/>
                </a:solidFill>
                <a:latin typeface="Arial"/>
                <a:ea typeface="Arial"/>
                <a:cs typeface="Arial"/>
              </a:defRPr>
            </a:lvl4pPr>
            <a:lvl5pPr algn="l">
              <a:defRPr sz="3225" b="1">
                <a:solidFill>
                  <a:srgbClr val="101D2F"/>
                </a:solidFill>
                <a:latin typeface="Arial"/>
                <a:ea typeface="Arial"/>
                <a:cs typeface="Arial"/>
              </a:defRPr>
            </a:lvl5pPr>
            <a:lvl6pPr algn="l">
              <a:defRPr sz="3225" b="1">
                <a:solidFill>
                  <a:srgbClr val="101D2F"/>
                </a:solidFill>
                <a:latin typeface="Arial"/>
                <a:ea typeface="Arial"/>
                <a:cs typeface="Arial"/>
              </a:defRPr>
            </a:lvl6pPr>
            <a:lvl7pPr algn="l">
              <a:defRPr sz="3225" b="1">
                <a:solidFill>
                  <a:srgbClr val="101D2F"/>
                </a:solidFill>
                <a:latin typeface="Arial"/>
                <a:ea typeface="Arial"/>
                <a:cs typeface="Arial"/>
              </a:defRPr>
            </a:lvl7pPr>
            <a:lvl8pPr algn="l">
              <a:defRPr sz="3225" b="1">
                <a:solidFill>
                  <a:srgbClr val="101D2F"/>
                </a:solidFill>
                <a:latin typeface="Arial"/>
                <a:ea typeface="Arial"/>
                <a:cs typeface="Arial"/>
              </a:defRPr>
            </a:lvl8pPr>
            <a:lvl9pPr algn="l">
              <a:defRPr sz="3225" b="1">
                <a:solidFill>
                  <a:srgbClr val="101D2F"/>
                </a:solidFill>
                <a:latin typeface="Arial"/>
                <a:ea typeface="Arial"/>
                <a:cs typeface="Arial"/>
              </a:defRPr>
            </a:lvl9pPr>
          </a:lstStyle>
          <a:p xmlns:a="http://schemas.openxmlformats.org/drawingml/2006/main">
            <a:pPr algn="l">
              <a:defRPr sz="3225" b="1">
                <a:solidFill>
                  <a:srgbClr val="101D2F"/>
                </a:solidFill>
                <a:latin typeface="Arial"/>
                <a:ea typeface="Arial"/>
                <a:cs typeface="Arial"/>
              </a:defRPr>
            </a:pPr>
            <a:r>
              <a:rPr sz="3225" b="1">
                <a:solidFill>
                  <a:srgbClr val="101D2F"/>
                </a:solidFill>
                <a:latin typeface="Arial"/>
                <a:ea typeface="Arial"/>
                <a:cs typeface="Arial"/>
              </a:rPr>
              <a:t>A16   The existing traction JV changes earnings attribution</a:t>
            </a:r>
          </a:p>
        </p:txBody>
      </p:sp>
      <p:sp>
        <p:nvSpPr>
          <p:cNvPr id="3" name="text-2">
            <a:extLst xmlns:a="http://schemas.openxmlformats.org/drawingml/2006/main">
              <a:ext uri="{FF2B5EF4-FFF2-40B4-BE49-F238E27FC236}">
                <a16:creationId xmlns:a16="http://schemas.microsoft.com/office/drawing/2014/main" id="{6DDAC58B-17ED-4D2A-814E-48665A70060C}"/>
              </a:ext>
            </a:extLst>
          </p:cNvPr>
          <p:cNvSpPr>
            <a:spLocks xmlns:a="http://schemas.openxmlformats.org/drawingml/2006/main" noGrp="1"/>
          </p:cNvSpPr>
          <p:nvPr/>
        </p:nvSpPr>
        <p:spPr>
          <a:xfrm xmlns:a="http://schemas.openxmlformats.org/drawingml/2006/main">
            <a:off x="609600" y="1781175"/>
            <a:ext cx="13982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C6A78"/>
                </a:solidFill>
                <a:latin typeface="Arial"/>
                <a:ea typeface="Arial"/>
                <a:cs typeface="Arial"/>
              </a:defRPr>
            </a:defPPr>
            <a:lvl1pPr algn="l">
              <a:defRPr sz="1875" b="0">
                <a:solidFill>
                  <a:srgbClr val="5C6A78"/>
                </a:solidFill>
                <a:latin typeface="Arial"/>
                <a:ea typeface="Arial"/>
                <a:cs typeface="Arial"/>
              </a:defRPr>
            </a:lvl1pPr>
            <a:lvl2pPr algn="l">
              <a:defRPr sz="1875" b="0">
                <a:solidFill>
                  <a:srgbClr val="5C6A78"/>
                </a:solidFill>
                <a:latin typeface="Arial"/>
                <a:ea typeface="Arial"/>
                <a:cs typeface="Arial"/>
              </a:defRPr>
            </a:lvl2pPr>
            <a:lvl3pPr algn="l">
              <a:defRPr sz="1875" b="0">
                <a:solidFill>
                  <a:srgbClr val="5C6A78"/>
                </a:solidFill>
                <a:latin typeface="Arial"/>
                <a:ea typeface="Arial"/>
                <a:cs typeface="Arial"/>
              </a:defRPr>
            </a:lvl3pPr>
            <a:lvl4pPr algn="l">
              <a:defRPr sz="1875" b="0">
                <a:solidFill>
                  <a:srgbClr val="5C6A78"/>
                </a:solidFill>
                <a:latin typeface="Arial"/>
                <a:ea typeface="Arial"/>
                <a:cs typeface="Arial"/>
              </a:defRPr>
            </a:lvl4pPr>
            <a:lvl5pPr algn="l">
              <a:defRPr sz="1875" b="0">
                <a:solidFill>
                  <a:srgbClr val="5C6A78"/>
                </a:solidFill>
                <a:latin typeface="Arial"/>
                <a:ea typeface="Arial"/>
                <a:cs typeface="Arial"/>
              </a:defRPr>
            </a:lvl5pPr>
            <a:lvl6pPr algn="l">
              <a:defRPr sz="1875" b="0">
                <a:solidFill>
                  <a:srgbClr val="5C6A78"/>
                </a:solidFill>
                <a:latin typeface="Arial"/>
                <a:ea typeface="Arial"/>
                <a:cs typeface="Arial"/>
              </a:defRPr>
            </a:lvl6pPr>
            <a:lvl7pPr algn="l">
              <a:defRPr sz="1875" b="0">
                <a:solidFill>
                  <a:srgbClr val="5C6A78"/>
                </a:solidFill>
                <a:latin typeface="Arial"/>
                <a:ea typeface="Arial"/>
                <a:cs typeface="Arial"/>
              </a:defRPr>
            </a:lvl7pPr>
            <a:lvl8pPr algn="l">
              <a:defRPr sz="1875" b="0">
                <a:solidFill>
                  <a:srgbClr val="5C6A78"/>
                </a:solidFill>
                <a:latin typeface="Arial"/>
                <a:ea typeface="Arial"/>
                <a:cs typeface="Arial"/>
              </a:defRPr>
            </a:lvl8pPr>
            <a:lvl9pPr algn="l">
              <a:defRPr sz="1875" b="0">
                <a:solidFill>
                  <a:srgbClr val="5C6A78"/>
                </a:solidFill>
                <a:latin typeface="Arial"/>
                <a:ea typeface="Arial"/>
                <a:cs typeface="Arial"/>
              </a:defRPr>
            </a:lvl9pPr>
          </a:lstStyle>
          <a:p xmlns:a="http://schemas.openxmlformats.org/drawingml/2006/main">
            <a:pPr algn="l">
              <a:defRPr sz="1875" b="0">
                <a:solidFill>
                  <a:srgbClr val="5C6A78"/>
                </a:solidFill>
                <a:latin typeface="Arial"/>
                <a:ea typeface="Arial"/>
                <a:cs typeface="Arial"/>
              </a:defRPr>
            </a:pPr>
            <a:r>
              <a:rPr sz="1875" b="0">
                <a:solidFill>
                  <a:srgbClr val="5C6A78"/>
                </a:solidFill>
                <a:latin typeface="Arial"/>
                <a:ea typeface="Arial"/>
                <a:cs typeface="Arial"/>
              </a:rPr>
              <a:t>Revenue can remain consolidated while Denso receives 49% of the existing business’s profit.</a:t>
            </a:r>
          </a:p>
        </p:txBody>
      </p:sp>
      <p:sp>
        <p:nvSpPr>
          <p:cNvPr id="4" name="">
            <a:extLst xmlns:a="http://schemas.openxmlformats.org/drawingml/2006/main">
              <a:ext uri="{FF2B5EF4-FFF2-40B4-BE49-F238E27FC236}">
                <a16:creationId xmlns:a16="http://schemas.microsoft.com/office/drawing/2014/main" id="{C2DE37A8-E228-41C3-94C7-9A47653EC94D}"/>
              </a:ext>
            </a:extLst>
          </p:cNvPr>
          <p:cNvSpPr>
            <a:spLocks xmlns:a="http://schemas.openxmlformats.org/drawingml/2006/main" noGrp="1"/>
          </p:cNvSpPr>
          <p:nvPr/>
        </p:nvSpPr>
        <p:spPr>
          <a:xfrm xmlns:a="http://schemas.openxmlformats.org/drawingml/2006/main">
            <a:off x="609600" y="7905750"/>
            <a:ext cx="14020800" cy="11430"/>
          </a:xfrm>
          <a:prstGeom xmlns:a="http://schemas.openxmlformats.org/drawingml/2006/main" prst="rect">
            <a:avLst/>
          </a:prstGeom>
          <a:solidFill xmlns:a="http://schemas.openxmlformats.org/drawingml/2006/main">
            <a:srgbClr val="DCE3E8"/>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97738696-F98A-48A1-948D-7B92B7A1B784}"/>
              </a:ext>
            </a:extLst>
          </p:cNvPr>
          <p:cNvSpPr>
            <a:spLocks xmlns:a="http://schemas.openxmlformats.org/drawingml/2006/main" noGrp="1"/>
          </p:cNvSpPr>
          <p:nvPr/>
        </p:nvSpPr>
        <p:spPr>
          <a:xfrm xmlns:a="http://schemas.openxmlformats.org/drawingml/2006/main">
            <a:off x="609600" y="8048625"/>
            <a:ext cx="1295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C6A78"/>
                </a:solidFill>
                <a:latin typeface="Arial"/>
                <a:ea typeface="Arial"/>
                <a:cs typeface="Arial"/>
              </a:defRPr>
            </a:defPPr>
            <a:lvl1pPr algn="l">
              <a:defRPr sz="1200" b="0">
                <a:solidFill>
                  <a:srgbClr val="5C6A78"/>
                </a:solidFill>
                <a:latin typeface="Arial"/>
                <a:ea typeface="Arial"/>
                <a:cs typeface="Arial"/>
              </a:defRPr>
            </a:lvl1pPr>
            <a:lvl2pPr algn="l">
              <a:defRPr sz="1200" b="0">
                <a:solidFill>
                  <a:srgbClr val="5C6A78"/>
                </a:solidFill>
                <a:latin typeface="Arial"/>
                <a:ea typeface="Arial"/>
                <a:cs typeface="Arial"/>
              </a:defRPr>
            </a:lvl2pPr>
            <a:lvl3pPr algn="l">
              <a:defRPr sz="1200" b="0">
                <a:solidFill>
                  <a:srgbClr val="5C6A78"/>
                </a:solidFill>
                <a:latin typeface="Arial"/>
                <a:ea typeface="Arial"/>
                <a:cs typeface="Arial"/>
              </a:defRPr>
            </a:lvl3pPr>
            <a:lvl4pPr algn="l">
              <a:defRPr sz="1200" b="0">
                <a:solidFill>
                  <a:srgbClr val="5C6A78"/>
                </a:solidFill>
                <a:latin typeface="Arial"/>
                <a:ea typeface="Arial"/>
                <a:cs typeface="Arial"/>
              </a:defRPr>
            </a:lvl4pPr>
            <a:lvl5pPr algn="l">
              <a:defRPr sz="1200" b="0">
                <a:solidFill>
                  <a:srgbClr val="5C6A78"/>
                </a:solidFill>
                <a:latin typeface="Arial"/>
                <a:ea typeface="Arial"/>
                <a:cs typeface="Arial"/>
              </a:defRPr>
            </a:lvl5pPr>
            <a:lvl6pPr algn="l">
              <a:defRPr sz="1200" b="0">
                <a:solidFill>
                  <a:srgbClr val="5C6A78"/>
                </a:solidFill>
                <a:latin typeface="Arial"/>
                <a:ea typeface="Arial"/>
                <a:cs typeface="Arial"/>
              </a:defRPr>
            </a:lvl6pPr>
            <a:lvl7pPr algn="l">
              <a:defRPr sz="1200" b="0">
                <a:solidFill>
                  <a:srgbClr val="5C6A78"/>
                </a:solidFill>
                <a:latin typeface="Arial"/>
                <a:ea typeface="Arial"/>
                <a:cs typeface="Arial"/>
              </a:defRPr>
            </a:lvl7pPr>
            <a:lvl8pPr algn="l">
              <a:defRPr sz="1200" b="0">
                <a:solidFill>
                  <a:srgbClr val="5C6A78"/>
                </a:solidFill>
                <a:latin typeface="Arial"/>
                <a:ea typeface="Arial"/>
                <a:cs typeface="Arial"/>
              </a:defRPr>
            </a:lvl8pPr>
            <a:lvl9pPr algn="l">
              <a:defRPr sz="1200" b="0">
                <a:solidFill>
                  <a:srgbClr val="5C6A78"/>
                </a:solidFill>
                <a:latin typeface="Arial"/>
                <a:ea typeface="Arial"/>
                <a:cs typeface="Arial"/>
              </a:defRPr>
            </a:lvl9pPr>
          </a:lstStyle>
          <a:p xmlns:a="http://schemas.openxmlformats.org/drawingml/2006/main">
            <a:pPr algn="l">
              <a:defRPr sz="1200" b="0">
                <a:solidFill>
                  <a:srgbClr val="5C6A78"/>
                </a:solidFill>
                <a:latin typeface="Arial"/>
                <a:ea typeface="Arial"/>
                <a:cs typeface="Arial"/>
              </a:defRPr>
            </a:pPr>
            <a:r>
              <a:rPr sz="1200" b="0">
                <a:solidFill>
                  <a:srgbClr val="5C6A78"/>
                </a:solidFill>
                <a:latin typeface="Arial"/>
                <a:ea typeface="Arial"/>
                <a:cs typeface="Arial"/>
              </a:rPr>
              <a:t>Source: Denso agreement and analytical illustration using the supplied FY28E traction forecast</a:t>
            </a:r>
          </a:p>
        </p:txBody>
      </p:sp>
      <p:sp>
        <p:nvSpPr>
          <p:cNvPr id="6" name="text-5">
            <a:extLst xmlns:a="http://schemas.openxmlformats.org/drawingml/2006/main">
              <a:ext uri="{FF2B5EF4-FFF2-40B4-BE49-F238E27FC236}">
                <a16:creationId xmlns:a16="http://schemas.microsoft.com/office/drawing/2014/main" id="{725DC74A-8924-4E42-9D0C-0D31FDF1EEB0}"/>
              </a:ext>
            </a:extLst>
          </p:cNvPr>
          <p:cNvSpPr>
            <a:spLocks xmlns:a="http://schemas.openxmlformats.org/drawingml/2006/main" noGrp="1"/>
          </p:cNvSpPr>
          <p:nvPr/>
        </p:nvSpPr>
        <p:spPr>
          <a:xfrm xmlns:a="http://schemas.openxmlformats.org/drawingml/2006/main">
            <a:off x="14239875" y="80391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C6A78"/>
                </a:solidFill>
                <a:latin typeface="Arial"/>
                <a:ea typeface="Arial"/>
                <a:cs typeface="Arial"/>
              </a:defRPr>
            </a:defPPr>
            <a:lvl1pPr algn="r">
              <a:defRPr sz="1350" b="0">
                <a:solidFill>
                  <a:srgbClr val="5C6A78"/>
                </a:solidFill>
                <a:latin typeface="Arial"/>
                <a:ea typeface="Arial"/>
                <a:cs typeface="Arial"/>
              </a:defRPr>
            </a:lvl1pPr>
            <a:lvl2pPr algn="r">
              <a:defRPr sz="1350" b="0">
                <a:solidFill>
                  <a:srgbClr val="5C6A78"/>
                </a:solidFill>
                <a:latin typeface="Arial"/>
                <a:ea typeface="Arial"/>
                <a:cs typeface="Arial"/>
              </a:defRPr>
            </a:lvl2pPr>
            <a:lvl3pPr algn="r">
              <a:defRPr sz="1350" b="0">
                <a:solidFill>
                  <a:srgbClr val="5C6A78"/>
                </a:solidFill>
                <a:latin typeface="Arial"/>
                <a:ea typeface="Arial"/>
                <a:cs typeface="Arial"/>
              </a:defRPr>
            </a:lvl3pPr>
            <a:lvl4pPr algn="r">
              <a:defRPr sz="1350" b="0">
                <a:solidFill>
                  <a:srgbClr val="5C6A78"/>
                </a:solidFill>
                <a:latin typeface="Arial"/>
                <a:ea typeface="Arial"/>
                <a:cs typeface="Arial"/>
              </a:defRPr>
            </a:lvl4pPr>
            <a:lvl5pPr algn="r">
              <a:defRPr sz="1350" b="0">
                <a:solidFill>
                  <a:srgbClr val="5C6A78"/>
                </a:solidFill>
                <a:latin typeface="Arial"/>
                <a:ea typeface="Arial"/>
                <a:cs typeface="Arial"/>
              </a:defRPr>
            </a:lvl5pPr>
            <a:lvl6pPr algn="r">
              <a:defRPr sz="1350" b="0">
                <a:solidFill>
                  <a:srgbClr val="5C6A78"/>
                </a:solidFill>
                <a:latin typeface="Arial"/>
                <a:ea typeface="Arial"/>
                <a:cs typeface="Arial"/>
              </a:defRPr>
            </a:lvl6pPr>
            <a:lvl7pPr algn="r">
              <a:defRPr sz="1350" b="0">
                <a:solidFill>
                  <a:srgbClr val="5C6A78"/>
                </a:solidFill>
                <a:latin typeface="Arial"/>
                <a:ea typeface="Arial"/>
                <a:cs typeface="Arial"/>
              </a:defRPr>
            </a:lvl7pPr>
            <a:lvl8pPr algn="r">
              <a:defRPr sz="1350" b="0">
                <a:solidFill>
                  <a:srgbClr val="5C6A78"/>
                </a:solidFill>
                <a:latin typeface="Arial"/>
                <a:ea typeface="Arial"/>
                <a:cs typeface="Arial"/>
              </a:defRPr>
            </a:lvl8pPr>
            <a:lvl9pPr algn="r">
              <a:defRPr sz="1350" b="0">
                <a:solidFill>
                  <a:srgbClr val="5C6A78"/>
                </a:solidFill>
                <a:latin typeface="Arial"/>
                <a:ea typeface="Arial"/>
                <a:cs typeface="Arial"/>
              </a:defRPr>
            </a:lvl9pPr>
          </a:lstStyle>
          <a:p xmlns:a="http://schemas.openxmlformats.org/drawingml/2006/main">
            <a:pPr algn="r">
              <a:defRPr sz="1350" b="0">
                <a:solidFill>
                  <a:srgbClr val="5C6A78"/>
                </a:solidFill>
                <a:latin typeface="Arial"/>
                <a:ea typeface="Arial"/>
                <a:cs typeface="Arial"/>
              </a:defRPr>
            </a:pPr>
            <a:r>
              <a:rPr sz="1350" b="0">
                <a:solidFill>
                  <a:srgbClr val="5C6A78"/>
                </a:solidFill>
                <a:latin typeface="Arial"/>
                <a:ea typeface="Arial"/>
                <a:cs typeface="Arial"/>
              </a:rPr>
              <a:t>28</a:t>
            </a:r>
          </a:p>
        </p:txBody>
      </p:sp>
      <p:graphicFrame>
        <p:nvGraphicFramePr>
          <p:cNvPr id="7" name="">
            <a:extLst xmlns:a="http://schemas.openxmlformats.org/drawingml/2006/main">
              <a:ext uri="{FF2B5EF4-FFF2-40B4-BE49-F238E27FC236}">
                <a16:creationId xmlns:a16="http://schemas.microsoft.com/office/drawing/2014/main" id="{9D3B603B-13D5-4FF4-8413-7E30EA69F74C}"/>
              </a:ext>
            </a:extLst>
          </p:cNvPr>
          <p:cNvGraphicFramePr/>
          <p:nvPr/>
        </p:nvGraphicFramePr>
        <p:xfrm>
          <a:off xmlns:a="http://schemas.openxmlformats.org/drawingml/2006/main" x="619125" y="2667000"/>
          <a:ext xmlns:a="http://schemas.openxmlformats.org/drawingml/2006/main" cx="14001750" cy="2571750"/>
        </p:xfrm>
        <a:graphic xmlns:a="http://schemas.openxmlformats.org/drawingml/2006/main">
          <a:graphicData uri="http://schemas.openxmlformats.org/drawingml/2006/table">
            <a:tbl>
              <a:tblPr/>
              <a:tblGrid>
                <a:gridCol w="3810000"/>
                <a:gridCol w="5095875"/>
                <a:gridCol w="5095875"/>
              </a:tblGrid>
              <a:tr h="642938">
                <a:tc>
                  <a:txBody>
                    <a:bodyPr lIns="85725" tIns="85725" rIns="85725" bIns="85725"/>
                    <a:lstStyle/>
                    <a:p>
                      <a:pPr algn="l"/>
                      <a:r>
                        <a:rPr sz="2025" b="1">
                          <a:solidFill>
                            <a:srgbClr val="FFFFFF"/>
                          </a:solidFill>
                          <a:latin typeface="Arial"/>
                          <a:ea typeface="Arial"/>
                          <a:cs typeface="Arial"/>
                        </a:rPr>
                        <a:t>Economic item</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2W / 3W business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c>
                  <a:txBody>
                    <a:bodyPr lIns="85725" tIns="85725" rIns="85725" bIns="85725"/>
                    <a:lstStyle/>
                    <a:p>
                      <a:pPr algn="ctr"/>
                      <a:r>
                        <a:rPr sz="2025" b="1">
                          <a:solidFill>
                            <a:srgbClr val="FFFFFF"/>
                          </a:solidFill>
                          <a:latin typeface="Arial"/>
                          <a:ea typeface="Arial"/>
                          <a:cs typeface="Arial"/>
                        </a:rPr>
                        <a:t>New 4W / 4+ business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73C66"/>
                    </a:solidFill>
                  </a:tcPr>
                </a:tc>
              </a:tr>
              <a:tr h="642938">
                <a:tc>
                  <a:txBody>
                    <a:bodyPr lIns="85725" tIns="85725" rIns="85725" bIns="85725"/>
                    <a:lstStyle/>
                    <a:p>
                      <a:pPr algn="l"/>
                      <a:r>
                        <a:rPr sz="2025" b="0">
                          <a:solidFill>
                            <a:srgbClr val="101D2F"/>
                          </a:solidFill>
                          <a:latin typeface="Arial"/>
                          <a:ea typeface="Arial"/>
                          <a:cs typeface="Arial"/>
                        </a:rPr>
                        <a:t>Consolidated sales / EBITDA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100% while Sona controls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Generally excluded</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42938">
                <a:tc>
                  <a:txBody>
                    <a:bodyPr lIns="85725" tIns="85725" rIns="85725" bIns="85725"/>
                    <a:lstStyle/>
                    <a:p>
                      <a:pPr algn="l"/>
                      <a:r>
                        <a:rPr sz="2025" b="0">
                          <a:solidFill>
                            <a:srgbClr val="101D2F"/>
                          </a:solidFill>
                          <a:latin typeface="Arial"/>
                          <a:ea typeface="Arial"/>
                          <a:cs typeface="Arial"/>
                        </a:rPr>
                        <a:t>Profit attributable to Sona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51% + any royalty income</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85725" tIns="85725" rIns="85725" bIns="85725"/>
                    <a:lstStyle/>
                    <a:p>
                      <a:pPr algn="ctr"/>
                      <a:r>
                        <a:rPr sz="2025" b="0">
                          <a:solidFill>
                            <a:srgbClr val="101D2F"/>
                          </a:solidFill>
                          <a:latin typeface="Arial"/>
                          <a:ea typeface="Arial"/>
                          <a:cs typeface="Arial"/>
                        </a:rPr>
                        <a:t>49% of JV profit</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42938">
                <a:tc>
                  <a:txBody>
                    <a:bodyPr lIns="85725" tIns="85725" rIns="85725" bIns="85725"/>
                    <a:lstStyle/>
                    <a:p>
                      <a:pPr algn="l"/>
                      <a:r>
                        <a:rPr sz="2025" b="0">
                          <a:solidFill>
                            <a:srgbClr val="101D2F"/>
                          </a:solidFill>
                          <a:latin typeface="Arial"/>
                          <a:ea typeface="Arial"/>
                          <a:cs typeface="Arial"/>
                        </a:rPr>
                        <a:t>Main forecast adjustment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NCI, proceeds and royalty</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85725" tIns="85725" rIns="85725" bIns="85725"/>
                    <a:lstStyle/>
                    <a:p>
                      <a:pPr algn="ctr"/>
                      <a:r>
                        <a:rPr sz="2025" b="0">
                          <a:solidFill>
                            <a:srgbClr val="101D2F"/>
                          </a:solidFill>
                          <a:latin typeface="Arial"/>
                          <a:ea typeface="Arial"/>
                          <a:cs typeface="Arial"/>
                        </a:rPr>
                        <a:t>JV earnings and capital funding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8" name="Chart">
            <a:extLst xmlns:a="http://schemas.openxmlformats.org/drawingml/2006/main">
              <a:ext uri="{FF2B5EF4-FFF2-40B4-BE49-F238E27FC236}">
                <a16:creationId xmlns:a16="http://schemas.microsoft.com/office/drawing/2014/main" id="{72007FE0-9FE7-4E9F-82B6-B6BEBC84357F}"/>
              </a:ext>
            </a:extLst>
          </p:cNvPr>
          <p:cNvGraphicFramePr/>
          <p:nvPr/>
        </p:nvGraphicFramePr>
        <p:xfrm>
          <a:off xmlns:a="http://schemas.openxmlformats.org/drawingml/2006/main" x="666750" y="5619750"/>
          <a:ext xmlns:a="http://schemas.openxmlformats.org/drawingml/2006/main" cx="13906500" cy="1809750"/>
        </p:xfrm>
        <a:graphic xmlns:a="http://schemas.openxmlformats.org/drawingml/2006/main">
          <a:graphicData uri="http://schemas.openxmlformats.org/drawingml/2006/chart">
            <c:chart xmlns:r="http://schemas.openxmlformats.org/officeDocument/2006/relationships" xmlns:c="http://schemas.openxmlformats.org/drawingml/2006/chart" r:id="Ra028d0e5fb2449a4"/>
          </a:graphicData>
        </a:graphic>
      </p:graphicFrame>
      <p:sp>
        <p:nvSpPr>
          <p:cNvPr id="9" name="text-6">
            <a:extLst xmlns:a="http://schemas.openxmlformats.org/drawingml/2006/main">
              <a:ext uri="{FF2B5EF4-FFF2-40B4-BE49-F238E27FC236}">
                <a16:creationId xmlns:a16="http://schemas.microsoft.com/office/drawing/2014/main" id="{FFCC05C4-BF09-4BC5-B7DD-CA4EB2CEDEF9}"/>
              </a:ext>
            </a:extLst>
          </p:cNvPr>
          <p:cNvSpPr>
            <a:spLocks xmlns:a="http://schemas.openxmlformats.org/drawingml/2006/main" noGrp="1"/>
          </p:cNvSpPr>
          <p:nvPr/>
        </p:nvSpPr>
        <p:spPr>
          <a:xfrm xmlns:a="http://schemas.openxmlformats.org/drawingml/2006/main">
            <a:off x="647700" y="7496175"/>
            <a:ext cx="1390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C6A78"/>
                </a:solidFill>
                <a:latin typeface="Arial"/>
                <a:ea typeface="Arial"/>
                <a:cs typeface="Arial"/>
              </a:defRPr>
            </a:defPPr>
            <a:lvl1pPr algn="l">
              <a:defRPr sz="1575" b="0">
                <a:solidFill>
                  <a:srgbClr val="5C6A78"/>
                </a:solidFill>
                <a:latin typeface="Arial"/>
                <a:ea typeface="Arial"/>
                <a:cs typeface="Arial"/>
              </a:defRPr>
            </a:lvl1pPr>
            <a:lvl2pPr algn="l">
              <a:defRPr sz="1575" b="0">
                <a:solidFill>
                  <a:srgbClr val="5C6A78"/>
                </a:solidFill>
                <a:latin typeface="Arial"/>
                <a:ea typeface="Arial"/>
                <a:cs typeface="Arial"/>
              </a:defRPr>
            </a:lvl2pPr>
            <a:lvl3pPr algn="l">
              <a:defRPr sz="1575" b="0">
                <a:solidFill>
                  <a:srgbClr val="5C6A78"/>
                </a:solidFill>
                <a:latin typeface="Arial"/>
                <a:ea typeface="Arial"/>
                <a:cs typeface="Arial"/>
              </a:defRPr>
            </a:lvl3pPr>
            <a:lvl4pPr algn="l">
              <a:defRPr sz="1575" b="0">
                <a:solidFill>
                  <a:srgbClr val="5C6A78"/>
                </a:solidFill>
                <a:latin typeface="Arial"/>
                <a:ea typeface="Arial"/>
                <a:cs typeface="Arial"/>
              </a:defRPr>
            </a:lvl4pPr>
            <a:lvl5pPr algn="l">
              <a:defRPr sz="1575" b="0">
                <a:solidFill>
                  <a:srgbClr val="5C6A78"/>
                </a:solidFill>
                <a:latin typeface="Arial"/>
                <a:ea typeface="Arial"/>
                <a:cs typeface="Arial"/>
              </a:defRPr>
            </a:lvl5pPr>
            <a:lvl6pPr algn="l">
              <a:defRPr sz="1575" b="0">
                <a:solidFill>
                  <a:srgbClr val="5C6A78"/>
                </a:solidFill>
                <a:latin typeface="Arial"/>
                <a:ea typeface="Arial"/>
                <a:cs typeface="Arial"/>
              </a:defRPr>
            </a:lvl6pPr>
            <a:lvl7pPr algn="l">
              <a:defRPr sz="1575" b="0">
                <a:solidFill>
                  <a:srgbClr val="5C6A78"/>
                </a:solidFill>
                <a:latin typeface="Arial"/>
                <a:ea typeface="Arial"/>
                <a:cs typeface="Arial"/>
              </a:defRPr>
            </a:lvl7pPr>
            <a:lvl8pPr algn="l">
              <a:defRPr sz="1575" b="0">
                <a:solidFill>
                  <a:srgbClr val="5C6A78"/>
                </a:solidFill>
                <a:latin typeface="Arial"/>
                <a:ea typeface="Arial"/>
                <a:cs typeface="Arial"/>
              </a:defRPr>
            </a:lvl8pPr>
            <a:lvl9pPr algn="l">
              <a:defRPr sz="1575" b="0">
                <a:solidFill>
                  <a:srgbClr val="5C6A78"/>
                </a:solidFill>
                <a:latin typeface="Arial"/>
                <a:ea typeface="Arial"/>
                <a:cs typeface="Arial"/>
              </a:defRPr>
            </a:lvl9pPr>
          </a:lstStyle>
          <a:p xmlns:a="http://schemas.openxmlformats.org/drawingml/2006/main">
            <a:pPr algn="l">
              <a:defRPr sz="1575" b="0">
                <a:solidFill>
                  <a:srgbClr val="5C6A78"/>
                </a:solidFill>
                <a:latin typeface="Arial"/>
                <a:ea typeface="Arial"/>
                <a:cs typeface="Arial"/>
              </a:defRPr>
            </a:pPr>
            <a:r>
              <a:rPr sz="1575" b="0">
                <a:solidFill>
                  <a:srgbClr val="5C6A78"/>
                </a:solidFill>
                <a:latin typeface="Arial"/>
                <a:ea typeface="Arial"/>
                <a:cs typeface="Arial"/>
              </a:rPr>
              <a:t>Illustrative profit-share effect only. Royalty income, sale proceeds and funding can offset or change the net EPS outcome.</a:t>
            </a:r>
          </a:p>
        </p:txBody>
      </p:sp>
    </p:spTree>
    <p:extLst>
      <p:ext uri="{BB962C8B-B14F-4D97-AF65-F5344CB8AC3E}">
        <p14:creationId xmlns:p14="http://schemas.microsoft.com/office/powerpoint/2010/main" val="554412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2026-10-19T05:53:52.4260000Z</dcterms:created>
  <dcterms:modified xsi:type="dcterms:W3CDTF">2026-10-19T05:53:52.4260000Z</dcterms:modified>
</coreProperties>
</file>